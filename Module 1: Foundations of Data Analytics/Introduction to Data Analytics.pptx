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C0DBE-5733-8E99-8A11-27DAC9D924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A126E6-91F7-3890-ED87-207BA7828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F2B36-F949-C880-8D63-E3DB238BD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52C6F-67A6-4605-8C98-7C2B5F885B0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879AD-02DE-7222-526F-CDC3BA13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DA821-4402-56D4-C749-ED23AADC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B243-A275-4E19-80C3-86FDAB038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69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B3D3-04CD-176E-57FD-0C1A09E02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14ED6-624E-9048-F3D8-24D1E983F9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1B91CB-1D50-3667-940D-B19FE5052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52C6F-67A6-4605-8C98-7C2B5F885B0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F05B0-23CC-696C-E7D9-0993B67CF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90C62-0513-9EF1-435E-11365071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B243-A275-4E19-80C3-86FDAB038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64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710C2-1021-B96D-4A29-BA4EB5269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B0B79-E678-A3CF-816B-4C7B82E7C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093F7-6E8B-D1BE-5E0D-99B5234C3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52C6F-67A6-4605-8C98-7C2B5F885B0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2F8C4-9750-D27D-E479-539FF7ED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931D5-7B9D-FAF2-7E3E-1E3384CB4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B243-A275-4E19-80C3-86FDAB038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557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3A17-0FB7-9B4C-E771-EDA6F1AD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2BB97-357A-EB28-F996-AB7ADB3BDA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12C0F-B0E2-58D4-F753-C5C26BC88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AD8D6-15AF-D777-2055-BC9D3EAF9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52C6F-67A6-4605-8C98-7C2B5F885B0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B6DA6-AE60-3F13-C788-FBB4943FF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3AC98-B7FD-F6B8-EC18-2F0E7E58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B243-A275-4E19-80C3-86FDAB038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33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E599F-A58E-51AB-1B92-C44B1971B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84C94-B0B2-3CB2-2492-8E82B159E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F9D354-3A77-2BD0-F1E4-6F00EF035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87A86E-1780-DB04-E72C-D7997BF85B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9DCA43-288E-80DD-CFDB-43272CD240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4C76C8-BC8D-7162-466D-822778028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52C6F-67A6-4605-8C98-7C2B5F885B0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ACB847-BB45-942C-22EF-11F2C3977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3EABFB-561F-371A-EB6F-C43C3FFC1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B243-A275-4E19-80C3-86FDAB038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57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B1C94-6088-D532-A765-C7017E588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E1644F-AC78-6FFF-45B6-0BA915F90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52C6F-67A6-4605-8C98-7C2B5F885B0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7CEA53-F8B3-2EA5-63C5-DE77FAA5F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814EB-8C2E-45E3-9E05-B9F956F69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B243-A275-4E19-80C3-86FDAB038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22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59D976-38C5-7A5B-844E-56B7286CA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52C6F-67A6-4605-8C98-7C2B5F885B0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7A8166-5948-6673-A8FF-0ADC9455D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C87ECD-D87E-AFAE-2E51-389E4F59A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B243-A275-4E19-80C3-86FDAB038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864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ED5D-D961-B97F-71C6-D78DF5F5D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3910A-E905-D3CA-6055-CF3A17126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303284-82F3-F31E-9007-BDFA5FD07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D725F4-59B6-CE1C-2957-2D4395B9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52C6F-67A6-4605-8C98-7C2B5F885B0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70C9C0-0A10-CC90-E80E-A605351ED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25D4F6-843D-C169-1E04-1033A84B6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B243-A275-4E19-80C3-86FDAB038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50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68709-DFFB-8B5D-14F3-F050796C0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794176-6709-094F-0341-28E4CE836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3508A-B4F1-2F4D-8341-AE6F893A7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BBB10-DE03-AAF5-5638-E8CC3E4BC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52C6F-67A6-4605-8C98-7C2B5F885B0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A5C31-6D0E-018A-B637-318258439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F38DD-7B01-0623-4025-D0FAE733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B243-A275-4E19-80C3-86FDAB038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072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6FDB0-9316-CF7E-EFE1-29ABEB421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E91521-7A2D-77DE-9F5E-60F8E302B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CE352-AA66-75DE-F0E5-6CA01129A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52C6F-67A6-4605-8C98-7C2B5F885B0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1001C-B14C-F8F2-D9CD-000B577FF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50632-971B-3763-32CC-1634E1E14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B243-A275-4E19-80C3-86FDAB038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64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128733-1C14-53BF-9547-568E142062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237CD7-DC62-12CB-433B-5B57332F8A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7EF54-662A-AD85-8B87-E8089E2C7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052C6F-67A6-4605-8C98-7C2B5F885B0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14329-7643-313E-93AA-E9B6F7C97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C733F-89C8-6956-3C6F-01F9FA60C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AB243-A275-4E19-80C3-86FDAB038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44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900EB0-7C98-0E52-56EA-AEA4455AF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712077-CCB4-9E60-1973-063F163C5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362A7-B866-AA22-0055-36012E83C0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052C6F-67A6-4605-8C98-7C2B5F885B05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9F4FF-AAEE-7789-F4FE-8716EDF3FD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1555B-0910-6FD6-A4BF-CB24B6E0F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B243-A275-4E19-80C3-86FDAB0386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863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B572F4D2-DA15-4796-BA6C-C6B17E87D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481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A51A-EDC4-FB35-C2B2-8A5D11E57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  <a:solidFill>
            <a:srgbClr val="00B0F0"/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txBody>
          <a:bodyPr>
            <a:norm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6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Data Analytics</a:t>
            </a:r>
            <a:br>
              <a:rPr lang="en-US" sz="4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Professional Certificate in Data Science, Machine Learning &amp; Artificial Intelligence</a:t>
            </a:r>
            <a:b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 1: Foundations of Data Analytics</a:t>
            </a:r>
            <a:b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6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and Delivered by:</a:t>
            </a:r>
            <a:b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1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Lumumba Wandera Victor</a:t>
            </a:r>
            <a:endParaRPr lang="en-US" sz="9600" b="1" i="1" dirty="0"/>
          </a:p>
        </p:txBody>
      </p:sp>
    </p:spTree>
    <p:extLst>
      <p:ext uri="{BB962C8B-B14F-4D97-AF65-F5344CB8AC3E}">
        <p14:creationId xmlns:p14="http://schemas.microsoft.com/office/powerpoint/2010/main" val="1913526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B1C73-1CD6-8B83-2E5B-B4000E9B69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31371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Data Analytic</a:t>
            </a:r>
            <a:endParaRPr lang="en-US" sz="115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974278-7A1C-1D6F-0207-CDF4F70A7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631371"/>
            <a:ext cx="12191999" cy="6226629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R="0" lvl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Module 1: Foundations of Data Analytics</a:t>
            </a:r>
          </a:p>
          <a:p>
            <a:pPr marL="457200" marR="0" lvl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Professional Certificate in Data Science, ML &amp; AI</a:t>
            </a:r>
          </a:p>
          <a:p>
            <a:pPr marL="457200" marR="0" lvl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Duration: ~2-3 hours of instruction</a:t>
            </a:r>
          </a:p>
          <a:p>
            <a:pPr marL="457200" marR="0" lvl="0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Learning Objectives:</a:t>
            </a:r>
          </a:p>
          <a:p>
            <a:pPr marL="914400" marR="0" lvl="1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 the strategic role of data analytics in modern organizations</a:t>
            </a:r>
          </a:p>
          <a:p>
            <a:pPr marL="914400" marR="0" lvl="1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Master the data analytics lifecycle and its iterative nature</a:t>
            </a:r>
          </a:p>
          <a:p>
            <a:pPr marL="914400" marR="0" lvl="1" indent="-45720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914400" algn="l"/>
              </a:tabLs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Differentiate between descriptive, diagnostic, predictive, and prescriptive analytics</a:t>
            </a:r>
          </a:p>
          <a:p>
            <a:pPr marL="742950" marR="0" lvl="1" indent="-28575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32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Apply analytics thinking to real-world business problems</a:t>
            </a:r>
          </a:p>
          <a:p>
            <a:pPr marL="0" marR="0" algn="l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3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Modern dashboard graphic with data flow arrows</a:t>
            </a:r>
            <a:endParaRPr lang="en-US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55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31A05-F6FB-6F8E-49AD-5342FEBB6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8377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Data Analytics?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51748-F7DB-F173-81C8-DBA4420B8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83771"/>
            <a:ext cx="5377543" cy="6074228"/>
          </a:xfrm>
          <a:solidFill>
            <a:schemeClr val="accent1">
              <a:lumMod val="20000"/>
              <a:lumOff val="80000"/>
            </a:schemeClr>
          </a:solidFill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Definition and Core Concept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Analytics: The science of analyzing raw data to extract meaningful insights, identify patterns, and support decision-making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Components: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collection and integration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cleaning and transformation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Statistical analysis and modeling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Visualization and storytelling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Actionable recommendation generation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Distinction from related fields: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Science: Broader field including ML, AI, and advanced modeling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Business Intelligence: Focus on reporting and historical analysis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Analytics: Emphasis on insight generation and decision support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Venn diagram showing overlap between Data Analytics, Data Science, and BI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What is data analysis and how do you apply the techniques?">
            <a:extLst>
              <a:ext uri="{FF2B5EF4-FFF2-40B4-BE49-F238E27FC236}">
                <a16:creationId xmlns:a16="http://schemas.microsoft.com/office/drawing/2014/main" id="{2AB51A5A-FBEE-409A-39DF-37130D307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7543" y="783771"/>
            <a:ext cx="6814457" cy="607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197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9E521-60CB-B4BA-E57E-1657C8DE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01486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Data-Driven Organization</a:t>
            </a:r>
            <a:endParaRPr lang="en-US" sz="8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103F8-6E74-2793-CCC8-A5535AACF2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1001486"/>
            <a:ext cx="12192001" cy="5856513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 fontScale="925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Analytics Matters Today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Competitive Advantage: Organizations using data analytics are 5x more likely to make faster decisions (McKinsey, 2023)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Operational Efficiency: Analytics reduces waste, optimizes processes, and improves resource allocation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Customer Centricity: Enables personalized experiences, churn prediction, and lifetime value optimization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Risk Management: Early detection of fraud, compliance issues, and market shifts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Innovation Catalyst: Data reveals unmet needs and new market opportunities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Case Example: Netflix uses viewing analytics to guide content creation, saving $1B+ annually in production risks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Infographic showing business outcomes linked to analytics adoption</a:t>
            </a:r>
            <a:endParaRPr lang="en-US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228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70E38-F01F-5A71-3679-32FC8BC23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32113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a Data Driven Organizations</a:t>
            </a:r>
          </a:p>
        </p:txBody>
      </p:sp>
      <p:pic>
        <p:nvPicPr>
          <p:cNvPr id="3074" name="Picture 2" descr="How Data-Driven Organizations Drive SuccessNew Metrics">
            <a:extLst>
              <a:ext uri="{FF2B5EF4-FFF2-40B4-BE49-F238E27FC236}">
                <a16:creationId xmlns:a16="http://schemas.microsoft.com/office/drawing/2014/main" id="{08A16407-8D0E-89D1-B3AA-91F330BDE60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2114"/>
            <a:ext cx="12192000" cy="5724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656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86FCC-2B30-009F-D4EB-E3110240B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03513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Strategic Roles of Analytics in Organizations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3D96A-7D4C-CBB7-4FE3-1D8B0BD12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3514"/>
            <a:ext cx="4931229" cy="5954485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Support Function to Strategic Partner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Operational Analytics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Real-time monitoring of processes (e.g., supply chain tracking, call center metrics)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Tactical Analytics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Mid-term decision support (e.g., marketing campaign optimization, inventory planning)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Strategic Analytics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Long-term planning and competitive positioning (e.g., market entry analysis, M&amp;A evaluation)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Cultural Transformation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Fostering evidence-based decision-making across all levels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Governance &amp; Compliance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Ensuring data quality, privacy, and regulatory adherence (GDPR, HIPAA)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Success Factor: Analytics must align with organizational goals and KPIs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Pyramid diagram showing operational → tactical → strategic analytics layers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Strategic Insights: The Role of Analytics in Modern Business">
            <a:extLst>
              <a:ext uri="{FF2B5EF4-FFF2-40B4-BE49-F238E27FC236}">
                <a16:creationId xmlns:a16="http://schemas.microsoft.com/office/drawing/2014/main" id="{B6EBCB07-266E-BD3A-A237-CB7D6A6409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1228" y="903514"/>
            <a:ext cx="7260771" cy="5954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58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F90A-0B3D-0D85-E035-7EAB8C69A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144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Industry Applications of Data Analytics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C0846-E9CA-05E8-3F92-A297AF20B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14400"/>
            <a:ext cx="4865914" cy="5943599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Sector-Specific Use Cases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Healthcare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Patient outcome prediction, resource allocation, epidemic forecasting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Finance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Credit scoring, fraud detection, algorithmic trading, risk modeling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Retail &amp; E-commerce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Demand forecasting, recommendation engines, dynamic pricing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Agriculture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Yield prediction, precision farming, climate risk assessment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Government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Policy evaluation, public service optimization, census analysis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Education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Student performance prediction, curriculum optimization, dropout prevention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Kenya Context: Mobile money analytics (M-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agricultural extension services, public health surveillance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World map with icons representing industry applications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10 Data Analytics Applications and its Uses">
            <a:extLst>
              <a:ext uri="{FF2B5EF4-FFF2-40B4-BE49-F238E27FC236}">
                <a16:creationId xmlns:a16="http://schemas.microsoft.com/office/drawing/2014/main" id="{12CFA317-7357-9ABB-9802-C1D5C7696E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943" y="914399"/>
            <a:ext cx="7424057" cy="594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2934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596DB-ADA2-CF97-14A7-9786FA5D3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68828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Analytics Value Chain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9F9DA-C353-05D7-DD54-A10CCA07D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8828"/>
            <a:ext cx="6096000" cy="5889171"/>
          </a:xfrm>
          <a:solidFill>
            <a:srgbClr val="FFFF00"/>
          </a:solidFill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 Raw Data to Business Impact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Unprocessed facts and figures (transactions, sensor readings, surveys)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Organized, contextualized data (reports, dashboards, summaries)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Insights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Patterns, correlations, and causal relationships discovered through analysis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Decisions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Strategic or operational choices informed by insights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Actions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Implementation of decisions (process changes, investments, interventions)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Value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Measurable business outcomes (revenue growth, cost reduction, risk mitigation)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Critical Note: Value is only realized when insights lead to executed actions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Linear flowchart with feedback loop from "Value" back to "Data"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business insights ...">
            <a:extLst>
              <a:ext uri="{FF2B5EF4-FFF2-40B4-BE49-F238E27FC236}">
                <a16:creationId xmlns:a16="http://schemas.microsoft.com/office/drawing/2014/main" id="{48346EA4-9015-2F67-A715-C93414E5F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68826"/>
            <a:ext cx="6096000" cy="5889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604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E1453-270A-D361-6460-3FE26171F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6433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Common Analytics Challenges in Organizations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9AD89-C158-A19A-6459-F18D66A63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6434"/>
            <a:ext cx="5618602" cy="5921565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Barriers to Effective Implementation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Quality Issues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Incomplete, inconsistent, or outdated data ("garbage in, garbage out")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Siloed Data Systems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Fragmented data across departments hindering holistic analysis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Skills Gap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Shortage of personnel with both technical and business acumen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Cultural Resistance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Reliance on intuition over evidence; fear of transparency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Tool Proliferation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Too many platforms causing integration and training challenges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Ethical &amp; Privacy Concerns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Balancing insight generation with data protection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Mitigation Strategy: Start with clear business questions, ensure executive sponsorship, invest in data governance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Warning icons with brief challenge descriptions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098" name="Picture 2" descr="Top 7 Business Analyst Challenges">
            <a:extLst>
              <a:ext uri="{FF2B5EF4-FFF2-40B4-BE49-F238E27FC236}">
                <a16:creationId xmlns:a16="http://schemas.microsoft.com/office/drawing/2014/main" id="{AB641DCF-F163-A465-4B83-CAB4833A9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602" y="936434"/>
            <a:ext cx="6573398" cy="592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4359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F3868-30E9-73FF-ACA1-8833207D6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48298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Building an Analytics-Ready Culture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FC7BF-9F31-99F8-7FE2-A7F9BE550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8298"/>
            <a:ext cx="5563518" cy="6009701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25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Enabling Factors for Success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Leadership Commitment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Executives must champion data-driven decision-making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Cross-Functional Teams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Blend of data specialists, domain experts, and business stakeholders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Continuous Learning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Upskilling programs (like this certificate) to build internal capacity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Agile Methodology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Iterative analytics projects with rapid prototyping and feedback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 Frameworks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Training analysts to translate technical findings for non-technical audiences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Metrics Alignment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Ensuring analytics outputs directly tie to organizational KPIs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Kenya Application: Leverage mobile technology adoption and growing tech hubs (Nairobi, Kisumu) for analytics capacity building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Team collaboration graphic with diverse roles around a data dashboard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122" name="Picture 2" descr="Data-driven culture in leadership teams">
            <a:extLst>
              <a:ext uri="{FF2B5EF4-FFF2-40B4-BE49-F238E27FC236}">
                <a16:creationId xmlns:a16="http://schemas.microsoft.com/office/drawing/2014/main" id="{14E3F50B-853D-D844-54CF-EA23CEAFC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518" y="848297"/>
            <a:ext cx="6628482" cy="6009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947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63004-3433-C6F9-351D-4F24A41D0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81348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Analytics Lifecycle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CBEF0-B993-D02A-8FDF-FD8CE57C6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1349"/>
            <a:ext cx="5585552" cy="5976650"/>
          </a:xfrm>
        </p:spPr>
        <p:txBody>
          <a:bodyPr>
            <a:normAutofit fontScale="850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Structured Approach to Analytics Projects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lifecycle provides a repeatable framework for turning business questions into actionable insights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Iterative, not linear: Learnings from later stages often refine earlier assumptions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Adaptable to project scope: Can be applied to quick exploratory analyses or multi-year initiatives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Foundation for Module 1: This lifecycle underpins all subsequent technical modules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Phases Overview: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Definition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Collection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Preparation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Exploratory Analysis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Modeling &amp; Interpretation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 &amp; Deployment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Monitoring &amp; Iteration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4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Circular diagram showing 7 interconnected lifecycle phases</a:t>
            </a:r>
            <a:endParaRPr lang="en-US" sz="2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146" name="Picture 2" descr="Data analytics life cycle diagram with 7 stages.">
            <a:extLst>
              <a:ext uri="{FF2B5EF4-FFF2-40B4-BE49-F238E27FC236}">
                <a16:creationId xmlns:a16="http://schemas.microsoft.com/office/drawing/2014/main" id="{69E2847E-8226-0A93-2974-822F3769C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552" y="881349"/>
            <a:ext cx="6606448" cy="59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249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BE4D3-BFB9-364F-47FF-7682250DF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02534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Problem Definition &amp; Business Understanding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27DD1-5A5E-2C68-9E27-62A402542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02534"/>
            <a:ext cx="4957590" cy="5855465"/>
          </a:xfrm>
          <a:solidFill>
            <a:schemeClr val="accent4"/>
          </a:solidFill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Most Critical Step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Objective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Translate business needs into analytical questions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Activities:</a:t>
            </a: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Stakeholder interviews to clarify objectives and success metrics</a:t>
            </a: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Defining scope, constraints, and timelines</a:t>
            </a: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Identifying required data sources and accessibility</a:t>
            </a: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Establishing ethical guidelines and privacy considerations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Common Pitfalls:</a:t>
            </a: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Solving the wrong problem due to misaligned expectations</a:t>
            </a: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Overlooking feasibility (data availability, technical constraints)</a:t>
            </a:r>
          </a:p>
          <a:p>
            <a:pPr marR="0" lvl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v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Vague success criteria ("improve customer satisfaction" vs. "increase NPS by 10 points")</a:t>
            </a:r>
            <a:endParaRPr lang="en-US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6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Deliverable: 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charter with clear problem statement, hypotheses, and KPIs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Flowchart from "Business Question" → "Analytical Question" → "Success Metrics"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Write a business problem statement">
            <a:extLst>
              <a:ext uri="{FF2B5EF4-FFF2-40B4-BE49-F238E27FC236}">
                <a16:creationId xmlns:a16="http://schemas.microsoft.com/office/drawing/2014/main" id="{789D8851-99E2-9090-69DE-D5CFBE830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590" y="1002533"/>
            <a:ext cx="7234410" cy="5855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1447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55BC7-9C8E-7E9D-7E6B-5CBFAEB3A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59315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Collection &amp; Acquisition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2DBEC-EC93-D28E-3F79-3B49076D9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59316"/>
            <a:ext cx="12192000" cy="5998684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fontScale="925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Gathering the Right Data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Sources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Internal: Databases, CRM, ERP, transaction logs, employee records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External: Public datasets, APIs, social media, satellite imagery, surveys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Structured vs. Semi-structured vs. Unstructured data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Collection Methods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Direct extraction (SQL queries, API calls)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scraping (with ethical and legal compliance)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Sensor/IoT data streams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Third-party data purchases or partnerships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Quality Checks at Source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Assess completeness, accuracy, timeliness, and relevance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Document data provenance and collection methodology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Kenya Context: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Leveraging open data portals (opendata.go.ke), mobile survey tools (ODK), and agricultural sensor networks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2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Icons representing different data sources feeding into a central repository</a:t>
            </a:r>
            <a:endParaRPr lang="en-US" sz="2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044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ECE0B-6DD1-9D3C-0C78-2307D2B6F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Preparation &amp; Cleaning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6CFD0-22BF-0B28-8991-9BD4CD16D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681036"/>
            <a:ext cx="5144877" cy="6176963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"80% of the Work" Phase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It Matters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Poor-quality data leads to misleading insights; cleaning ensures reliability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Tasks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Handling missing values: Imputation, deletion, or flagging strategies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Outlier detection and treatment: Statistical methods (IQR, Z-score) or domain-based rules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Standardization: Consistent formatting for dates, currencies, categories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Deduplication: Identifying and merging duplicate records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 engineering: Creating new variables from existing data (e.g., customer tenure from signup date)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Tools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Python (pandas), R (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tidyverse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), SQL, </a:t>
            </a:r>
            <a:r>
              <a:rPr lang="en-US" sz="16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OpenRefine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Best Practice: Document all cleaning steps for reproducibility and auditability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Before/after data table showing messy → clean transformation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E22B5C9-A235-483F-8509-BDC0094AA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876" y="681034"/>
            <a:ext cx="7047124" cy="6176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1543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DBCE-3972-4F7D-5157-6BF8E5D4E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1999" cy="870332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Exploratory Data Analysis (EDA)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A7D4C-BB0C-3D1D-FBAD-1A142427D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70333"/>
            <a:ext cx="5552501" cy="5987665"/>
          </a:xfrm>
          <a:solidFill>
            <a:srgbClr val="FFC000"/>
          </a:solidFill>
        </p:spPr>
        <p:txBody>
          <a:bodyPr>
            <a:normAutofit fontScale="925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Your Data Before Modeling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Uncover patterns, anomalies, and relationships without preconceived hypotheses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Techniques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Univariate analysis: Distributions, central tendency, variability of single variables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Bivariate analysis: Correlations, cross-tabulations, scatter plots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Multivariate analysis: PCA, clustering, interaction effects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Visualization Tools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Histograms, box plots, heatmaps for distribution insights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Scatter plots, pair plots for relationship exploration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 series plots for trend identification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Outcome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Refined hypotheses, identification of key predictors, data quality validation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 Tip: EDA often reveals the need to revisit data collection or preparation steps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Dashboard of diverse EDA visualizations (histogram, scatter, heatmap)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220" name="Picture 4" descr="Types of Exploratory Data Analysis ">
            <a:extLst>
              <a:ext uri="{FF2B5EF4-FFF2-40B4-BE49-F238E27FC236}">
                <a16:creationId xmlns:a16="http://schemas.microsoft.com/office/drawing/2014/main" id="{2B458CB0-B419-91BA-9A52-AD39053FE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2501" y="870333"/>
            <a:ext cx="6639497" cy="5987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7296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3EFAA-0268-B1A3-3663-F0E711E7D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4745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Modeling &amp; Statistical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98D27-6A01-9DDA-F1F3-144754DA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47451"/>
            <a:ext cx="12192000" cy="5910548"/>
          </a:xfrm>
          <a:solidFill>
            <a:schemeClr val="accent5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Turning Insights into Predictions and Explanations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Approach Selection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Descriptive models: Summarize historical patterns (e.g., segmentation)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Predictive models: Forecast future outcomes (e.g., regression, classification)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Prescriptive models: Recommend optimal actions (e.g., optimization, simulation)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Development Steps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Feature selection and engineering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Algorithm selection based on problem type and data characteristics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Training/testing split and cross-validation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Performance evaluation using appropriate metrics (accuracy, RMSE, AUC-ROC)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Interpretability vs. Complexity Trade-off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Simpler models (linear regression) may be preferred for transparency over "black box" models (deep learning) in regulated contexts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Ethics Check: Assess model fairness, bias, and potential unintended consequences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Decision tree showing model selection criteria based on problem type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8207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F5F70-B447-83FE-04B4-D5270A157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48298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Types of Analytics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818FE-7CEC-2B1A-1203-13925E1FD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48299"/>
            <a:ext cx="4869455" cy="600970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 fontScale="925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Analytics Maturity Spectrum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Analytics capabilities evolve in sophistication and business impact: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Each type answers a different question: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Descriptive: </a:t>
            </a:r>
            <a:r>
              <a:rPr lang="en-US" sz="2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happened?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Diagnostic: </a:t>
            </a:r>
            <a:r>
              <a:rPr lang="en-US" sz="2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did it happen?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Predictive: </a:t>
            </a:r>
            <a:r>
              <a:rPr lang="en-US" sz="2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is likely to happen?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Prescriptive: </a:t>
            </a:r>
            <a:r>
              <a:rPr lang="en-US" sz="2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What should we do about it?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Organizational maturity: Most companies operate primarily at descriptive/diagnostic levels; advanced analytics requires stronger data infrastructure and skills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Strategic implication: Invest progressively; don't skip foundational steps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</a:t>
            </a:r>
            <a:r>
              <a:rPr lang="en-US" sz="2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isual suggestion: Maturity curve graph showing increasing complexity and value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266" name="Picture 2" descr="4-types-of-business-data-analytics">
            <a:extLst>
              <a:ext uri="{FF2B5EF4-FFF2-40B4-BE49-F238E27FC236}">
                <a16:creationId xmlns:a16="http://schemas.microsoft.com/office/drawing/2014/main" id="{F8B85555-288A-B20C-84F1-C9D35C055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9455" y="848299"/>
            <a:ext cx="7189425" cy="6009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5738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74250-B8A1-DD35-9F97-30887FD37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91517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Descriptive Analytics – "What Happened?"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13E01-092F-6A3A-6CD6-E8E562934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91518"/>
            <a:ext cx="5277080" cy="5866481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 fontScale="92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Foundational Insight Generation</a:t>
            </a:r>
            <a:endParaRPr lang="en-US" sz="16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Summarize historical data to understand past performance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Common Techniques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Aggregation: Totals, averages, counts (e.g., monthly sales revenue)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Segmentation: Grouping data by categories (e.g., customer demographics)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Trend analysis: Time-series visualizations (e.g., website traffic over quarters)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Benchmarking: Comparing performance against targets or peers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Tools &amp; Outputs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Dashboards (Power BI, Tableau)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Standard reports (daily, weekly, monthly)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KPI scorecards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6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Limitations</a:t>
            </a: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Reactive; explains the past but doesn't guide future action alone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6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Kenya Example: Ministry of Health dashboard showing monthly malaria case counts by county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6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Sample dashboard with KPIs, trend lines, and bar charts</a:t>
            </a:r>
            <a:endParaRPr lang="en-US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Descriptive Analytics | BEBTEXAS">
            <a:extLst>
              <a:ext uri="{FF2B5EF4-FFF2-40B4-BE49-F238E27FC236}">
                <a16:creationId xmlns:a16="http://schemas.microsoft.com/office/drawing/2014/main" id="{B39F3CEC-E539-969F-6884-1F9D15BF8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991518"/>
            <a:ext cx="6095999" cy="5866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72119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0E2D0-FA7D-45B0-23D1-340C0562F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69483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Diagnostic Analytics – "Why Did It Happen?"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5E3D5-215D-BA08-AFCA-8D943097F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69484"/>
            <a:ext cx="5012675" cy="5888515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 fontScale="700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Root Cause Analysis and Deeper Understanding</a:t>
            </a:r>
            <a:endParaRPr lang="en-US" sz="21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Identify drivers and relationships behind observed outcomes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Common Techniques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Drill-down: Breaking aggregates into components (e.g., national sales → regional → store-level)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Correlation analysis: Identifying variables that move together (e.g., ad spend vs. conversions)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Cohort analysis: Tracking behavior of groups over time (e.g., customer retention by signup month)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Statistical testing: Hypothesis tests to confirm if patterns are significant (t-tests, chi-square)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Question Framework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"What changed?" → "What factors correlate with the change?" → "Is the relationship causal or coincidental?"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1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Caution</a:t>
            </a: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Correlation ≠ Causation; diagnostic analytics suggests hypotheses but may require experimental validation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Kenya Application: Analyzing why crop yields declined in a region (weather data + soil tests + input access)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1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Fishbone</a:t>
            </a:r>
            <a:r>
              <a:rPr lang="en-US" sz="19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diagram showing potential causes of a business outcome</a:t>
            </a:r>
            <a:endParaRPr lang="en-US" sz="19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290" name="Picture 2" descr="diagnostic-analytics">
            <a:extLst>
              <a:ext uri="{FF2B5EF4-FFF2-40B4-BE49-F238E27FC236}">
                <a16:creationId xmlns:a16="http://schemas.microsoft.com/office/drawing/2014/main" id="{5AA6A1DF-15BC-B3DC-E01A-0B13B12B3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2675" y="969484"/>
            <a:ext cx="7179325" cy="5888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700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7BE87-5BEF-2EBC-AFBB-5E5120DA1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"/>
            <a:ext cx="12191999" cy="1112703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Predictive Analytics – "What Is Likely to Happen?"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7E9A6-C3CC-A867-58DA-A795371FD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12705"/>
            <a:ext cx="6096000" cy="5745296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92500"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Forecasting Future Outcomes</a:t>
            </a:r>
            <a:endParaRPr lang="en-US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Use historical patterns to estimate probabilities of future events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Common Techniques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Regression models: Predict continuous outcomes (e.g., sales volume, patient length of stay)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Classification models: Predict categorical outcomes (e.g., churn yes/no, loan default risk)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 series forecasting: ARIMA, exponential smoothing for temporal data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learning: Random forests, gradient boosting for complex, non-linear patterns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Considerations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validation: Always test on unseen data to avoid overfitting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Uncertainty quantification: Provide confidence intervals, not just point estimates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Ethical implications: Predictive models can perpetuate bias if training data is flawed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Business Value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Enables proactive resource allocation, risk mitigation, and opportunity capture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Kenya Example: Predicting drought risk using climate models + satellite vegetation data to guide food security interventions</a:t>
            </a:r>
          </a:p>
          <a:p>
            <a:pPr marL="0" indent="0">
              <a:buNone/>
            </a:pPr>
            <a:r>
              <a:rPr lang="en-US" sz="1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Visual suggestion: Forecast chart with actuals vs. predictions and confidence bands</a:t>
            </a: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838DB-D3E7-9744-D8CA-40E900F11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6" y="1112704"/>
            <a:ext cx="6096001" cy="574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097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051F9-0E6E-AA87-3515-E6A092ADC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93213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Prescriptive Analytics – "What Should We Do?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4D906-C735-25A8-BD21-57B1D105D5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793214"/>
            <a:ext cx="6096000" cy="6064785"/>
          </a:xfrm>
          <a:solidFill>
            <a:schemeClr val="accent6">
              <a:lumMod val="60000"/>
              <a:lumOff val="40000"/>
            </a:schemeClr>
          </a:solidFill>
        </p:spPr>
        <p:txBody>
          <a:bodyPr>
            <a:normAutofit fontScale="77500" lnSpcReduction="2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Optimizing Decisions and Actions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Recommend specific actions to achieve desired outcomes, considering constraints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Common Techniques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Optimization models: Linear/integer programming for resource allocation (e.g., minimizing delivery costs)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Simulation: Testing "what-if" scenarios (e.g., impact of price changes on demand)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Reinforcement learning: AI systems that learn optimal policies through trial and error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Decision trees with cost/benefit analysis: Structuring complex choices under uncertainty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Integration Requirement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Combines predictive insights with business rules, constraints, and objectives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Challenges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Requires high-quality data and clear objective functions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Organizational change management to act on recommendations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Dynamic environments may require real-time re-optimization</a:t>
            </a:r>
          </a:p>
          <a:p>
            <a:pPr mar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1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Kenya Application: </a:t>
            </a:r>
          </a:p>
          <a:p>
            <a:pPr marL="457200" marR="0" lvl="1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914400" algn="l"/>
              </a:tabLs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Optimizing vaccine distribution routes considering cold-chain constraints, population density, and outbreak risk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Decision flowchart showing inputs → optimization engine → recommended actions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000" dirty="0"/>
          </a:p>
        </p:txBody>
      </p:sp>
      <p:pic>
        <p:nvPicPr>
          <p:cNvPr id="14338" name="Picture 2" descr="Prescriptive Analytics Definition, Examples, &amp; Tools">
            <a:extLst>
              <a:ext uri="{FF2B5EF4-FFF2-40B4-BE49-F238E27FC236}">
                <a16:creationId xmlns:a16="http://schemas.microsoft.com/office/drawing/2014/main" id="{B6ED29DD-92C4-9430-BED0-A12985778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793214"/>
            <a:ext cx="6096000" cy="606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1915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0DC99-1660-6B92-62C8-5C4B09B77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70334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sz="32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Comparing the Four Analytics Types</a:t>
            </a:r>
            <a:endParaRPr lang="en-US" sz="6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4CCD6DE-1A7A-DA46-14EA-3243A2CFA6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495825"/>
              </p:ext>
            </p:extLst>
          </p:nvPr>
        </p:nvGraphicFramePr>
        <p:xfrm>
          <a:off x="0" y="870334"/>
          <a:ext cx="12192000" cy="59876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69886661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686238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17582614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13351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3747037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59505139"/>
                    </a:ext>
                  </a:extLst>
                </a:gridCol>
              </a:tblGrid>
              <a:tr h="9894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highlight>
                            <a:srgbClr val="F7F8FC"/>
                          </a:highlight>
                        </a:rPr>
                        <a:t>Type</a:t>
                      </a:r>
                      <a:endParaRPr lang="en-US" sz="2400" kern="1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highlight>
                          <a:srgbClr val="F7F8FC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highlight>
                            <a:srgbClr val="F7F8FC"/>
                          </a:highlight>
                        </a:rPr>
                        <a:t>Question Answered</a:t>
                      </a:r>
                      <a:endParaRPr lang="en-US" sz="2400" kern="1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highlight>
                          <a:srgbClr val="F7F8FC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highlight>
                            <a:srgbClr val="F7F8FC"/>
                          </a:highlight>
                        </a:rPr>
                        <a:t>Time Orientation</a:t>
                      </a:r>
                      <a:endParaRPr lang="en-US" sz="2400" kern="10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highlight>
                          <a:srgbClr val="F7F8FC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highlight>
                            <a:srgbClr val="F7F8FC"/>
                          </a:highlight>
                        </a:rPr>
                        <a:t>Complexity</a:t>
                      </a:r>
                      <a:endParaRPr lang="en-US" sz="2400" kern="1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highlight>
                          <a:srgbClr val="F7F8FC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highlight>
                            <a:srgbClr val="F7F8FC"/>
                          </a:highlight>
                        </a:rPr>
                        <a:t>Business Impact</a:t>
                      </a:r>
                      <a:endParaRPr lang="en-US" sz="2400" kern="1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highlight>
                          <a:srgbClr val="F7F8FC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solidFill>
                            <a:schemeClr val="accent6">
                              <a:lumMod val="50000"/>
                            </a:schemeClr>
                          </a:solidFill>
                          <a:effectLst/>
                          <a:highlight>
                            <a:srgbClr val="F7F8FC"/>
                          </a:highlight>
                        </a:rPr>
                        <a:t>Example</a:t>
                      </a:r>
                      <a:endParaRPr lang="en-US" sz="2400" kern="100" dirty="0">
                        <a:solidFill>
                          <a:schemeClr val="accent6">
                            <a:lumMod val="50000"/>
                          </a:schemeClr>
                        </a:solidFill>
                        <a:effectLst/>
                        <a:highlight>
                          <a:srgbClr val="F7F8FC"/>
                        </a:highlight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72498999"/>
                  </a:ext>
                </a:extLst>
              </a:tr>
              <a:tr h="9894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Descriptive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What happened?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Past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Low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Awareness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Monthly sales report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2475598"/>
                  </a:ext>
                </a:extLst>
              </a:tr>
              <a:tr h="9894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Diagnostic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Why did it happen?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Past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</a:rPr>
                        <a:t>Medium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Understanding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Root cause of sales drop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26272238"/>
                  </a:ext>
                </a:extLst>
              </a:tr>
              <a:tr h="989449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Predictive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What will happen?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</a:rPr>
                        <a:t>Future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High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Anticipation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Customer churn risk score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6535423"/>
                  </a:ext>
                </a:extLst>
              </a:tr>
              <a:tr h="202987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Prescriptive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What should we do?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Future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Very High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>
                          <a:effectLst/>
                        </a:rPr>
                        <a:t>Action</a:t>
                      </a:r>
                      <a:endParaRPr lang="en-US" sz="24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2400" kern="100" dirty="0">
                          <a:effectLst/>
                        </a:rPr>
                        <a:t>Optimal marketing spend allocation</a:t>
                      </a:r>
                      <a:endParaRPr lang="en-US" sz="24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50276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1634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C3D6A-5765-1A53-2C6F-F662A2D8F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846730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Sequential Building of Each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A83B0-1054-59C0-C02F-0012E3D4F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" y="846730"/>
            <a:ext cx="12191999" cy="6011270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 lnSpcReduction="10000"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Progression Insight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Each type builds on the previous; strong descriptive foundations enable reliable predictive models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Resource Implication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Complexity and data requirements increase across the spectrum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4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Strategic Takeaway</a:t>
            </a:r>
            <a:r>
              <a:rPr lang="en-US" sz="4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Organizations should assess their current maturity and invest incrementally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4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Comparison table with color-coded complexity gradient</a:t>
            </a:r>
            <a:endParaRPr lang="en-US" sz="4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442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F7CC1-D307-C86E-A24F-2A9504EFD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6433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Integrating Analytics Types in Practice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366CC-6CC0-658D-5F3A-74B107BBD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36434"/>
            <a:ext cx="12192000" cy="5921566"/>
          </a:xfrm>
          <a:solidFill>
            <a:schemeClr val="accent4"/>
          </a:solidFill>
        </p:spPr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 Holistic Analytics Strategy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Real-World Workflow Example – Retail Inventory Management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Descriptive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Dashboard shows last month's stockouts by product category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Diagnostic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Analysis reveals stockouts correlate with promotional periods and supplier lead times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Predictive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Model forecasts demand spikes for upcoming holidays based on historical patterns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Prescriptive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Optimization algorithm recommends order quantities and timing to minimize stockouts while controlling holding costs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Cross-Type Synergies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Diagnostic insights improve feature engineering for predictive models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Predictive outputs feed prescriptive optimization constraints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types benefit from shared data infrastructure and governance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Implementation Tip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Start with descriptive/diagnostic to build trust and data quality, then layer predictive/prescriptive capabilities</a:t>
            </a: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Circular workflow diagram showing how the four analytics types interact in a business process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9438871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5BD1F-05B3-9198-95F4-DF668DF3C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1036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pPr algn="ctr"/>
            <a:r>
              <a:rPr lang="en-US" sz="4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Takeaways &amp; Next Steps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E1CC4-92C1-0480-7FAB-67DA2DBF7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1036"/>
            <a:ext cx="12192000" cy="6176963"/>
          </a:xfrm>
          <a:solidFill>
            <a:schemeClr val="accent5">
              <a:lumMod val="60000"/>
              <a:lumOff val="40000"/>
            </a:schemeClr>
          </a:solidFill>
        </p:spPr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Foundations for Your Analytics Journey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Core Messages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analytics transforms raw data into strategic advantage when aligned with business goals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analytics lifecycle provides a repeatable, iterative framework for project success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four analytics types form a maturity spectrum—master foundations before advancing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Technical skills must be paired with communication, ethics, and domain knowledge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Immediate Actions for Learners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Practice framing business questions as analytical problems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Explore sample datasets using Python/R to apply EDA techniques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Critically evaluate dashboards/reports using the descriptive/diagnostic lens</a:t>
            </a: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Reflect on ethical implications of analytics in your industry context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Looking Ahead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Module 1 continues with Data Types, Cleaning, Statistics, and Visualization—building the technical toolkit to execute this lifecycle</a:t>
            </a: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US" sz="20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Quote to Remember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"Without data, you're just another person with an opinion." – W. Edwards Deming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suggestion: Roadmap graphic showing "Introduction" → "Technical Modules" → "Capstone Project"</a:t>
            </a:r>
            <a:endParaRPr lang="en-US" sz="20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4543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2803</Words>
  <Application>Microsoft Office PowerPoint</Application>
  <PresentationFormat>Widescreen</PresentationFormat>
  <Paragraphs>304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Courier New</vt:lpstr>
      <vt:lpstr>Symbol</vt:lpstr>
      <vt:lpstr>Times New Roman</vt:lpstr>
      <vt:lpstr>Wingdings</vt:lpstr>
      <vt:lpstr>Office Theme</vt:lpstr>
      <vt:lpstr>PowerPoint Presentation</vt:lpstr>
      <vt:lpstr>Introduction to Data Analytics Professional Certificate in Data Science, Machine Learning &amp; Artificial Intelligence Module 1: Foundations of Data Analytics    Prepared and Delivered by: Lumumba Wandera Victor</vt:lpstr>
      <vt:lpstr>Introduction to Data Analytic</vt:lpstr>
      <vt:lpstr>What is Data Analytics?</vt:lpstr>
      <vt:lpstr>The Data-Driven Organization</vt:lpstr>
      <vt:lpstr>Benefits of a Data Driven Organizations</vt:lpstr>
      <vt:lpstr>Strategic Roles of Analytics in Organizations</vt:lpstr>
      <vt:lpstr>Industry Applications of Data Analytics</vt:lpstr>
      <vt:lpstr>The Analytics Value Chain</vt:lpstr>
      <vt:lpstr>Common Analytics Challenges in Organizations</vt:lpstr>
      <vt:lpstr>Building an Analytics-Ready Culture</vt:lpstr>
      <vt:lpstr>Data Analytics Lifecycle</vt:lpstr>
      <vt:lpstr>Problem Definition &amp; Business Understanding</vt:lpstr>
      <vt:lpstr>Data Collection &amp; Acquisition</vt:lpstr>
      <vt:lpstr>Data Preparation &amp; Cleaning</vt:lpstr>
      <vt:lpstr>Exploratory Data Analysis (EDA)</vt:lpstr>
      <vt:lpstr>Modeling &amp; Statistical Analysis</vt:lpstr>
      <vt:lpstr>Types of Analytics</vt:lpstr>
      <vt:lpstr>Descriptive Analytics – "What Happened?"</vt:lpstr>
      <vt:lpstr>Diagnostic Analytics – "Why Did It Happen?"</vt:lpstr>
      <vt:lpstr>Predictive Analytics – "What Is Likely to Happen?"</vt:lpstr>
      <vt:lpstr>Prescriptive Analytics – "What Should We Do?</vt:lpstr>
      <vt:lpstr>Comparing the Four Analytics Types</vt:lpstr>
      <vt:lpstr>Sequential Building of Each Stage</vt:lpstr>
      <vt:lpstr>Integrating Analytics Types in Practice</vt:lpstr>
      <vt:lpstr>Key Takeaways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Victor Wandera</dc:creator>
  <cp:lastModifiedBy>Victor Wandera</cp:lastModifiedBy>
  <cp:revision>2</cp:revision>
  <dcterms:created xsi:type="dcterms:W3CDTF">2026-02-22T20:31:10Z</dcterms:created>
  <dcterms:modified xsi:type="dcterms:W3CDTF">2026-02-23T05:00:14Z</dcterms:modified>
</cp:coreProperties>
</file>