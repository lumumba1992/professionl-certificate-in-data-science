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5"/>
  </p:notesMasterIdLst>
  <p:sldIdLst>
    <p:sldId id="256" r:id="rId2"/>
    <p:sldId id="263" r:id="rId3"/>
    <p:sldId id="291" r:id="rId4"/>
    <p:sldId id="292" r:id="rId5"/>
    <p:sldId id="293" r:id="rId6"/>
    <p:sldId id="294" r:id="rId7"/>
    <p:sldId id="295" r:id="rId8"/>
    <p:sldId id="296" r:id="rId9"/>
    <p:sldId id="299" r:id="rId10"/>
    <p:sldId id="297" r:id="rId11"/>
    <p:sldId id="298" r:id="rId12"/>
    <p:sldId id="300" r:id="rId13"/>
    <p:sldId id="301" r:id="rId14"/>
    <p:sldId id="302" r:id="rId15"/>
    <p:sldId id="303" r:id="rId16"/>
    <p:sldId id="304" r:id="rId17"/>
    <p:sldId id="306" r:id="rId18"/>
    <p:sldId id="305" r:id="rId19"/>
    <p:sldId id="307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6" r:id="rId37"/>
    <p:sldId id="325" r:id="rId38"/>
    <p:sldId id="327" r:id="rId39"/>
    <p:sldId id="328" r:id="rId40"/>
    <p:sldId id="329" r:id="rId41"/>
    <p:sldId id="330" r:id="rId42"/>
    <p:sldId id="331" r:id="rId43"/>
    <p:sldId id="332" r:id="rId44"/>
    <p:sldId id="333" r:id="rId45"/>
    <p:sldId id="334" r:id="rId46"/>
    <p:sldId id="335" r:id="rId47"/>
    <p:sldId id="336" r:id="rId48"/>
    <p:sldId id="337" r:id="rId49"/>
    <p:sldId id="338" r:id="rId50"/>
    <p:sldId id="339" r:id="rId51"/>
    <p:sldId id="340" r:id="rId52"/>
    <p:sldId id="341" r:id="rId53"/>
    <p:sldId id="342" r:id="rId54"/>
    <p:sldId id="343" r:id="rId55"/>
    <p:sldId id="344" r:id="rId56"/>
    <p:sldId id="345" r:id="rId57"/>
    <p:sldId id="346" r:id="rId58"/>
    <p:sldId id="347" r:id="rId59"/>
    <p:sldId id="348" r:id="rId60"/>
    <p:sldId id="349" r:id="rId61"/>
    <p:sldId id="350" r:id="rId62"/>
    <p:sldId id="351" r:id="rId63"/>
    <p:sldId id="259" r:id="rId6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67789-BA60-4E8A-A29E-029CA43BB9E3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89186-947C-449E-9F98-4F0498059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99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C72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22C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C72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22C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0462" y="272033"/>
            <a:ext cx="5873115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17250" y="6577076"/>
            <a:ext cx="157479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cdam.chuka.ac.ke/" TargetMode="External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8240" y="40386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0600" y="405829"/>
            <a:ext cx="10591799" cy="1196866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 indent="390525" algn="ctr">
              <a:lnSpc>
                <a:spcPts val="2860"/>
              </a:lnSpc>
              <a:spcBef>
                <a:spcPts val="620"/>
              </a:spcBef>
            </a:pPr>
            <a:br>
              <a:rPr lang="en-US" sz="2800" spc="-50" dirty="0"/>
            </a:br>
            <a:r>
              <a:rPr sz="2800" spc="-50" dirty="0"/>
              <a:t>INTRODUCTION</a:t>
            </a:r>
            <a:r>
              <a:rPr sz="2800" spc="-195" dirty="0"/>
              <a:t> </a:t>
            </a:r>
            <a:r>
              <a:rPr sz="2800" spc="-10" dirty="0"/>
              <a:t>TO</a:t>
            </a:r>
            <a:r>
              <a:rPr sz="2800" spc="-200" dirty="0"/>
              <a:t> </a:t>
            </a:r>
            <a:r>
              <a:rPr sz="2800" spc="-10" dirty="0"/>
              <a:t>STATISTICAL </a:t>
            </a:r>
            <a:r>
              <a:rPr sz="2800" spc="-175" dirty="0"/>
              <a:t>DATA</a:t>
            </a:r>
            <a:r>
              <a:rPr sz="2800" spc="-130" dirty="0"/>
              <a:t> </a:t>
            </a:r>
            <a:r>
              <a:rPr sz="2800" spc="-95" dirty="0"/>
              <a:t>ANALYSIS</a:t>
            </a:r>
            <a:r>
              <a:rPr lang="en-US" sz="2800" spc="-155" dirty="0"/>
              <a:t> </a:t>
            </a:r>
            <a:r>
              <a:rPr sz="2800" spc="-25" dirty="0"/>
              <a:t>USING</a:t>
            </a:r>
            <a:r>
              <a:rPr sz="2800" spc="-114" dirty="0"/>
              <a:t> </a:t>
            </a:r>
            <a:r>
              <a:rPr sz="2800" dirty="0"/>
              <a:t>R</a:t>
            </a:r>
            <a:r>
              <a:rPr sz="2800" spc="-95" dirty="0"/>
              <a:t> </a:t>
            </a:r>
            <a:r>
              <a:rPr sz="2800" dirty="0"/>
              <a:t>&amp;</a:t>
            </a:r>
            <a:r>
              <a:rPr sz="2800" spc="-95" dirty="0"/>
              <a:t> </a:t>
            </a:r>
            <a:r>
              <a:rPr sz="2800" spc="-25" dirty="0"/>
              <a:t>RSTUDIO</a:t>
            </a:r>
            <a:endParaRPr sz="2800" dirty="0"/>
          </a:p>
        </p:txBody>
      </p:sp>
      <p:sp>
        <p:nvSpPr>
          <p:cNvPr id="4" name="object 4"/>
          <p:cNvSpPr txBox="1"/>
          <p:nvPr/>
        </p:nvSpPr>
        <p:spPr>
          <a:xfrm>
            <a:off x="2438400" y="2066397"/>
            <a:ext cx="6705599" cy="2131353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60"/>
              </a:spcBef>
              <a:tabLst>
                <a:tab pos="523240" algn="l"/>
                <a:tab pos="1057910" algn="l"/>
              </a:tabLst>
            </a:pPr>
            <a:r>
              <a:rPr lang="en-US" sz="2500" b="1" i="1" spc="120" dirty="0">
                <a:latin typeface="Arial"/>
                <a:cs typeface="Arial"/>
              </a:rPr>
              <a:t>LUMUMBA WANDERA VICTOR </a:t>
            </a:r>
          </a:p>
          <a:p>
            <a:pPr marL="12700" algn="ctr">
              <a:lnSpc>
                <a:spcPct val="100000"/>
              </a:lnSpc>
              <a:spcBef>
                <a:spcPts val="1260"/>
              </a:spcBef>
              <a:tabLst>
                <a:tab pos="523240" algn="l"/>
                <a:tab pos="1057910" algn="l"/>
              </a:tabLst>
            </a:pPr>
            <a:r>
              <a:rPr lang="en-US" sz="2500" b="1" i="1" spc="120" dirty="0">
                <a:latin typeface="Arial"/>
                <a:cs typeface="Arial"/>
              </a:rPr>
              <a:t>(M.Sc. Applied Statistics)</a:t>
            </a:r>
            <a:endParaRPr sz="2500" dirty="0">
              <a:latin typeface="Arial"/>
              <a:cs typeface="Arial"/>
            </a:endParaRPr>
          </a:p>
          <a:p>
            <a:pPr marL="18415" algn="ctr">
              <a:lnSpc>
                <a:spcPct val="100000"/>
              </a:lnSpc>
              <a:spcBef>
                <a:spcPts val="1085"/>
              </a:spcBef>
              <a:tabLst>
                <a:tab pos="1932305" algn="l"/>
              </a:tabLst>
            </a:pPr>
            <a:r>
              <a:rPr lang="en-US" sz="2400" spc="155" dirty="0">
                <a:solidFill>
                  <a:srgbClr val="00AF50"/>
                </a:solidFill>
                <a:latin typeface="Arial Black"/>
                <a:cs typeface="Arial Black"/>
              </a:rPr>
              <a:t>17</a:t>
            </a:r>
            <a:r>
              <a:rPr lang="en-US" sz="2400" spc="155" baseline="30000" dirty="0">
                <a:solidFill>
                  <a:srgbClr val="00AF50"/>
                </a:solidFill>
                <a:latin typeface="Arial Black"/>
                <a:cs typeface="Arial Black"/>
              </a:rPr>
              <a:t>th</a:t>
            </a:r>
            <a:r>
              <a:rPr lang="en-US" sz="2400" spc="155" dirty="0">
                <a:solidFill>
                  <a:srgbClr val="00AF50"/>
                </a:solidFill>
                <a:latin typeface="Arial Black"/>
                <a:cs typeface="Arial Black"/>
              </a:rPr>
              <a:t> </a:t>
            </a:r>
            <a:r>
              <a:rPr sz="2400" spc="155" dirty="0">
                <a:solidFill>
                  <a:srgbClr val="00AF50"/>
                </a:solidFill>
                <a:latin typeface="Arial Black"/>
                <a:cs typeface="Arial Black"/>
              </a:rPr>
              <a:t>February</a:t>
            </a:r>
            <a:r>
              <a:rPr sz="2400" spc="-35" dirty="0">
                <a:solidFill>
                  <a:srgbClr val="00AF50"/>
                </a:solidFill>
                <a:latin typeface="Arial Black"/>
                <a:cs typeface="Arial Black"/>
              </a:rPr>
              <a:t>,</a:t>
            </a:r>
            <a:r>
              <a:rPr sz="2400" dirty="0">
                <a:solidFill>
                  <a:srgbClr val="00AF50"/>
                </a:solidFill>
                <a:latin typeface="Arial Black"/>
                <a:cs typeface="Arial Black"/>
              </a:rPr>
              <a:t>	</a:t>
            </a:r>
            <a:r>
              <a:rPr sz="2400" spc="120" dirty="0">
                <a:solidFill>
                  <a:srgbClr val="00AF50"/>
                </a:solidFill>
                <a:latin typeface="Arial Black"/>
                <a:cs typeface="Arial Black"/>
              </a:rPr>
              <a:t>2025</a:t>
            </a:r>
            <a:endParaRPr sz="2400" dirty="0">
              <a:latin typeface="Arial Black"/>
              <a:cs typeface="Arial Black"/>
            </a:endParaRPr>
          </a:p>
          <a:p>
            <a:pPr marL="1841500">
              <a:lnSpc>
                <a:spcPct val="100000"/>
              </a:lnSpc>
              <a:spcBef>
                <a:spcPts val="1200"/>
              </a:spcBef>
            </a:pPr>
            <a:r>
              <a:rPr sz="2400" b="1" spc="-5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1967" y="4102756"/>
            <a:ext cx="6989064" cy="1908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Introduction to ggplot2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E53CBA-414E-4086-A521-5F09F20D47C2}"/>
              </a:ext>
            </a:extLst>
          </p:cNvPr>
          <p:cNvSpPr txBox="1"/>
          <p:nvPr/>
        </p:nvSpPr>
        <p:spPr>
          <a:xfrm>
            <a:off x="495300" y="921677"/>
            <a:ext cx="11201400" cy="5386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to ggplot2 for Data Visualization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ggplot2?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ggplot2 is a powerful and flexible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package in R, part of the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tidyverse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ecosystem. It is based on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grammar of graphics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allowing users to build complex plots layer by layer.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Use ggplot2?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Highly customizable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Modify every aspect of a plot.</a:t>
            </a:r>
            <a:b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Layered approach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Add elements like points, lines, and labels step by step.</a:t>
            </a:r>
            <a:b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Handles large datasets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Works well with both small and big data.</a:t>
            </a:r>
            <a:b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Consistent syntax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Uses a structured and intuitive grammar.</a:t>
            </a:r>
            <a:b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Works with tidy data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Best suited for data in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tidyverse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format.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217973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Grammar of Graphics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2C5D933-940F-4925-BDB2-9A34BBE97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26" y="1354282"/>
            <a:ext cx="11658600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Grammar of Graphics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ggplot2 follows a structured approach to visualization, where each plot is built using:</a:t>
            </a: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(data) – The dataset used for plotting.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Aesthetics (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()) – Maps variables to visual properties (e.g., x-axis, y-axis, color).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Geometries (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geom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_*) – Defines the type of plot (e.g., points, lines, bars).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Facets (facet_*) – Splits data into subplots.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Statistics (stat_*) – Computes summary statistics for visual representation.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Coordinates (</a:t>
            </a:r>
            <a:r>
              <a:rPr kumimoji="0" lang="en-US" altLang="en-US" sz="2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coord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_*) – Adjusts plot scales (e.g., log scales, polar coordinates).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Themes (theme_*) – Customizes appearance, including colors, text, and legends</a:t>
            </a: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794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Basic ggplot2 Plots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A82F83D-6AAA-407C-BF30-3EA13B115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972" y="1068097"/>
            <a:ext cx="1079405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Plot Types in ggplot2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Scatter Plot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geom_point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 Plot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geom_line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 Chart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geom_bar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Histogram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geom_histogram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Box Plot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geom_boxplot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08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Scatter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D04D003-DE3B-4728-AF12-3467D52EE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54" y="999293"/>
            <a:ext cx="11370945" cy="4029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in ggplot2 – Detailed Notes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What is a Scatter Plot?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scatter plot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used to visualize the relationship between two continuous variables by plotting points on an x-y coordinate system.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point represents an observation in the dataset.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When to Use a Scatter Plot?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To examine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correlation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between two numeric variables.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To identify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trends, clusters, or outliers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data.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To detect potential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non-linear relationships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To compare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subgroups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colors or shapes.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73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Scatter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18D03FC-AFCA-41BE-A16B-D82323C2D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465263"/>
            <a:ext cx="1090803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Key ggplot2 Functions for Scatter Plots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geom_point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The main function for scatter plots.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Defines aesthetics like x, y, color, size, and shape.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labs()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Adds axis labels and titles.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theme()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Modifies overall plot appearance.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facet_wrap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Creates multiple scatter plots based on categories.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Enhancements for Scatter Plots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 &amp; Shape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Differentiate groups using color or shape.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Adjust point size using size in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Transparency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 alpha to control point transparency (useful for large datasets).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Trend Line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Add a regression line using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geom_smooth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(method = "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79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Scatter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C20CC8-BD63-4946-9B21-2B19259B6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33" y="943676"/>
            <a:ext cx="11895690" cy="499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453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Enhanced Scatter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1C2E77-7E39-4AEF-AAE4-F4345787D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19" y="864877"/>
            <a:ext cx="10892645" cy="559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265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Enhanced Scatter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35DE75-48C4-4DD5-AAAB-89E0F7563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1989"/>
            <a:ext cx="9067800" cy="530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864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Facet Scatter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86CF0B9-5D44-41B9-A21A-7FC4E935A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826" y="1219200"/>
            <a:ext cx="109728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Facet Scatter Plot in ggplot2 – Detailed Notes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What is a Facet Scatter Plot?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facet scatter plot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used to create multiple scatter plots based on different categorical variables. It allows you to split the dataset into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subplots (facets)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compare relationships across different groups.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When to Use a Facet Scatter Plot?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When you need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trends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multiple categories.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When overlaying different groups in a single plot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causes clutter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When you want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highlight differences between subgroups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clearly.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Faceting Functions in ggplot2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facet_wrap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(~ variable)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Creates small multiples based on a single categorical variable.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facet_grid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(rows ~ cols)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Creates a grid layout based on multiple categorical variables.</a:t>
            </a:r>
          </a:p>
        </p:txBody>
      </p:sp>
    </p:spTree>
    <p:extLst>
      <p:ext uri="{BB962C8B-B14F-4D97-AF65-F5344CB8AC3E}">
        <p14:creationId xmlns:p14="http://schemas.microsoft.com/office/powerpoint/2010/main" val="2168977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Enhanced Scatter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1EC773-C94C-4B91-921F-4990AC84F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4" y="870735"/>
            <a:ext cx="11938286" cy="426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86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Facet Scatter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AD670C-1548-4780-B4E8-85F21E922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95" y="896271"/>
            <a:ext cx="10767784" cy="582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685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Line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9BDB342-DA00-4542-A137-D51DE463E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23807"/>
            <a:ext cx="11963400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 Plots in ggplot2 – Detailed Notes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What is a Line Plot?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 plot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type of visualization used to show trends, patterns, or changes over time. It connects data points with a continuous line, making it ideal for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series analysis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progression trends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When to Use a Line Plot?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When visualizing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trends over time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 stock prices, temperature changes).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When tracking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data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progression (e.g., population growth, sales data).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When comparing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categories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over time.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When showing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cyclic patterns or seasonality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526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Line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9D419B4-7701-48A4-801C-A05C12589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019008"/>
            <a:ext cx="10831830" cy="271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Key ggplot2 Functions for Line Plots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geom_line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Creates the line connecting data points.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(x, y)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Defines the x-axis (e.g., time) and y-axis (e.g., values).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 in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Differentiates categories with different colors.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geom_point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Adds individual points to highlight data points.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labs()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Adds axis labels, title, and legend.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theme()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Customizes the appearance of the plot.</a:t>
            </a:r>
          </a:p>
        </p:txBody>
      </p:sp>
    </p:spTree>
    <p:extLst>
      <p:ext uri="{BB962C8B-B14F-4D97-AF65-F5344CB8AC3E}">
        <p14:creationId xmlns:p14="http://schemas.microsoft.com/office/powerpoint/2010/main" val="1208097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Line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E3B94E-023E-4C2D-BEB5-7F42ED524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64" y="1243922"/>
            <a:ext cx="11830871" cy="424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49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Line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0F9778-4D67-496F-A24F-4A6D6BFEB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982839"/>
            <a:ext cx="10253676" cy="587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992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10465283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Line Plot with Multiple Category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0C131E-6F42-4B12-97C2-194271B71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26" y="1447800"/>
            <a:ext cx="11870174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353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Multiple Line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3C1CDD-3AB7-46DF-B8D5-EF5631288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581"/>
            <a:ext cx="12192000" cy="596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323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6" y="272033"/>
            <a:ext cx="10087736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Take away on Line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ED4AE8D-5DE7-4C92-BEEA-CAEFE4C69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4538"/>
            <a:ext cx="114300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The economics dataset provides real-world US economic trends from 1967 to 2015.</a:t>
            </a:r>
            <a:b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Use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economics_long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multi-category comparisons.</a:t>
            </a:r>
            <a:b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Faceting (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facet_wrap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is useful for side-by-side comparisons.</a:t>
            </a:r>
            <a:b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Multi-line plots (color = variable) work well for comparing different indicators.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🚀 Using real economic data makes visualizations more insightful and applicable to real-world analysis!</a:t>
            </a:r>
          </a:p>
        </p:txBody>
      </p:sp>
    </p:spTree>
    <p:extLst>
      <p:ext uri="{BB962C8B-B14F-4D97-AF65-F5344CB8AC3E}">
        <p14:creationId xmlns:p14="http://schemas.microsoft.com/office/powerpoint/2010/main" val="606546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Bar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92FA224-8352-46A4-802F-0919009DF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443840"/>
            <a:ext cx="116586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 chart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used to visualize categorical data by showing the frequency or count of categories or numerical summaries (e.g., means, sums). In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ggplot2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bar charts are created using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geom_bar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or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geom_col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Types of Bar Charts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1️⃣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Basic Bar Chart (Counts/Frequency)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2️⃣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 Chart with Precomputed Values (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geom_col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3️⃣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Grouped Bar Chart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4️⃣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Stacked Bar Chart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5️⃣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Faceted Bar Chart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420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Basic Bar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17E882-0E00-4960-A49E-EFF941A4F230}"/>
              </a:ext>
            </a:extLst>
          </p:cNvPr>
          <p:cNvSpPr txBox="1"/>
          <p:nvPr/>
        </p:nvSpPr>
        <p:spPr>
          <a:xfrm>
            <a:off x="130996" y="1032447"/>
            <a:ext cx="11887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Basic Bar Chart (Counts/Frequency)</a:t>
            </a:r>
          </a:p>
          <a:p>
            <a:r>
              <a:rPr lang="en-US" dirty="0"/>
              <a:t>This automatically </a:t>
            </a:r>
            <a:r>
              <a:rPr lang="en-US" b="1" dirty="0"/>
              <a:t>counts</a:t>
            </a:r>
            <a:r>
              <a:rPr lang="en-US" dirty="0"/>
              <a:t> the number of occurrences in each category.</a:t>
            </a:r>
          </a:p>
          <a:p>
            <a:r>
              <a:rPr lang="en-US" b="1" dirty="0"/>
              <a:t>Example: Count of Cut Types in Diamonds Dataset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74E1F0-C26F-4BCA-AF39-C84F5FB87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991256"/>
            <a:ext cx="6401693" cy="39523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5653170-40E2-48F8-945D-2BACFB771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093" y="1942269"/>
            <a:ext cx="5593498" cy="400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936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Bar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C707E80-4239-45B7-82FC-AC9C3F2CC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411" y="1508835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Bar Chart with Precomputed Values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geom_col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you have precomputed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summary statistics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</a:t>
            </a:r>
            <a:r>
              <a:rPr lang="en-US" sz="2000" dirty="0"/>
              <a:t> Mean Highway Mileage per Car Class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use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geom_col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6B2B87-9BDA-4D83-A2B8-6E24FC3B7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8276"/>
            <a:ext cx="12192000" cy="457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765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Bar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C707E80-4239-45B7-82FC-AC9C3F2CC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9828" y="960915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Bar Chart with Precomputed Values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geom_col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you have precomputed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summary statistics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(e.g.,</a:t>
            </a:r>
            <a:r>
              <a:rPr lang="en-US" sz="2000" dirty="0"/>
              <a:t> Mean Highway Mileage per Car Class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use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geom_col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D2B42B-0F0A-4A70-AB73-13B1FEA91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997" y="1730356"/>
            <a:ext cx="8306352" cy="512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83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Grouped Bar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DDB1CF-01AC-4084-A1A4-BF67A30F326C}"/>
              </a:ext>
            </a:extLst>
          </p:cNvPr>
          <p:cNvSpPr txBox="1"/>
          <p:nvPr/>
        </p:nvSpPr>
        <p:spPr>
          <a:xfrm>
            <a:off x="381000" y="842481"/>
            <a:ext cx="11277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Grouped Bar Chart</a:t>
            </a:r>
          </a:p>
          <a:p>
            <a:r>
              <a:rPr lang="en-US" dirty="0"/>
              <a:t>A </a:t>
            </a:r>
            <a:r>
              <a:rPr lang="en-US" b="1" dirty="0"/>
              <a:t>grouped bar chart</a:t>
            </a:r>
            <a:r>
              <a:rPr lang="en-US" dirty="0"/>
              <a:t> compares categories across multiple groups.</a:t>
            </a:r>
          </a:p>
          <a:p>
            <a:r>
              <a:rPr lang="en-US" b="1" dirty="0"/>
              <a:t>Example: Diamond Cut vs. Color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D84217-F8BA-47E3-848B-ECB012AB9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827848"/>
            <a:ext cx="11285676" cy="304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28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Grouped Bar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DDB1CF-01AC-4084-A1A4-BF67A30F326C}"/>
              </a:ext>
            </a:extLst>
          </p:cNvPr>
          <p:cNvSpPr txBox="1"/>
          <p:nvPr/>
        </p:nvSpPr>
        <p:spPr>
          <a:xfrm>
            <a:off x="381000" y="842481"/>
            <a:ext cx="11277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Grouped Bar Chart</a:t>
            </a:r>
          </a:p>
          <a:p>
            <a:r>
              <a:rPr lang="en-US" dirty="0"/>
              <a:t>A </a:t>
            </a:r>
            <a:r>
              <a:rPr lang="en-US" b="1" dirty="0"/>
              <a:t>grouped bar chart</a:t>
            </a:r>
            <a:r>
              <a:rPr lang="en-US" dirty="0"/>
              <a:t> compares categories across multiple groups.</a:t>
            </a:r>
          </a:p>
          <a:p>
            <a:r>
              <a:rPr lang="en-US" b="1" dirty="0"/>
              <a:t>Example: Diamond Cut vs. Color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A7FEB1-F5BF-4116-ACBA-DB8061F79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24" y="1771630"/>
            <a:ext cx="9720276" cy="508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832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Stacked Bar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C149C6-0CBA-46CD-A8A5-1FE0A8A9F880}"/>
              </a:ext>
            </a:extLst>
          </p:cNvPr>
          <p:cNvSpPr txBox="1"/>
          <p:nvPr/>
        </p:nvSpPr>
        <p:spPr>
          <a:xfrm>
            <a:off x="516254" y="914400"/>
            <a:ext cx="108375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Stacked Bar Chart</a:t>
            </a:r>
          </a:p>
          <a:p>
            <a:r>
              <a:rPr lang="en-US" dirty="0"/>
              <a:t>A </a:t>
            </a:r>
            <a:r>
              <a:rPr lang="en-US" b="1" dirty="0"/>
              <a:t>stacked bar chart</a:t>
            </a:r>
            <a:r>
              <a:rPr lang="en-US" dirty="0"/>
              <a:t> stacks groups on top of each other.</a:t>
            </a:r>
          </a:p>
          <a:p>
            <a:r>
              <a:rPr lang="en-US" b="1" dirty="0"/>
              <a:t>Example: Stacked Bar Chart for Diamond Cut and Color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9346E1-83E3-43BE-8CB1-012CC731C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9594"/>
            <a:ext cx="12192000" cy="281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9416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Stacked Bar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C149C6-0CBA-46CD-A8A5-1FE0A8A9F880}"/>
              </a:ext>
            </a:extLst>
          </p:cNvPr>
          <p:cNvSpPr txBox="1"/>
          <p:nvPr/>
        </p:nvSpPr>
        <p:spPr>
          <a:xfrm>
            <a:off x="516254" y="914400"/>
            <a:ext cx="108375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Stacked Bar Chart</a:t>
            </a:r>
          </a:p>
          <a:p>
            <a:r>
              <a:rPr lang="en-US" dirty="0"/>
              <a:t>A </a:t>
            </a:r>
            <a:r>
              <a:rPr lang="en-US" b="1" dirty="0"/>
              <a:t>stacked bar chart</a:t>
            </a:r>
            <a:r>
              <a:rPr lang="en-US" dirty="0"/>
              <a:t> stacks groups on top of each other.</a:t>
            </a:r>
          </a:p>
          <a:p>
            <a:r>
              <a:rPr lang="en-US" b="1" dirty="0"/>
              <a:t>Example: Stacked Bar Chart for Diamond Cut and Color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839737-9640-456F-818E-575E234A7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462" y="1837730"/>
            <a:ext cx="8915400" cy="50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7156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Facet Bar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4F80F22-93E8-48D1-BA08-A0C64211D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54" y="1133817"/>
            <a:ext cx="11066146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Faceted Bar Chart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separating categories into different plots, use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facet_wrap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Faceted Bar Chart by Diamond Clarity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F3D76E-B5D5-4264-8744-6E58A09C5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64" y="2126150"/>
            <a:ext cx="11568323" cy="389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381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Facet Bar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1EA913-84F2-434C-9045-570D40B7C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4" y="1050802"/>
            <a:ext cx="10514949" cy="5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043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Take </a:t>
            </a:r>
            <a:r>
              <a:rPr lang="en-US" spc="-70" dirty="0" err="1"/>
              <a:t>Aways</a:t>
            </a:r>
            <a:r>
              <a:rPr lang="en-US" spc="-70" dirty="0"/>
              <a:t> for Bar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ABD8B22-7F3F-4265-816E-1B2119E82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54" y="571966"/>
            <a:ext cx="10989945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Use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geom_bar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for automatic counts.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Use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geom_col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when you already have precomputed values.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Grouped bars (position = "dodge") are best for side-by-side comparisons.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Stacked bars (position = "stack") show proportions.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Faceting (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facet_wrap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 allows for better category separation.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🚀 Bar charts are powerful for categorical data comparisons!</a:t>
            </a:r>
          </a:p>
        </p:txBody>
      </p:sp>
    </p:spTree>
    <p:extLst>
      <p:ext uri="{BB962C8B-B14F-4D97-AF65-F5344CB8AC3E}">
        <p14:creationId xmlns:p14="http://schemas.microsoft.com/office/powerpoint/2010/main" val="25854079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Histogram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C5F9F6-9092-4E41-A66A-8A30C2053815}"/>
              </a:ext>
            </a:extLst>
          </p:cNvPr>
          <p:cNvSpPr txBox="1"/>
          <p:nvPr/>
        </p:nvSpPr>
        <p:spPr>
          <a:xfrm>
            <a:off x="762000" y="1371600"/>
            <a:ext cx="10515600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visualize the distribution of a continuous variable by dividing it into bins and counting the number of observations in each bin.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a bar chart (which shows counts of categorical data), histograms display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distributions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numerical data.</a:t>
            </a:r>
          </a:p>
        </p:txBody>
      </p:sp>
    </p:spTree>
    <p:extLst>
      <p:ext uri="{BB962C8B-B14F-4D97-AF65-F5344CB8AC3E}">
        <p14:creationId xmlns:p14="http://schemas.microsoft.com/office/powerpoint/2010/main" val="28917270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Basic Histogram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009DE5-44EB-4505-A201-9A53DF534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0518"/>
            <a:ext cx="12192000" cy="305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4720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Basic Histogram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8382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1C11A1-2FBF-43BE-ACB3-AC4E82C25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94262"/>
            <a:ext cx="9487044" cy="586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0554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Adjusting </a:t>
            </a:r>
            <a:r>
              <a:rPr lang="en-US" spc="-70" dirty="0" err="1"/>
              <a:t>Binwidth</a:t>
            </a:r>
            <a:r>
              <a:rPr lang="en-US" spc="-70" dirty="0"/>
              <a:t> with Histogram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457200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188993-E46B-430D-87F1-F3E643BE5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239833"/>
            <a:ext cx="5715000" cy="43227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58B1F4-65A2-42DF-A867-412894B6C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9833"/>
            <a:ext cx="6477000" cy="432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850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Histogram with Density Curve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457200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7A8FAC-3615-47E2-B96F-CA37FF9BED79}"/>
              </a:ext>
            </a:extLst>
          </p:cNvPr>
          <p:cNvSpPr txBox="1"/>
          <p:nvPr/>
        </p:nvSpPr>
        <p:spPr>
          <a:xfrm>
            <a:off x="381000" y="1143000"/>
            <a:ext cx="4648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Density Curve Overlay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show distribution shape, a density curve can be added.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Histogram + Density Curve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0D67E0-439A-489D-8E84-625772982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214" y="1142998"/>
            <a:ext cx="6060362" cy="335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1700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Histogram with Density Curve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457200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D45241-EC96-4D45-8F06-3BEEC5EC2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868" y="1307786"/>
            <a:ext cx="8983038" cy="555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733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Facet Histogram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457200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A037CA0-B8CD-4639-8C23-52A113628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55693"/>
            <a:ext cx="4419600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Faceted Histogram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comparison between groups, use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facet_wrap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Highway Mileage by Drive Type (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drv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3BEF4A-831F-4FE9-A11A-AE9175326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024" y="1163548"/>
            <a:ext cx="7464376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8739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Facet Histogram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457200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0008CF-23A1-4708-A4CF-9DD9FD7D4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350"/>
            <a:ext cx="12192000" cy="626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7812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Stacked Histogram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457200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8EC278-9B7E-46AA-8497-E53511E50948}"/>
              </a:ext>
            </a:extLst>
          </p:cNvPr>
          <p:cNvSpPr txBox="1"/>
          <p:nvPr/>
        </p:nvSpPr>
        <p:spPr>
          <a:xfrm>
            <a:off x="0" y="1452718"/>
            <a:ext cx="428089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Stacked Histogram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stacked histogram groups data into different categories.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Stacked Histogram by Drive Type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E1B9E6-8C87-4E27-9FCD-72EDDCA1D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899" y="1466099"/>
            <a:ext cx="7911101" cy="340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123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Stacked Histogram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457200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9CC264-06B9-4305-9566-A55EC671F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404" y="1485623"/>
            <a:ext cx="8679965" cy="536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5113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Stacked Histogram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457200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0382910-C1A2-40BD-AFA9-579795AE1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784866"/>
            <a:ext cx="93726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Histograms visualize the distribution of continuous data.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Binwidth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controls level of detail (small = detailed, large = smooth).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Density curves help show distribution shape.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Faceting (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facet_wrap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()) allows group-wise comparisons.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✔ Stacked histograms reveal category proportions in a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🚀 Histograms are essential for understanding data distribution!</a:t>
            </a:r>
          </a:p>
        </p:txBody>
      </p:sp>
    </p:spTree>
    <p:extLst>
      <p:ext uri="{BB962C8B-B14F-4D97-AF65-F5344CB8AC3E}">
        <p14:creationId xmlns:p14="http://schemas.microsoft.com/office/powerpoint/2010/main" val="21074256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Box Plots /Whisker’s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457200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9800A-D8FF-4E65-9876-05581C6E5A89}"/>
              </a:ext>
            </a:extLst>
          </p:cNvPr>
          <p:cNvSpPr txBox="1"/>
          <p:nvPr/>
        </p:nvSpPr>
        <p:spPr>
          <a:xfrm>
            <a:off x="464048" y="1371599"/>
            <a:ext cx="1062037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plot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(also called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box-and-whisker plot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used to visualize the distribution of a continuous variable and detect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summarizes five key statistics: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(smallest value, excluding outliers)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Quartile (Q1)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(25th percentile)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(Q2)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(50th percentile)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Quartile (Q3)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(75th percentile)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(largest value, excluding outliers)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are represented as individual points beyond the whiskers.</a:t>
            </a:r>
          </a:p>
        </p:txBody>
      </p:sp>
    </p:spTree>
    <p:extLst>
      <p:ext uri="{BB962C8B-B14F-4D97-AF65-F5344CB8AC3E}">
        <p14:creationId xmlns:p14="http://schemas.microsoft.com/office/powerpoint/2010/main" val="30936829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Basic Box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457200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7DED9D-51B5-4D8F-96B4-00932BBC1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295399"/>
            <a:ext cx="6090006" cy="38099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F7A392-BFE7-4ABD-AE58-9B5E231EA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007" y="1295400"/>
            <a:ext cx="6101993" cy="380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4205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Box Plot for Various Categories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457200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035EDD-1E78-4905-AF20-268F489F5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829" y="1281006"/>
            <a:ext cx="5663629" cy="34433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C5000B-3146-4EE9-913C-6BA728371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485" y="1281005"/>
            <a:ext cx="6416910" cy="396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5273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Box Plot with Outliers Highlighted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457200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B4A0E3-614A-420A-A6B9-1FEDE904C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43" y="1386873"/>
            <a:ext cx="12192000" cy="263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2607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Box Plot with Jittered Points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457200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5CA90E-076D-46BF-B290-CD29B2C72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91" y="1752600"/>
            <a:ext cx="11765017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0095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Box Plot with Jittered Points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457200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6B4D1E-EC78-4FD5-8923-009853721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51" y="1143000"/>
            <a:ext cx="9260411" cy="571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6120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Horizontal Box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457200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D6C41F-D640-4490-8E35-50D021DB6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599"/>
            <a:ext cx="11868108" cy="373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2110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Horizontal Box Plot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457200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A17FB6-8EE6-44A4-9FF7-91EEE59D5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793"/>
            <a:ext cx="121920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5158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ADVANCED PLOTS IN R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457200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CD3EEB-9812-44C9-A110-AB2D16DED335}"/>
              </a:ext>
            </a:extLst>
          </p:cNvPr>
          <p:cNvSpPr txBox="1"/>
          <p:nvPr/>
        </p:nvSpPr>
        <p:spPr>
          <a:xfrm>
            <a:off x="352746" y="1496922"/>
            <a:ext cx="39144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Ridgeline Plot (Density Plot for Multiple Categories)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ridgeline plot displays density distributions of a continuous variable across multiple categories.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Highway Mileage Distribution by Drive Type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5A952C-93EF-4DD6-91D9-8976D19E0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1496921"/>
            <a:ext cx="7924800" cy="421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0728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ADVANCED PLOTS IN R</a:t>
            </a:r>
            <a:endParaRPr spc="-1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7BAA17-0BDE-4909-8B8C-8C6D05798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20" y="584916"/>
            <a:ext cx="12057580" cy="627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7010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ADVANCED PLOTS IN R</a:t>
            </a:r>
            <a:endParaRPr spc="-1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7F3E30F-691F-4DEE-B4C3-F7A57E48D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2122"/>
            <a:ext cx="2590800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Heatmap (Visualizing Correlation or Density)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heatmap is useful for displaying relationships between numerical variables, often as correlation matrices.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Correlation Heatmap for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mtcars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210962-9169-49D3-ACC2-2971EA33C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1" y="1090735"/>
            <a:ext cx="9372600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4642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ADVANCED PLOTS IN R</a:t>
            </a:r>
            <a:endParaRPr spc="-1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B73EE7-D8A3-4884-ACB0-0C01FF5A9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51" y="709741"/>
            <a:ext cx="9726967" cy="600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6867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ADVANCED PLOTS IN R</a:t>
            </a:r>
            <a:endParaRPr spc="-1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BD2A76C-D117-4206-BBA0-2D4A4C25C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13009"/>
            <a:ext cx="236220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Plot (Using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Adding interactivity to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ggplot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plots using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enhances exploration.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Interactive Scatter Plot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6412A4-A6AD-4D07-B74A-2BF3E1D2C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063" y="1295400"/>
            <a:ext cx="9601200" cy="434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0014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ADVANCED PLOTS IN R</a:t>
            </a:r>
            <a:endParaRPr spc="-1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669E3B-63D0-44A3-BC8B-3B66E3830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35673"/>
            <a:ext cx="10088090" cy="631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1540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ADVANCED PLOTS IN R</a:t>
            </a:r>
            <a:endParaRPr spc="-1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A090D3D-5D06-42D6-93A7-A97778EFE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829286"/>
            <a:ext cx="327660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Bubble Chart in R using ggplot2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Bubble Chart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an extension of a scatter plot where a third numerical variable is represented by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 of the points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It is useful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multi-dimensional comparisons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will use the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gapminder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 to create a bubble chart showing the relationship between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GDP per capita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life expectancy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population size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6EDACE-04D8-4FD9-80A2-C4493B721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1" y="829285"/>
            <a:ext cx="8839200" cy="532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1571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222991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ADVANCED PLOTS IN R</a:t>
            </a:r>
            <a:endParaRPr spc="-1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620D97-3AE1-4556-83CB-62831123D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5" y="591351"/>
            <a:ext cx="9753600" cy="630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2899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82040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MERGING AND COMBINING PLOTS</a:t>
            </a:r>
            <a:endParaRPr spc="-1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8096248-65FD-4C5E-91FA-7D3678BDB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085639"/>
            <a:ext cx="10820400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R, multiple plots can be combined in a single visualization using various methods, such as: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gridExtra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Package → Uses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grid.arrange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to arrange multiple plots.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patchwork Package → Provides a simple syntax to combine plots.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cowplot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Package → Enhances ggplot2 for better plot arrangement.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ggpubr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Package → Easily aligns and arranges plots for publication-quality figures.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1393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82040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MERGING AND COMBINING PLOTS</a:t>
            </a:r>
            <a:endParaRPr spc="-1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A11A0E-03DA-44EC-ABA7-9DF9878AD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2" y="2969880"/>
            <a:ext cx="5331805" cy="3421876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FD413A67-168D-42E3-B686-07B980E05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8200"/>
            <a:ext cx="259080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1️⃣ Using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gridExtra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grid.arrange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Merges Multiple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ggplots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a Grid Layout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01087F-7AE7-4489-B46D-B6D59FF9F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915" y="520568"/>
            <a:ext cx="6809854" cy="542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5184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82040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MERGING AND COMBINING PLOTS</a:t>
            </a:r>
            <a:endParaRPr spc="-1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32FEFBD-40E4-48B8-8DB5-8FB30E09F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8581"/>
            <a:ext cx="480060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2️⃣ Using patchwork (Simple and Elegant)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Intuitive way to merge plots using + and | operators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A52E81-4923-45A4-A06F-C323FC833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" y="2629019"/>
            <a:ext cx="4800600" cy="20862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919E9B-86C5-4AC3-9DDC-62510D2CA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704802"/>
            <a:ext cx="7243899" cy="447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6025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82040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MERGING AND COMBINING PLOTS</a:t>
            </a:r>
            <a:endParaRPr spc="-1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DD420AF-B273-4930-9023-C7D5B72C8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26378"/>
            <a:ext cx="230398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3️⃣ Using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cowplot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(Aligns ggplot2 Plots Easily)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77FB74-A715-4A98-9E3C-D0527355F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980" y="1227311"/>
            <a:ext cx="9888020" cy="14003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0F23ED-EEFB-4B06-8719-131A8BD74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980" y="2635892"/>
            <a:ext cx="9829800" cy="405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7735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759" y="6391756"/>
            <a:ext cx="1486841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1000" y="272033"/>
            <a:ext cx="1082040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4</a:t>
            </a:r>
            <a:r>
              <a:rPr dirty="0"/>
              <a:t>:</a:t>
            </a:r>
            <a:r>
              <a:rPr spc="-70" dirty="0"/>
              <a:t> </a:t>
            </a:r>
            <a:r>
              <a:rPr lang="en-US" spc="-70" dirty="0"/>
              <a:t>Data Visualization with GGPLOT2: MERGING AND COMBINING PLOTS</a:t>
            </a:r>
            <a:endParaRPr spc="-1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2F87415-EB93-49E2-86E4-82E453583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50" y="1321728"/>
            <a:ext cx="469350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ggpubr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(For Publication-Ready Plots)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224473-A5FA-4182-8E65-35901283C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7853"/>
            <a:ext cx="4807158" cy="40331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C963282-C44A-4691-B684-FCE79EAA7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2" y="1321728"/>
            <a:ext cx="7391398" cy="542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653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5200" y="4525520"/>
            <a:ext cx="6324600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200" b="1" dirty="0">
                <a:solidFill>
                  <a:srgbClr val="FF0000"/>
                </a:solidFill>
                <a:latin typeface="Times New Roman"/>
                <a:cs typeface="Times New Roman"/>
              </a:rPr>
              <a:t>Thank</a:t>
            </a:r>
            <a:r>
              <a:rPr lang="en-US" sz="7200" b="1" dirty="0">
                <a:solidFill>
                  <a:srgbClr val="FF0000"/>
                </a:solidFill>
                <a:latin typeface="Times New Roman"/>
                <a:cs typeface="Times New Roman"/>
              </a:rPr>
              <a:t> You</a:t>
            </a:r>
            <a:endParaRPr sz="72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9967" y="304800"/>
            <a:ext cx="8433816" cy="34716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60952" y="3652215"/>
            <a:ext cx="47269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u="sng" spc="-25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Calibri"/>
                <a:cs typeface="Calibri"/>
                <a:hlinkClick r:id="rId3"/>
              </a:rPr>
              <a:t>https://cdam.chuka.ac.ke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2546" y="6498421"/>
            <a:ext cx="5844540" cy="25209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50" b="1" i="1" spc="50" dirty="0">
                <a:solidFill>
                  <a:srgbClr val="FFC000"/>
                </a:solidFill>
                <a:latin typeface="Arial"/>
                <a:cs typeface="Arial"/>
              </a:rPr>
              <a:t>CENTER</a:t>
            </a:r>
            <a:r>
              <a:rPr sz="1250" b="1" i="1" spc="4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dirty="0">
                <a:solidFill>
                  <a:srgbClr val="FFC000"/>
                </a:solidFill>
                <a:latin typeface="Arial"/>
                <a:cs typeface="Arial"/>
              </a:rPr>
              <a:t>FOR</a:t>
            </a:r>
            <a:r>
              <a:rPr sz="1250" b="1" i="1" spc="7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dirty="0">
                <a:solidFill>
                  <a:srgbClr val="FFC000"/>
                </a:solidFill>
                <a:latin typeface="Arial"/>
                <a:cs typeface="Arial"/>
              </a:rPr>
              <a:t>DATA</a:t>
            </a:r>
            <a:r>
              <a:rPr sz="1250" b="1" i="1" spc="5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45" dirty="0">
                <a:solidFill>
                  <a:srgbClr val="FFC000"/>
                </a:solidFill>
                <a:latin typeface="Arial"/>
                <a:cs typeface="Arial"/>
              </a:rPr>
              <a:t>ANALYTICS</a:t>
            </a:r>
            <a:r>
              <a:rPr sz="1250" b="1" i="1" spc="7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50" dirty="0">
                <a:solidFill>
                  <a:srgbClr val="FFC000"/>
                </a:solidFill>
                <a:latin typeface="Arial"/>
                <a:cs typeface="Arial"/>
              </a:rPr>
              <a:t>AND </a:t>
            </a:r>
            <a:r>
              <a:rPr sz="1250" b="1" i="1" spc="55" dirty="0">
                <a:solidFill>
                  <a:srgbClr val="FFC000"/>
                </a:solidFill>
                <a:latin typeface="Arial"/>
                <a:cs typeface="Arial"/>
              </a:rPr>
              <a:t>MODELING,</a:t>
            </a:r>
            <a:r>
              <a:rPr sz="1250" b="1" i="1" spc="8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70" dirty="0">
                <a:solidFill>
                  <a:srgbClr val="FFC000"/>
                </a:solidFill>
                <a:latin typeface="Arial"/>
                <a:cs typeface="Arial"/>
              </a:rPr>
              <a:t>CHUKA</a:t>
            </a:r>
            <a:r>
              <a:rPr sz="1250" b="1" i="1" spc="5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65" dirty="0">
                <a:solidFill>
                  <a:srgbClr val="FFC000"/>
                </a:solidFill>
                <a:latin typeface="Arial"/>
                <a:cs typeface="Arial"/>
              </a:rPr>
              <a:t>UNIVERSITY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6324" y="6584086"/>
            <a:ext cx="46545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63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B9F2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1105</TotalTime>
  <Words>3267</Words>
  <Application>Microsoft Office PowerPoint</Application>
  <PresentationFormat>Widescreen</PresentationFormat>
  <Paragraphs>387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Arial</vt:lpstr>
      <vt:lpstr>Arial Black</vt:lpstr>
      <vt:lpstr>Calibri</vt:lpstr>
      <vt:lpstr>Times New Roman</vt:lpstr>
      <vt:lpstr>Wingdings</vt:lpstr>
      <vt:lpstr>Office Theme</vt:lpstr>
      <vt:lpstr> INTRODUCTION TO STATISTICAL DATA ANALYSIS USING R &amp; RSTUDIO</vt:lpstr>
      <vt:lpstr>Session 4: Data Visualization with GGPLOT2: Introduction to ggplot2</vt:lpstr>
      <vt:lpstr>Session 4: Data Visualization with GGPLOT2: Grammar of Graphics</vt:lpstr>
      <vt:lpstr>Session 4: Data Visualization with GGPLOT2: Basic ggplot2 Plots</vt:lpstr>
      <vt:lpstr>Session 4: Data Visualization with GGPLOT2: Scatter Plot</vt:lpstr>
      <vt:lpstr>Session 4: Data Visualization with GGPLOT2: Scatter Plot</vt:lpstr>
      <vt:lpstr>Session 4: Data Visualization with GGPLOT2: Scatter Plot</vt:lpstr>
      <vt:lpstr>Session 4: Data Visualization with GGPLOT2: Enhanced Scatter Plot</vt:lpstr>
      <vt:lpstr>Session 4: Data Visualization with GGPLOT2: Enhanced Scatter Plot</vt:lpstr>
      <vt:lpstr>Session 4: Data Visualization with GGPLOT2: Facet Scatter Plot</vt:lpstr>
      <vt:lpstr>Session 4: Data Visualization with GGPLOT2: Enhanced Scatter Plot</vt:lpstr>
      <vt:lpstr>Session 4: Data Visualization with GGPLOT2: Facet Scatter Plot</vt:lpstr>
      <vt:lpstr>Session 4: Data Visualization with GGPLOT2: Line Plot</vt:lpstr>
      <vt:lpstr>Session 4: Data Visualization with GGPLOT2: Line Plot</vt:lpstr>
      <vt:lpstr>Session 4: Data Visualization with GGPLOT2: Line Plot</vt:lpstr>
      <vt:lpstr>Session 4: Data Visualization with GGPLOT2: Line Plot</vt:lpstr>
      <vt:lpstr>Session 4: Data Visualization with GGPLOT2: Line Plot with Multiple Category</vt:lpstr>
      <vt:lpstr>Session 4: Data Visualization with GGPLOT2: Multiple Line Plot</vt:lpstr>
      <vt:lpstr>Session 4: Data Visualization with GGPLOT2: Take away on Line Plot</vt:lpstr>
      <vt:lpstr>Session 4: Data Visualization with GGPLOT2: Bar Plot</vt:lpstr>
      <vt:lpstr>Session 4: Data Visualization with GGPLOT2: Basic Bar Plot</vt:lpstr>
      <vt:lpstr>Session 4: Data Visualization with GGPLOT2: Bar Plot</vt:lpstr>
      <vt:lpstr>Session 4: Data Visualization with GGPLOT2: Bar Plot</vt:lpstr>
      <vt:lpstr>Session 4: Data Visualization with GGPLOT2: Grouped Bar Plot</vt:lpstr>
      <vt:lpstr>Session 4: Data Visualization with GGPLOT2: Grouped Bar Plot</vt:lpstr>
      <vt:lpstr>Session 4: Data Visualization with GGPLOT2: Stacked Bar Plot</vt:lpstr>
      <vt:lpstr>Session 4: Data Visualization with GGPLOT2: Stacked Bar Plot</vt:lpstr>
      <vt:lpstr>Session 4: Data Visualization with GGPLOT2: Facet Bar Plot</vt:lpstr>
      <vt:lpstr>Session 4: Data Visualization with GGPLOT2: Facet Bar Plot</vt:lpstr>
      <vt:lpstr>Session 4: Data Visualization with GGPLOT2: Take Aways for Bar Plot</vt:lpstr>
      <vt:lpstr>Session 4: Data Visualization with GGPLOT2: Histogram</vt:lpstr>
      <vt:lpstr>Session 4: Data Visualization with GGPLOT2: Basic Histogram</vt:lpstr>
      <vt:lpstr>Session 4: Data Visualization with GGPLOT2: Basic Histogram</vt:lpstr>
      <vt:lpstr>Session 4: Data Visualization with GGPLOT2: Adjusting Binwidth with Histogram</vt:lpstr>
      <vt:lpstr>Session 4: Data Visualization with GGPLOT2: Histogram with Density Curve</vt:lpstr>
      <vt:lpstr>Session 4: Data Visualization with GGPLOT2: Histogram with Density Curve</vt:lpstr>
      <vt:lpstr>Session 4: Data Visualization with GGPLOT2: Facet Histogram</vt:lpstr>
      <vt:lpstr>Session 4: Data Visualization with GGPLOT2: Facet Histogram</vt:lpstr>
      <vt:lpstr>Session 4: Data Visualization with GGPLOT2: Stacked Histogram</vt:lpstr>
      <vt:lpstr>Session 4: Data Visualization with GGPLOT2: Stacked Histogram</vt:lpstr>
      <vt:lpstr>Session 4: Data Visualization with GGPLOT2: Stacked Histogram</vt:lpstr>
      <vt:lpstr>Session 4: Data Visualization with GGPLOT2: Box Plots /Whisker’s Plot</vt:lpstr>
      <vt:lpstr>Session 4: Data Visualization with GGPLOT2: Basic Box Plot</vt:lpstr>
      <vt:lpstr>Session 4: Data Visualization with GGPLOT2: Box Plot for Various Categories</vt:lpstr>
      <vt:lpstr>Session 4: Data Visualization with GGPLOT2: Box Plot with Outliers Highlighted</vt:lpstr>
      <vt:lpstr>Session 4: Data Visualization with GGPLOT2: Box Plot with Jittered Points</vt:lpstr>
      <vt:lpstr>Session 4: Data Visualization with GGPLOT2: Box Plot with Jittered Points</vt:lpstr>
      <vt:lpstr>Session 4: Data Visualization with GGPLOT2: Horizontal Box Plot</vt:lpstr>
      <vt:lpstr>Session 4: Data Visualization with GGPLOT2: Horizontal Box Plot</vt:lpstr>
      <vt:lpstr>Session 4: Data Visualization with GGPLOT2: ADVANCED PLOTS IN R</vt:lpstr>
      <vt:lpstr>Session 4: Data Visualization with GGPLOT2: ADVANCED PLOTS IN R</vt:lpstr>
      <vt:lpstr>Session 4: Data Visualization with GGPLOT2: ADVANCED PLOTS IN R</vt:lpstr>
      <vt:lpstr>Session 4: Data Visualization with GGPLOT2: ADVANCED PLOTS IN R</vt:lpstr>
      <vt:lpstr>Session 4: Data Visualization with GGPLOT2: ADVANCED PLOTS IN R</vt:lpstr>
      <vt:lpstr>Session 4: Data Visualization with GGPLOT2: ADVANCED PLOTS IN R</vt:lpstr>
      <vt:lpstr>Session 4: Data Visualization with GGPLOT2: ADVANCED PLOTS IN R</vt:lpstr>
      <vt:lpstr>Session 4: Data Visualization with GGPLOT2: ADVANCED PLOTS IN R</vt:lpstr>
      <vt:lpstr>Session 4: Data Visualization with GGPLOT2: MERGING AND COMBINING PLOTS</vt:lpstr>
      <vt:lpstr>Session 4: Data Visualization with GGPLOT2: MERGING AND COMBINING PLOTS</vt:lpstr>
      <vt:lpstr>Session 4: Data Visualization with GGPLOT2: MERGING AND COMBINING PLOTS</vt:lpstr>
      <vt:lpstr>Session 4: Data Visualization with GGPLOT2: MERGING AND COMBINING PLOTS</vt:lpstr>
      <vt:lpstr>Session 4: Data Visualization with GGPLOT2: MERGING AND COMBINING PLOTS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QUALTRICS AS A TOOL FOR  BASIC STATISTICAL ANALYSIS</dc:title>
  <dc:creator>Scientist</dc:creator>
  <cp:lastModifiedBy>Victor Lumumba Wandera</cp:lastModifiedBy>
  <cp:revision>30</cp:revision>
  <dcterms:created xsi:type="dcterms:W3CDTF">2025-02-11T06:34:41Z</dcterms:created>
  <dcterms:modified xsi:type="dcterms:W3CDTF">2026-03-05T13:11:00Z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2025-02-11T00:00:00Z</vt:filetime>
  </property>
  <property fmtid="{D5CDD505-2E9C-101B-9397-08002B2CF9AE}" pid="5" name="Producer">
    <vt:lpwstr>Microsoft® PowerPoint® 2016</vt:lpwstr>
  </property>
</Properties>
</file>