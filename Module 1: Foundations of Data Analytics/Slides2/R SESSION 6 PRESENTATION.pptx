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94" r:id="rId2"/>
    <p:sldId id="295" r:id="rId3"/>
    <p:sldId id="296" r:id="rId4"/>
    <p:sldId id="29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8" r:id="rId17"/>
    <p:sldId id="269" r:id="rId18"/>
    <p:sldId id="299" r:id="rId19"/>
    <p:sldId id="300" r:id="rId20"/>
    <p:sldId id="270" r:id="rId21"/>
    <p:sldId id="271" r:id="rId22"/>
    <p:sldId id="272" r:id="rId23"/>
    <p:sldId id="273" r:id="rId24"/>
    <p:sldId id="289" r:id="rId25"/>
    <p:sldId id="288" r:id="rId26"/>
    <p:sldId id="290" r:id="rId27"/>
    <p:sldId id="293" r:id="rId28"/>
    <p:sldId id="291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7" r:id="rId38"/>
    <p:sldId id="282" r:id="rId39"/>
    <p:sldId id="283" r:id="rId40"/>
    <p:sldId id="284" r:id="rId41"/>
    <p:sldId id="285" r:id="rId42"/>
    <p:sldId id="28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C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1F571-0299-4806-B2BA-F2035F0D256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55F76-6045-487B-BA4A-4B10AD59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2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6BA0-1A39-5FDA-7178-3B43091C9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8AD12-7460-A097-7515-EE966B9C3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3FE2-D4CE-FAE4-1212-5F2DBB7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E072-FFA7-0B1E-F985-CB06C504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C0B9-87D6-EEA8-5125-1DF8BAFF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C449-22B8-F0B1-1331-0709B76B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1F1B-46E7-F4DC-3E64-6F6C044E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A757-F6D4-BC88-E70C-3BC50E51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792AE-1B7A-1BF3-7B69-174DBCE8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1B3B2-9C0D-BFF8-DCA9-4ACC8766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E4B9-EBBC-6719-1BAB-62AC020E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1511-E42E-83B1-2E25-0AAD0CB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73F6-8F1C-CF16-2B27-D49147CE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6CA2-120E-A37D-FEFA-3B23E8E1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AB5F9-07EE-4C5B-6A2C-2AC15CB7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4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5637-CC55-B716-02C0-39743516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BB55-C971-E2C8-4774-ED330D07A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49454-8874-5D7D-E954-33F092552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3838-91C7-F7E4-6B79-F9441088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4E63-1C0E-2731-C2CC-2FE3F13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5D2E-05DC-0B55-3DA5-6D53BC7E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5118-E35D-7F29-2D74-5D784BBF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C3B9-88AC-7E5E-B0C0-A9BDC6B9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1F2D2-5030-EFB4-4C96-0D1C284F1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80E10-0B0B-8AB2-79B8-4C7708FF5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36B6F-8CC2-CAC2-E936-97FC03073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C1176-6C94-E91F-3379-724226A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20C13-DDB1-D2EA-2453-1AEE0578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203BE-8C1F-C2B5-5BA3-A9C5D5CD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906-B453-A3EF-8A04-65DCAE2C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91FE0-CE89-380A-A7CD-B1CCDBDA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CB894-5CDB-7B8A-26AC-5FCEAA22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64FDC-94C6-B12A-3C75-5E4851AE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3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70976-5EBE-34ED-C6A4-486BFE4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D4D7A-92A0-61AF-778C-F44E753B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8BD0-5B0C-DFBE-AA5E-6254B810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2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C4C-9D7E-E7A7-E87D-C5278426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CAB1-741D-4F90-0E74-CA1E15B85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70984-C603-9169-FA2F-3087B207B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C70CE-C6D9-232D-FA12-84F69863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EC259-CD08-83BB-BADF-D00C1969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D7B3-2A8A-B723-BCE4-A980274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8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25F7-6AA9-83E7-497D-36232019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466BB-4D67-7221-A388-2ACE16F00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C7BEB-67D3-B55D-9D3B-8657EC6CD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CCB62-C2FE-7C26-36B9-C301F57D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8DA9-8B16-57E7-7AC1-B9DCE1E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C2096-746E-7039-CCB1-F7A11F47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5FC9-E4AB-0F58-7B5A-42F64B73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45F39-C670-FC36-E093-270E69F2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7E87C-2900-52E4-1AD3-A1F05221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9E20-B19A-2E4D-6CF9-75ABE1D6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2B7D-465B-C949-D037-F3B7E464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336B5-E460-75D0-6929-A3840D4D3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8112-218B-6281-0BC3-D1F0B2DC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81DDF-9BC6-C9D2-FB49-393DE1D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6B4E-848F-667C-DE56-C13EDA62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BA79-12DF-6B90-F34F-ACDD5A1E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A04B1-12B0-4C7A-5B67-8286FE57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467BB-7DF7-E11A-9C2E-E47BF99F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B5EA8-DBFF-3279-131D-25A1BD04A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65F43-E8BD-4DDE-960E-2394F033622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2388-CEF7-C1F5-BB99-E22444DD8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E593-6042-522A-EBE8-C49A76A76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7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allstreetmojo.com/linear-relationship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BF8B-855C-7FBD-C3F3-5B3CC2B6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79911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4400" b="1" spc="-50" dirty="0">
                <a:latin typeface="Bell MT" panose="02020503060305020303" pitchFamily="18" charset="0"/>
              </a:rPr>
              <a:t>INTRODUCTION</a:t>
            </a:r>
            <a:r>
              <a:rPr lang="en-US" sz="4400" b="1" spc="-195" dirty="0">
                <a:latin typeface="Bell MT" panose="02020503060305020303" pitchFamily="18" charset="0"/>
              </a:rPr>
              <a:t> </a:t>
            </a:r>
            <a:r>
              <a:rPr lang="en-US" sz="4400" b="1" spc="-10" dirty="0">
                <a:latin typeface="Bell MT" panose="02020503060305020303" pitchFamily="18" charset="0"/>
              </a:rPr>
              <a:t>TO</a:t>
            </a:r>
            <a:r>
              <a:rPr lang="en-US" sz="4400" b="1" spc="-200" dirty="0">
                <a:latin typeface="Bell MT" panose="02020503060305020303" pitchFamily="18" charset="0"/>
              </a:rPr>
              <a:t> </a:t>
            </a:r>
            <a:r>
              <a:rPr lang="en-US" sz="4400" b="1" spc="-10" dirty="0">
                <a:latin typeface="Bell MT" panose="02020503060305020303" pitchFamily="18" charset="0"/>
              </a:rPr>
              <a:t>STATISTICAL </a:t>
            </a:r>
            <a:r>
              <a:rPr lang="en-US" sz="4400" b="1" spc="-175" dirty="0">
                <a:latin typeface="Bell MT" panose="02020503060305020303" pitchFamily="18" charset="0"/>
              </a:rPr>
              <a:t>DATA</a:t>
            </a:r>
            <a:r>
              <a:rPr lang="en-US" sz="4400" b="1" spc="-130" dirty="0">
                <a:latin typeface="Bell MT" panose="02020503060305020303" pitchFamily="18" charset="0"/>
              </a:rPr>
              <a:t> </a:t>
            </a:r>
            <a:r>
              <a:rPr lang="en-US" sz="4400" b="1" spc="-95" dirty="0">
                <a:latin typeface="Bell MT" panose="02020503060305020303" pitchFamily="18" charset="0"/>
              </a:rPr>
              <a:t>ANALYSIS</a:t>
            </a:r>
            <a:r>
              <a:rPr lang="en-US" sz="4400" b="1" spc="-155" dirty="0">
                <a:latin typeface="Bell MT" panose="02020503060305020303" pitchFamily="18" charset="0"/>
              </a:rPr>
              <a:t> </a:t>
            </a:r>
            <a:r>
              <a:rPr lang="en-US" sz="4400" b="1" spc="-25" dirty="0">
                <a:latin typeface="Bell MT" panose="02020503060305020303" pitchFamily="18" charset="0"/>
              </a:rPr>
              <a:t>USING</a:t>
            </a:r>
            <a:r>
              <a:rPr lang="en-US" sz="4400" b="1" spc="-114" dirty="0">
                <a:latin typeface="Bell MT" panose="02020503060305020303" pitchFamily="18" charset="0"/>
              </a:rPr>
              <a:t> </a:t>
            </a:r>
            <a:r>
              <a:rPr lang="en-US" sz="4400" b="1" dirty="0">
                <a:latin typeface="Bell MT" panose="02020503060305020303" pitchFamily="18" charset="0"/>
              </a:rPr>
              <a:t>R</a:t>
            </a:r>
            <a:r>
              <a:rPr lang="en-US" sz="4400" b="1" spc="-95" dirty="0">
                <a:latin typeface="Bell MT" panose="02020503060305020303" pitchFamily="18" charset="0"/>
              </a:rPr>
              <a:t> </a:t>
            </a:r>
            <a:r>
              <a:rPr lang="en-US" sz="4400" b="1" dirty="0">
                <a:latin typeface="Bell MT" panose="02020503060305020303" pitchFamily="18" charset="0"/>
              </a:rPr>
              <a:t>&amp;</a:t>
            </a:r>
            <a:r>
              <a:rPr lang="en-US" sz="4400" b="1" spc="-95" dirty="0">
                <a:latin typeface="Bell MT" panose="02020503060305020303" pitchFamily="18" charset="0"/>
              </a:rPr>
              <a:t> </a:t>
            </a:r>
            <a:r>
              <a:rPr lang="en-US" sz="4400" b="1" spc="-25" dirty="0">
                <a:latin typeface="Bell MT" panose="02020503060305020303" pitchFamily="18" charset="0"/>
              </a:rPr>
              <a:t>RSTUDIO</a:t>
            </a:r>
            <a:br>
              <a:rPr lang="en-US" sz="4400" spc="-25" dirty="0"/>
            </a:br>
            <a:r>
              <a:rPr lang="en-US" b="1" spc="-50" dirty="0">
                <a:latin typeface="Bell MT" panose="02020503060305020303" pitchFamily="18" charset="0"/>
              </a:rPr>
              <a:t>LUMUMBA WANDERA VICTOR </a:t>
            </a:r>
            <a:br>
              <a:rPr lang="en-US" b="1" spc="-50" dirty="0">
                <a:latin typeface="Bell MT" panose="02020503060305020303" pitchFamily="18" charset="0"/>
              </a:rPr>
            </a:br>
            <a:r>
              <a:rPr lang="en-US" b="1" spc="-50" dirty="0">
                <a:solidFill>
                  <a:srgbClr val="FF0000"/>
                </a:solidFill>
                <a:latin typeface="Bell MT" panose="02020503060305020303" pitchFamily="18" charset="0"/>
              </a:rPr>
              <a:t>(M.Sc. Applied Statistics)</a:t>
            </a:r>
            <a:br>
              <a:rPr lang="en-US" b="1" spc="-50" dirty="0">
                <a:solidFill>
                  <a:srgbClr val="FF0000"/>
                </a:solidFill>
                <a:latin typeface="Bell MT" panose="02020503060305020303" pitchFamily="18" charset="0"/>
              </a:rPr>
            </a:br>
            <a:r>
              <a:rPr lang="en-US" b="1" spc="-50" dirty="0">
                <a:solidFill>
                  <a:srgbClr val="FF0000"/>
                </a:solidFill>
                <a:latin typeface="Bell MT" panose="02020503060305020303" pitchFamily="18" charset="0"/>
              </a:rPr>
              <a:t>9th March,	2026</a:t>
            </a:r>
            <a:br>
              <a:rPr lang="en-US" sz="4000" dirty="0">
                <a:latin typeface="Arial Black"/>
                <a:cs typeface="Arial Black"/>
              </a:rPr>
            </a:br>
            <a:endParaRPr lang="en-US" dirty="0"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9385EF11-827E-45F3-0E34-40F11E0E21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99114"/>
            <a:ext cx="12192000" cy="305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5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6C4F-57DC-2ADC-38DC-605E74DF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C07-28E0-9881-ADE7-993365D77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943599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session introduces two of the most fundamental tools used in statistical analysis: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correlation and regression analysis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These techniques are used to explore and quantify relationships between variables in a dataset.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many real-world applications such as health sciences, economics, engineering, and social sciences, researchers are interested in understanding whether one variable influences another.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this session, we will learn how to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relationships between variables, quantify the strength of these relationships, and build predictive models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using the R programming language. We will also demonstrate these concepts using a real health dataset containing information related to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hypertension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0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9D8C-4117-54E5-D8C3-A1ED35EA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58466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COURSE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461D7-B6A6-1F06-1BB9-C297AED05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8467"/>
            <a:ext cx="12192000" cy="589953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session is part of the course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“Professional Certificate for Data Scientists using R and </a:t>
            </a:r>
            <a:r>
              <a:rPr lang="en-US" sz="2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previous sessions, students were introduced to data types, descriptive statistics, and graphical visualization. 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foundational concepts are essential because regression and correlation analysis require a good understanding of how variables behave and how they are distributed.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session, we move beyond describing data to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analyzing relationships between variables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analysis will be conducted using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and RStudio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provide powerful tools for statistical modeling and visualization. 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practical examples will utilize the dataset </a:t>
            </a:r>
            <a:r>
              <a:rPr lang="en-US" sz="28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htn_dat.csv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contains clinical information related to hypertension patients.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5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15C-B491-CEB5-9622-3F2EC06A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1999" cy="837281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SESSIONA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4BB0-7608-751A-A64A-3D2A1489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7282"/>
            <a:ext cx="12192000" cy="602071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session, students should be able to understand the theoretical foundations and practical applications of correlation and regression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students will learn how to measure the strength of relationships between variables and how to construct models that explain or predict outcomes based on predictor variables.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Understand the difference between correlation and regression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Learn the historical development of regression analysis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Perform correlation analysis using 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Fit simple and multiple linear regression models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Interpret regression output including coefficients and p-values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Diagnose model assumptions using residual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skills are essential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analysis, statistical research, and predictive modeling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0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087-7EAF-F4C1-D0D9-A42C1513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118"/>
            <a:ext cx="12191999" cy="795576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Statistics Before Machine Learning?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A577-B89B-9853-8B49-321FEEC8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8458"/>
            <a:ext cx="12191999" cy="613954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is applied statistics at scale. 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statistical foundations: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for decision-making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for prediction and inference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p-values and confidence intervals for uncertainty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relevance in Kenya: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for hypertension risk prediction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Survival analysis for HIV treatment outcomes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 ensures transparent and responsible AI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message: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without statistics becomes a black box.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A65-B586-5FD6-FEF3-2139F42C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5079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7A41-337A-7142-256C-B2267820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5078"/>
            <a:ext cx="12191999" cy="615292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this session, you will be able to:</a:t>
            </a:r>
            <a:endParaRPr lang="en-US" sz="40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Formulate and test statistical hypotheses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 regression coefficients correctly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OLS regression for continuous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logistic regression for binary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models using R², accuracy, and AUC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regression concepts to ML algorithms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62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2CB5-2F7C-E493-7148-7C2A8AB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3552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55D8-BAD0-D9DE-D27F-41C1B5766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552"/>
            <a:ext cx="12192000" cy="584444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 htn_dat.csv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Records: 4,900 patients from Kenyan health facilities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(continuous systolic blood pressure)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SBP_ge120 (binary hypertension indicator)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Predictor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 BMI, DBP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Gender, marital status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clinic indicator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 and ART status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factors significantly predict hypertension risk?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0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A2A0-FB7A-16C5-4072-1B7D6064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062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Hypothesis Testing?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4BCC-C39C-A526-D04D-F8CA7C40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80628"/>
            <a:ext cx="5028310" cy="607737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evaluates claims about population parameters.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effect or no relationship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effect or relationship exists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H₀: BMI is not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H₁: BMI is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tatistical Hypothesis Testing step by ...">
            <a:extLst>
              <a:ext uri="{FF2B5EF4-FFF2-40B4-BE49-F238E27FC236}">
                <a16:creationId xmlns:a16="http://schemas.microsoft.com/office/drawing/2014/main" id="{7BBCA563-700D-B01D-536B-A2CF4E5BB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310" y="1076115"/>
            <a:ext cx="7163690" cy="47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18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C4E8-A737-6484-D41E-3979EBF6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55504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Rule in 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C187B-3AA4-8423-E76B-4EA33FD1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5504"/>
            <a:ext cx="4054207" cy="620249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based on p-value: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&lt; 0.05 →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≥ 0.05 → Fail to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principle: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do not "accept" the null hypothesis.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only reject or fail to reject it.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Decision rules for test of hypothesis about an unknown mean using an estimated variance.">
            <a:extLst>
              <a:ext uri="{FF2B5EF4-FFF2-40B4-BE49-F238E27FC236}">
                <a16:creationId xmlns:a16="http://schemas.microsoft.com/office/drawing/2014/main" id="{07FDCE45-7EA3-9A74-E491-489D1120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94" y="681037"/>
            <a:ext cx="8164602" cy="552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76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8E0F-3D80-F9A7-1A4C-6C76DDEA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502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p-values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8F61-45C1-6DA2-492B-F132A098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502"/>
            <a:ext cx="5188945" cy="587749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p-value measures evidence against the null hypothesis.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 of observing the data (or more extreme)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assuming the null hypothesis is true.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p-value → Strong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p-value → Weak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5A59B9-5AF4-1873-A0B9-BC3F3DE9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945" y="980502"/>
            <a:ext cx="7003055" cy="566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87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1456-96D2-BF8E-E7DF-C6A2AC63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3384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Example of a p-value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176D-4CD0-CEA2-ABFF-3386F85D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03384"/>
            <a:ext cx="12191998" cy="59546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₀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is equal in urban and rural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₁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differs between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0.003</a:t>
            </a: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 is compared with alpha (5% (0.05), 10%(0.1), 1%(0.01)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strong evidence that clinic location is associated with systolic blood pressure.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1066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9A1C-93FF-3D26-B977-9521372B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82197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AAB30-ED5B-1B8A-C3D8-3015B5EA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2198"/>
            <a:ext cx="4207639" cy="6075801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confidence interval provides a range of plausible values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population parameter. 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confidence interval: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study were repeated many times,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of such intervals would contain the true value.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intervals show: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 size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 of estimates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338649-6948-E8D7-A9BC-946EBCE19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638" y="1035586"/>
            <a:ext cx="7734646" cy="333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85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E026-003F-133E-EB9A-7CB1F117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7976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BF4A-32DF-5E39-4C46-1009A4659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7976"/>
            <a:ext cx="4263528" cy="588002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 SBP difference (urban – rural) = 4.2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CI: [2.1, 6.3]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true SBP difference lies within this range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 does not include zero → statistically significant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more information than p-value alone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2734F12-66FC-4869-EACE-B0A7EC5BA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286" y="977976"/>
            <a:ext cx="7417110" cy="536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198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6FFF-E8C7-C124-9840-E2B19410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947451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Choosing the Right Statistical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8376C-5CE0-E995-7C33-C28EBADF5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450"/>
            <a:ext cx="12192000" cy="591054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selection depends on variable types: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means → Independent t-test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than two means → ANOVA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categorical variables → Chi-square 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continuous variables → Correlation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outcome → OLS regression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outcome → Logistic regression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03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A decision tree for choosing the right statistical test">
            <a:extLst>
              <a:ext uri="{FF2B5EF4-FFF2-40B4-BE49-F238E27FC236}">
                <a16:creationId xmlns:a16="http://schemas.microsoft.com/office/drawing/2014/main" id="{DB7C731E-2F0A-E9D0-FC5D-E69B41F0A2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6" y="209320"/>
            <a:ext cx="11788049" cy="66304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363940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8120-1FDA-BC51-7C2E-BCE479E6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7450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History of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B28A-3866-192C-50D7-7001676F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451"/>
            <a:ext cx="5816906" cy="5910548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The concept of regression was first introduced by </a:t>
            </a:r>
            <a:r>
              <a:rPr lang="en-US" sz="2800" b="1" dirty="0"/>
              <a:t>Sir Francis Galton in 1886</a:t>
            </a:r>
            <a:r>
              <a:rPr lang="en-US" sz="2800" dirty="0"/>
              <a:t> while studying the relationship between the heights of parents and their children. Galton observed that extremely tall parents tended to have tall children, but their children were usually </a:t>
            </a:r>
            <a:r>
              <a:rPr lang="en-US" sz="2800" b="1" dirty="0"/>
              <a:t>slightly shorter than the parents</a:t>
            </a:r>
            <a:r>
              <a:rPr lang="en-US" sz="2800" dirty="0"/>
              <a:t>.</a:t>
            </a:r>
          </a:p>
          <a:p>
            <a:r>
              <a:rPr lang="en-US" sz="2800" dirty="0"/>
              <a:t>Similarly, very short parents tended to have children who were short but </a:t>
            </a:r>
            <a:r>
              <a:rPr lang="en-US" sz="2800" b="1" dirty="0"/>
              <a:t>not extremely short</a:t>
            </a:r>
            <a:r>
              <a:rPr lang="en-US" sz="2800" dirty="0"/>
              <a:t>. Galton described this phenomenon as </a:t>
            </a:r>
            <a:r>
              <a:rPr lang="en-US" sz="2800" b="1" dirty="0"/>
              <a:t>“regression toward mediocrity,”</a:t>
            </a:r>
            <a:r>
              <a:rPr lang="en-US" sz="2800" dirty="0"/>
              <a:t> which later became known as </a:t>
            </a:r>
            <a:r>
              <a:rPr lang="en-US" sz="2800" b="1" dirty="0"/>
              <a:t>regression toward the mean</a:t>
            </a:r>
            <a:r>
              <a:rPr lang="en-US" sz="2800" dirty="0"/>
              <a:t>.</a:t>
            </a:r>
          </a:p>
          <a:p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Historical milestones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👨‍🔬 </a:t>
            </a:r>
            <a:r>
              <a:rPr lang="en-US" sz="2800" b="1" dirty="0"/>
              <a:t>Francis Galton (1886)</a:t>
            </a:r>
            <a:r>
              <a:rPr lang="en-US" sz="2800" dirty="0"/>
              <a:t> – Introduced the concept of regression</a:t>
            </a:r>
            <a:br>
              <a:rPr lang="en-US" sz="2800" dirty="0"/>
            </a:br>
            <a:r>
              <a:rPr lang="en-US" sz="2800" dirty="0"/>
              <a:t>📊 </a:t>
            </a:r>
            <a:r>
              <a:rPr lang="en-US" sz="2800" b="1" dirty="0"/>
              <a:t>Karl Pearson</a:t>
            </a:r>
            <a:r>
              <a:rPr lang="en-US" sz="2800" dirty="0"/>
              <a:t> – Developed correlation coefficient</a:t>
            </a:r>
            <a:br>
              <a:rPr lang="en-US" sz="2800" dirty="0"/>
            </a:br>
            <a:r>
              <a:rPr lang="en-US" sz="2800" dirty="0"/>
              <a:t>📈 </a:t>
            </a:r>
            <a:r>
              <a:rPr lang="en-US" sz="2800" b="1" dirty="0" err="1"/>
              <a:t>Udny</a:t>
            </a:r>
            <a:r>
              <a:rPr lang="en-US" sz="2800" b="1" dirty="0"/>
              <a:t> Yule</a:t>
            </a:r>
            <a:r>
              <a:rPr lang="en-US" sz="2800" dirty="0"/>
              <a:t> – Extended regression models</a:t>
            </a:r>
          </a:p>
          <a:p>
            <a:pPr marL="0" indent="0">
              <a:buNone/>
            </a:pPr>
            <a:r>
              <a:rPr lang="en-US" sz="2800" dirty="0"/>
              <a:t>Today, regression analysis is widely used in </a:t>
            </a:r>
            <a:r>
              <a:rPr lang="en-US" sz="2800" b="1" dirty="0"/>
              <a:t>statistics, econometrics, machine learning, and data science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3C77A6-E9DC-9E1D-714D-9B06CEE0F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907" y="947451"/>
            <a:ext cx="6369316" cy="591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214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A0D3-64E4-724E-73A7-2365DA41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7033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Regression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5B9E-B7C6-D3B1-D6D6-D1C7803D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0332"/>
            <a:ext cx="3922006" cy="5987668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the relationship between predictors (X)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an outcome variable (Y).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form: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β₀ + β₁X₁ + β₂X₂ + ... + ε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is the foundation of many ML algorithms.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73EC909-84C9-DA0D-CBD2-86B931987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006" y="1057620"/>
            <a:ext cx="8042311" cy="580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634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BC23-7CDF-94A0-8543-EE179325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747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Correlation Vs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1DF2-5F91-74D0-0490-3D9808F39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746"/>
            <a:ext cx="5673687" cy="60002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dirty="0"/>
              <a:t>Correlation and regression both analyze relationships between variables, but they serve different purposes.</a:t>
            </a:r>
          </a:p>
          <a:p>
            <a:pPr marL="0" indent="0">
              <a:buNone/>
            </a:pPr>
            <a:r>
              <a:rPr lang="en-US" sz="3300" dirty="0"/>
              <a:t>Correlation measures the strength and direction of a linear relationship between two variables. However, it does not establish cause-and-effect relationships.</a:t>
            </a:r>
          </a:p>
          <a:p>
            <a:pPr marL="0" indent="0">
              <a:buNone/>
            </a:pPr>
            <a:r>
              <a:rPr lang="en-US" sz="3300" dirty="0"/>
              <a:t>Regression analysis goes further by creating a mathematical model that predicts the value of a dependent variable based on one or more independent variables.</a:t>
            </a:r>
            <a:endParaRPr lang="en-US" sz="3300" b="1" dirty="0"/>
          </a:p>
          <a:p>
            <a:pPr marL="0" indent="0">
              <a:buNone/>
            </a:pPr>
            <a:r>
              <a:rPr lang="en-US" sz="3300" b="1" dirty="0"/>
              <a:t>Key differences</a:t>
            </a:r>
          </a:p>
          <a:p>
            <a:pPr marL="0" indent="0">
              <a:buNone/>
            </a:pPr>
            <a:r>
              <a:rPr lang="en-US" sz="3300" b="1" dirty="0"/>
              <a:t>Correlation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Measures strength and direction of association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Symmetric relationship (X and Y interchangeable)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Range: -1 to +1</a:t>
            </a:r>
            <a:endParaRPr lang="en-US" sz="3300" b="1" dirty="0"/>
          </a:p>
          <a:p>
            <a:pPr marL="0" indent="0">
              <a:buNone/>
            </a:pPr>
            <a:r>
              <a:rPr lang="en-US" sz="3300" b="1" dirty="0"/>
              <a:t>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Used for prediction and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Distinguishes dependent and independent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Produces a mathematical equation</a:t>
            </a:r>
          </a:p>
          <a:p>
            <a:r>
              <a:rPr lang="en-US" sz="3300" dirty="0"/>
              <a:t>Understanding this distinction is essential for correct statistical interpretation.</a:t>
            </a:r>
          </a:p>
        </p:txBody>
      </p:sp>
      <p:pic>
        <p:nvPicPr>
          <p:cNvPr id="3074" name="Picture 2" descr="Difference between Correlation and Regression - Shiksha Online">
            <a:extLst>
              <a:ext uri="{FF2B5EF4-FFF2-40B4-BE49-F238E27FC236}">
                <a16:creationId xmlns:a16="http://schemas.microsoft.com/office/drawing/2014/main" id="{E9EB5C09-BF31-EF6E-01B2-359191BF5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687" y="857747"/>
            <a:ext cx="6518313" cy="600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747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AA7-38CC-6AE0-A143-75CCE007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1928A-D6D5-4814-B8FA-4A5D86DBA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6"/>
            <a:ext cx="12191999" cy="6176963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The Dataset (</a:t>
            </a:r>
            <a:r>
              <a:rPr lang="en-US" sz="2800" b="1" dirty="0" err="1"/>
              <a:t>htn_dat</a:t>
            </a:r>
            <a:r>
              <a:rPr lang="en-US" sz="2800" b="1" dirty="0"/>
              <a:t>)</a:t>
            </a:r>
          </a:p>
          <a:p>
            <a:r>
              <a:rPr lang="en-US" sz="2800" dirty="0"/>
              <a:t>In this session, we will analyze a dataset related to </a:t>
            </a:r>
            <a:r>
              <a:rPr lang="en-US" sz="2800" b="1" dirty="0"/>
              <a:t>hypertension (high blood pressure)</a:t>
            </a:r>
            <a:r>
              <a:rPr lang="en-US" sz="2800" dirty="0"/>
              <a:t>. Hypertension is a major global health concern because it increases the risk of </a:t>
            </a:r>
            <a:r>
              <a:rPr lang="en-US" sz="2800" b="1" dirty="0"/>
              <a:t>heart disease, stroke, and kidney problems</a:t>
            </a:r>
            <a:r>
              <a:rPr lang="en-US" sz="2800" dirty="0"/>
              <a:t>.</a:t>
            </a:r>
          </a:p>
          <a:p>
            <a:r>
              <a:rPr lang="en-US" sz="2800" dirty="0"/>
              <a:t>The dataset contains several clinical and demographic variables that may influence blood pressure.</a:t>
            </a:r>
          </a:p>
          <a:p>
            <a:pPr marL="0" indent="0">
              <a:buNone/>
            </a:pPr>
            <a:r>
              <a:rPr lang="en-US" sz="2800" b="1" dirty="0"/>
              <a:t>Important variables</a:t>
            </a:r>
            <a:endParaRPr lang="en-US" sz="2800" dirty="0"/>
          </a:p>
          <a:p>
            <a:r>
              <a:rPr lang="en-US" sz="2800" dirty="0"/>
              <a:t>🫀 </a:t>
            </a:r>
            <a:r>
              <a:rPr lang="en-US" sz="2800" b="1" dirty="0"/>
              <a:t>SBP</a:t>
            </a:r>
            <a:r>
              <a:rPr lang="en-US" sz="2800" dirty="0"/>
              <a:t> – Systolic Blood Pressure (outcome variable)</a:t>
            </a:r>
            <a:br>
              <a:rPr lang="en-US" sz="2800" dirty="0"/>
            </a:br>
            <a:r>
              <a:rPr lang="en-US" sz="2800" dirty="0"/>
              <a:t>🩺 </a:t>
            </a:r>
            <a:r>
              <a:rPr lang="en-US" sz="2800" b="1" dirty="0"/>
              <a:t>DBP</a:t>
            </a:r>
            <a:r>
              <a:rPr lang="en-US" sz="2800" dirty="0"/>
              <a:t> – Diastolic Blood Pressure</a:t>
            </a:r>
            <a:br>
              <a:rPr lang="en-US" sz="2800" dirty="0"/>
            </a:br>
            <a:r>
              <a:rPr lang="en-US" sz="2800" dirty="0"/>
              <a:t>⚖️ </a:t>
            </a:r>
            <a:r>
              <a:rPr lang="en-US" sz="2800" b="1" dirty="0"/>
              <a:t>BMI</a:t>
            </a:r>
            <a:r>
              <a:rPr lang="en-US" sz="2800" dirty="0"/>
              <a:t> – Body Mass Index</a:t>
            </a:r>
            <a:br>
              <a:rPr lang="en-US" sz="2800" dirty="0"/>
            </a:br>
            <a:r>
              <a:rPr lang="en-US" sz="2800" dirty="0"/>
              <a:t>🎂 </a:t>
            </a:r>
            <a:r>
              <a:rPr lang="en-US" sz="2800" b="1" dirty="0"/>
              <a:t>Age</a:t>
            </a:r>
            <a:r>
              <a:rPr lang="en-US" sz="2800" dirty="0"/>
              <a:t> – Age of patient</a:t>
            </a:r>
            <a:br>
              <a:rPr lang="en-US" sz="2800" dirty="0"/>
            </a:br>
            <a:r>
              <a:rPr lang="en-US" sz="2800" dirty="0"/>
              <a:t>👨 </a:t>
            </a:r>
            <a:r>
              <a:rPr lang="en-US" sz="2800" b="1" dirty="0" err="1"/>
              <a:t>male.gender</a:t>
            </a:r>
            <a:r>
              <a:rPr lang="en-US" sz="2800" dirty="0"/>
              <a:t> – Gender indicator</a:t>
            </a:r>
            <a:br>
              <a:rPr lang="en-US" sz="2800" dirty="0"/>
            </a:br>
            <a:r>
              <a:rPr lang="en-US" sz="2800" dirty="0"/>
              <a:t>⏱ </a:t>
            </a:r>
            <a:r>
              <a:rPr lang="en-US" sz="2800" b="1" dirty="0" err="1"/>
              <a:t>survtime</a:t>
            </a:r>
            <a:r>
              <a:rPr lang="en-US" sz="2800" dirty="0"/>
              <a:t> – Survival time</a:t>
            </a:r>
          </a:p>
          <a:p>
            <a:pPr marL="0" indent="0">
              <a:buNone/>
            </a:pPr>
            <a:r>
              <a:rPr lang="en-US" sz="2800" dirty="0"/>
              <a:t>Our main goal is to investigate whether </a:t>
            </a:r>
            <a:r>
              <a:rPr lang="en-US" sz="2800" b="1" dirty="0"/>
              <a:t>BMI and age influence systolic blood pressure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1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C08C-95A9-8434-468D-D316C36E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1517"/>
          </a:xfrm>
          <a:solidFill>
            <a:schemeClr val="accent1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Ordinary Least Squares (OLS)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A57F-391A-202C-6FFC-DEE2A43D4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60" y="991518"/>
            <a:ext cx="4127653" cy="5185445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predicts continuous outcomes.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application: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systolic blood pressure using: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minimizes the sum of squared prediction errors.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5BEBD3-5561-6160-6820-15DA3E438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13" y="1099086"/>
            <a:ext cx="7550226" cy="575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5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681C-0E84-A91A-8739-14BCB43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13552"/>
          </a:xfrm>
          <a:solidFill>
            <a:schemeClr val="accent1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Interpreting OLS Coefficients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CE3E-E85F-A4B2-C0A8-9E663A14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71" y="925418"/>
            <a:ext cx="11111429" cy="525154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 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 (+/–): Direction of relationship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Magnitude: Size of effect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p-value: Statistical significance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BMI coefficient of 0.87 means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increases by 0.87 mmHg per unit BMI increase,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holding other variables constant.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93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1084-B22A-DAC3-B4A4-F9244488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7601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Fit in OLS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884C-FCEB-9320-72C2-95D21B31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870333"/>
            <a:ext cx="4384713" cy="5306630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evaluation metrics: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R²: Proportion of variance explained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RMSE: Prediction error magnitude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MAE: Average absolute error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does not imply causation,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explanatory power.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0AE34-ECE9-AFD8-655A-9391585F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966" y="852127"/>
            <a:ext cx="7476781" cy="532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03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A780-21A2-1801-5C76-A4769154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34" y="914400"/>
            <a:ext cx="4985132" cy="5809829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assumptions: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Independence of observations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Homoscedasticity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Normality of residuals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No multicollinearity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Violations require transformations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alternative modeling approaches.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OLS Regression Assumptions *** | Bruce Ratner, PhD">
            <a:extLst>
              <a:ext uri="{FF2B5EF4-FFF2-40B4-BE49-F238E27FC236}">
                <a16:creationId xmlns:a16="http://schemas.microsoft.com/office/drawing/2014/main" id="{9666AE19-B647-A941-B010-C22A9803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566" y="914400"/>
            <a:ext cx="6858000" cy="580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27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A780-21A2-1801-5C76-A4769154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4856480" cy="5943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is a statistical phenomenon in multiple regression where two or more independent variables are highly correlated.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one can be linearly predicted from the others with a high degree of accuracy.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causes unreliable coefficients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coefficient estimates,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difficult to determine the individual effect of each predictor on the dependent variable. </a:t>
            </a:r>
          </a:p>
        </p:txBody>
      </p:sp>
      <p:pic>
        <p:nvPicPr>
          <p:cNvPr id="1026" name="Picture 2" descr="Multicollinearity types">
            <a:extLst>
              <a:ext uri="{FF2B5EF4-FFF2-40B4-BE49-F238E27FC236}">
                <a16:creationId xmlns:a16="http://schemas.microsoft.com/office/drawing/2014/main" id="{C0997913-6E05-C83D-2CD2-4EB62DE84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480" y="914400"/>
            <a:ext cx="724408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120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Multicollinearity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A780-21A2-1801-5C76-A4769154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943600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Multicollinearity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signifies a high or strong correlation between two or more independent variables, but not a perfect one.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Perfect Multicollinearity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degree of collinearity indicates an exact 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relationship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between two or more independent variables.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Data-based Multicollinearity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possibility of collinearity, in this case, arises out of the selected dataset.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Structural Multicollinearity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issue arises when researchers have a poorly designed framework for the regression analysis.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87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Heteroscedasticity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44FB080-DD6F-5D7A-E168-0C4573E23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14400"/>
                <a:ext cx="12192000" cy="59436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marR="0" indent="0">
                  <a:lnSpc>
                    <a:spcPct val="107000"/>
                  </a:lnSpc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-US" sz="2000" b="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Heteroscedasticity in Regression Analysis</a:t>
                </a:r>
                <a:endParaRPr lang="en-US" sz="20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</a:p>
              <a:p>
                <a:pPr marL="0" marR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Heteroscedasticity arises when:</a:t>
                </a:r>
              </a:p>
              <a:p>
                <a:pPr marL="0" marR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That is, the conditional variance of the error term is not constant across levels of the independent variables. This violates the </a:t>
                </a: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homoscedasticity assumption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Classical Linear Regression Model (CLRM), which requires: </a:t>
                </a:r>
              </a:p>
              <a:p>
                <a:pPr marL="0" marR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𝑎𝑟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-US" sz="2000" b="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It Matters</a:t>
                </a:r>
                <a:endParaRPr lang="en-US" sz="20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Under heteroscedasticity:</a:t>
                </a:r>
              </a:p>
              <a:p>
                <a:pPr marR="0" lvl="0">
                  <a:buSzPts val="1000"/>
                  <a:buFont typeface="Wingdings" panose="05000000000000000000" pitchFamily="2" charset="2"/>
                  <a:buChar char="v"/>
                  <a:tabLst>
                    <a:tab pos="45720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OLS coefficient estimates remain:</a:t>
                </a:r>
              </a:p>
              <a:p>
                <a:pPr marR="0" lvl="1">
                  <a:buSzPts val="1000"/>
                  <a:buFont typeface="Wingdings" panose="05000000000000000000" pitchFamily="2" charset="2"/>
                  <a:buChar char="v"/>
                  <a:tabLst>
                    <a:tab pos="914400" algn="l"/>
                  </a:tabLst>
                </a:pP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Unbiased</a:t>
                </a:r>
                <a:endParaRPr lang="en-US" sz="2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1">
                  <a:buSzPts val="1000"/>
                  <a:buFont typeface="Wingdings" panose="05000000000000000000" pitchFamily="2" charset="2"/>
                  <a:buChar char="v"/>
                  <a:tabLst>
                    <a:tab pos="914400" algn="l"/>
                  </a:tabLst>
                </a:pP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Consistent</a:t>
                </a:r>
                <a:endParaRPr lang="en-US" sz="2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buSzPts val="1000"/>
                  <a:buFont typeface="Wingdings" panose="05000000000000000000" pitchFamily="2" charset="2"/>
                  <a:buChar char="v"/>
                  <a:tabLst>
                    <a:tab pos="45720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But they are no longer:</a:t>
                </a:r>
              </a:p>
              <a:p>
                <a:pPr marR="0" lvl="1">
                  <a:buSzPts val="1000"/>
                  <a:buFont typeface="Wingdings" panose="05000000000000000000" pitchFamily="2" charset="2"/>
                  <a:buChar char="v"/>
                  <a:tabLst>
                    <a:tab pos="914400" algn="l"/>
                  </a:tabLst>
                </a:pP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Efficient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(not BLUE under Gauss–Markov theorem)</a:t>
                </a:r>
              </a:p>
              <a:p>
                <a:pPr marR="0" lvl="0">
                  <a:buSzPts val="1000"/>
                  <a:buFont typeface="Wingdings" panose="05000000000000000000" pitchFamily="2" charset="2"/>
                  <a:buChar char="v"/>
                  <a:tabLst>
                    <a:tab pos="45720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Standard errors become:</a:t>
                </a:r>
              </a:p>
              <a:p>
                <a:pPr marR="0" lvl="1">
                  <a:buSzPts val="1000"/>
                  <a:buFont typeface="Wingdings" panose="05000000000000000000" pitchFamily="2" charset="2"/>
                  <a:buChar char="v"/>
                  <a:tabLst>
                    <a:tab pos="914400" algn="l"/>
                  </a:tabLst>
                </a:pP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Biased</a:t>
                </a:r>
                <a:endParaRPr lang="en-US" sz="2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1">
                  <a:buSzPts val="1000"/>
                  <a:buFont typeface="Wingdings" panose="05000000000000000000" pitchFamily="2" charset="2"/>
                  <a:buChar char="v"/>
                  <a:tabLst>
                    <a:tab pos="91440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Leading to unreliable </a:t>
                </a:r>
                <a:r>
                  <a:rPr lang="en-US" sz="20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t-tests, F-tests, and confidence intervals</a:t>
                </a:r>
                <a:endParaRPr lang="en-US" sz="2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Thus, inference—not estimation—is primarily affected.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44FB080-DD6F-5D7A-E168-0C4573E23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14400"/>
                <a:ext cx="12192000" cy="5943600"/>
              </a:xfrm>
              <a:blipFill>
                <a:blip r:embed="rId2"/>
                <a:stretch>
                  <a:fillRect l="-450" t="-615" r="-550" b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922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Heteroscedasticity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FB080-DD6F-5D7A-E168-0C4573E23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3627120" cy="59436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Causes</a:t>
            </a:r>
          </a:p>
          <a:p>
            <a:pPr marR="0" lvl="0"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 effects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Variability increases with magnitude (e.g., income and consumption).</a:t>
            </a:r>
          </a:p>
          <a:p>
            <a:pPr marR="0" lvl="0"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Omitted variables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 important predictors can create structured variance patterns.</a:t>
            </a:r>
          </a:p>
          <a:p>
            <a:pPr marR="0" lvl="0"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Incorrect functional form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Nonlinear relationships modeled as linear.</a:t>
            </a:r>
          </a:p>
          <a:p>
            <a:pPr marR="0" lvl="0"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Cross-sectional data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Frequently exhibits non-constant variance.</a:t>
            </a:r>
          </a:p>
          <a:p>
            <a:pPr marL="0" marR="0" indent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AB704-4E83-2B6F-0743-8EAF6C0CC615}"/>
              </a:ext>
            </a:extLst>
          </p:cNvPr>
          <p:cNvSpPr txBox="1"/>
          <p:nvPr/>
        </p:nvSpPr>
        <p:spPr>
          <a:xfrm>
            <a:off x="3627120" y="918448"/>
            <a:ext cx="5435600" cy="59736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 Methods</a:t>
            </a:r>
          </a:p>
          <a:p>
            <a:pPr marL="0" marR="0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Graphical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Residuals vs. Fitted plot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Scale-Location plot</a:t>
            </a:r>
            <a:b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 or cone-shaped dispersion indicates heteroscedasticity.</a:t>
            </a:r>
          </a:p>
          <a:p>
            <a:pPr marL="0" marR="0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Statistical Tests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Breusch–Pagan test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White test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Goldfeld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Quandt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</a:p>
          <a:p>
            <a:pPr marL="0" marR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marL="342900" marR="0" lvl="0" indent="-34290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 Standard Errors (White/Huber-White)</a:t>
            </a:r>
          </a:p>
          <a:p>
            <a:pPr marL="742950" marR="0" lvl="1" indent="-285750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 inference without changing coefficients.</a:t>
            </a:r>
          </a:p>
          <a:p>
            <a:pPr marL="342900" marR="0" lvl="0" indent="-34290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742950" marR="0" lvl="1" indent="-285750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or square-root transformation of dependent variable.</a:t>
            </a:r>
          </a:p>
          <a:p>
            <a:pPr marL="342900" marR="0" lvl="0" indent="-34290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Weighted Least Squares (WLS)</a:t>
            </a:r>
          </a:p>
          <a:p>
            <a:pPr marL="742950" marR="0" lvl="1" indent="-285750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Weights inversely proportional to error variance.</a:t>
            </a:r>
          </a:p>
          <a:p>
            <a:pPr marL="342900" marR="0" lvl="0" indent="-34290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Re-specification</a:t>
            </a:r>
          </a:p>
          <a:p>
            <a:pPr marL="742950" marR="0" lvl="1" indent="-285750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 omitted variables or correct functional form.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35159BD-0F90-6386-C2A1-6183B489E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2720" y="914400"/>
            <a:ext cx="3129279" cy="60118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 Perspective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financial time series, heteroscedasticity appears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volatility clustering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where: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shocks follow large shocks.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shocks follow small shocks.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conditional heteroscedasticity is modeled using: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 models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GARCH models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162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0285C-237B-D96A-CA5B-C310ECA9ED1A}"/>
              </a:ext>
            </a:extLst>
          </p:cNvPr>
          <p:cNvSpPr txBox="1"/>
          <p:nvPr/>
        </p:nvSpPr>
        <p:spPr>
          <a:xfrm>
            <a:off x="-1" y="914401"/>
            <a:ext cx="3017519" cy="588321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Autocorrelation (Serial Correlation)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Autocorrelation refers to the correlation between observations of the same variable at different points in time. In time series analysis, it measures the degree to which current values of a variable are related to its past values. The autocorrelation coefficient ranges from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–1 to +1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Perfect positive autocorrelation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Perfect negative autocorrelation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No linear autocorrelation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96037-F77F-33A5-EA84-332D4769814C}"/>
              </a:ext>
            </a:extLst>
          </p:cNvPr>
          <p:cNvSpPr txBox="1"/>
          <p:nvPr/>
        </p:nvSpPr>
        <p:spPr>
          <a:xfrm>
            <a:off x="3017520" y="914400"/>
            <a:ext cx="2580640" cy="59743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Autocorrelation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 Autocorrelation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values tend to follow high values, and low values follow low values.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GDP growth, stock prices with momentum.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Negative Autocorrelation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values tend to be followed by low values and vice versa.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Certain alternating economic cycles.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B2A75C-69D4-CA64-09B5-D8099884B6F5}"/>
                  </a:ext>
                </a:extLst>
              </p:cNvPr>
              <p:cNvSpPr txBox="1"/>
              <p:nvPr/>
            </p:nvSpPr>
            <p:spPr>
              <a:xfrm>
                <a:off x="5598160" y="914399"/>
                <a:ext cx="3576320" cy="334713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Autocorrelation Function (ACF)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ACF</a:t>
                </a: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measures the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kern="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kern="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lag. It is essential for identifying: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Trends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Seasonality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Periodic patterns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 model order selection</a:t>
                </a:r>
                <a:endParaRPr lang="en-US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B2A75C-69D4-CA64-09B5-D8099884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160" y="914399"/>
                <a:ext cx="3576320" cy="3347135"/>
              </a:xfrm>
              <a:prstGeom prst="rect">
                <a:avLst/>
              </a:prstGeom>
              <a:blipFill>
                <a:blip r:embed="rId2"/>
                <a:stretch>
                  <a:fillRect l="-1704" t="-911" r="-681" b="-2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79B2AF2-8159-698F-015B-2785AF731F09}"/>
              </a:ext>
            </a:extLst>
          </p:cNvPr>
          <p:cNvSpPr txBox="1"/>
          <p:nvPr/>
        </p:nvSpPr>
        <p:spPr>
          <a:xfrm>
            <a:off x="5598160" y="4261534"/>
            <a:ext cx="3576319" cy="25206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Statistical Tests for Autocorrelation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Durbin–Watson test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(common in regression residuals)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Ljung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–Box test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(overall serial dependence)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Residual plots and correlograms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36E74-7110-C8AC-0F05-6585ADC9502A}"/>
              </a:ext>
            </a:extLst>
          </p:cNvPr>
          <p:cNvSpPr txBox="1"/>
          <p:nvPr/>
        </p:nvSpPr>
        <p:spPr>
          <a:xfrm>
            <a:off x="9174480" y="914398"/>
            <a:ext cx="3017520" cy="315253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Regression Analysis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Autocorrelation becomes problematic when 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 terms are correlated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violating the classical linear regression assumption of independent errors. Consequences include: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Inefficient OLS estimators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Biased standard errors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Invalid hypothesis tests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90305E-5DC1-BBED-3641-E8EAF8E0849F}"/>
              </a:ext>
            </a:extLst>
          </p:cNvPr>
          <p:cNvSpPr txBox="1"/>
          <p:nvPr/>
        </p:nvSpPr>
        <p:spPr>
          <a:xfrm>
            <a:off x="9174479" y="4046539"/>
            <a:ext cx="3017520" cy="2842253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Autocorrelation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Correlation of a variable with its own past values (time dimension).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Correlation among different independent variables (cross-sectional dimension).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721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81B8-39BC-CE09-5E43-B1F6B06F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11002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517B-B093-E89F-9FEE-2468AC61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02"/>
            <a:ext cx="12192000" cy="791646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C3434-4605-68E8-1AAA-3CAB46DA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990600"/>
            <a:ext cx="4669971" cy="550227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is used when the outcome is binary.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application: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hypertension (yes/no)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models log-odds,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probabilities directly.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E94679-ADAB-7297-1B64-9E06E0534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70" y="815249"/>
            <a:ext cx="7293430" cy="60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661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5492-D0A6-9BD5-338F-F3F50E38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34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Equation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7FC4-A398-62C4-66AE-7531144D8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50" y="881349"/>
            <a:ext cx="4518752" cy="5684704"/>
          </a:xfrm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Logit model: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log(p / (1 – p)) = β₀ + β₁X₁ + β₂X₂ + ...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probability of the event occurring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ensures predictions lie between 0 and 1.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4CFF1-026C-BBF4-027C-84DE599C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81349"/>
            <a:ext cx="7391400" cy="2808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211AA-15CF-0EE2-BD89-1A3479105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23701"/>
            <a:ext cx="7391400" cy="313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22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7D46-D8E5-889D-E508-F069D546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2626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Interpreting Logistic Regression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D9503-982F-F4AB-7FFC-9402CD5C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4" y="716096"/>
            <a:ext cx="3702979" cy="6008132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interpretations: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Coefficients → Change in log-odds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ratios (e^β) → Multiplicative change in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&gt; 1 → Increased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&lt; 1 → Decreased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182AB6-4570-1ECA-FEC8-55F10226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543" y="1212396"/>
            <a:ext cx="8281476" cy="479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674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6CB1-A6E4-B4A3-3B57-6088A52F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247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1EAA-405A-AE93-720C-4B9CEBEEA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59" y="892366"/>
            <a:ext cx="4204771" cy="5743729"/>
          </a:xfrm>
        </p:spPr>
        <p:txBody>
          <a:bodyPr>
            <a:normAutofit fontScale="7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HIV status:</a:t>
            </a:r>
            <a:endParaRPr lang="en-US" sz="4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= 2.51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Patients with advanced HIV have</a:t>
            </a:r>
            <a:r>
              <a:rPr lang="en-US" sz="4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2.5 times higher odds of hypertension  compared to others.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4CF3A-9437-2D8F-173D-633D6EEE3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30" y="815248"/>
            <a:ext cx="7796270" cy="604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58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3C68-B04E-33FE-B13B-148F0C30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6096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for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0C26-1ED5-ED49-F867-C1EA0AB8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2" y="804231"/>
            <a:ext cx="4682168" cy="5805889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metrics for binary outcomes: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Sensitivity (Recall)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AUC–ROC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screening prioritize high sensitivity to reduce missed cases.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ROC-AUC">
            <a:extLst>
              <a:ext uri="{FF2B5EF4-FFF2-40B4-BE49-F238E27FC236}">
                <a16:creationId xmlns:a16="http://schemas.microsoft.com/office/drawing/2014/main" id="{E9FC34E0-4AFD-4E91-6AC0-DFEE25A9D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320" y="716096"/>
            <a:ext cx="7410680" cy="614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614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F2EE-FAA9-7958-BF02-A24E81E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8"/>
            <a:ext cx="12192000" cy="846731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Confounding and Adjustment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D1C7-79AC-2A3A-9E2E-DC43DF7F4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8298"/>
            <a:ext cx="5552498" cy="6008133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Confounding occurs when a third variable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distorts the relationship between X and Y.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clinics appear associated with higher SBP,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 age explains the difference.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Multivariable regression adjustment.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agram that displays how confounding works.">
            <a:extLst>
              <a:ext uri="{FF2B5EF4-FFF2-40B4-BE49-F238E27FC236}">
                <a16:creationId xmlns:a16="http://schemas.microsoft.com/office/drawing/2014/main" id="{01867FAF-0FB0-2345-7A77-A6CA1DA2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500" y="848299"/>
            <a:ext cx="6639499" cy="295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6BDC1DC-E80C-348A-2094-0D9EF2CA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499" y="3800820"/>
            <a:ext cx="6639499" cy="305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544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AF25-080F-37FC-B421-3D34A029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1181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as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3765-9E36-235A-84BB-F6D0FB4C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23" y="771180"/>
            <a:ext cx="3061771" cy="6086819"/>
          </a:xfrm>
        </p:spPr>
        <p:txBody>
          <a:bodyPr>
            <a:normAutofit fontScale="6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are machine learning algorithms.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Connections: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regression → Linear ML model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→ Classification ML model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 networks → Stacked regression layers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regression enables ML mastery.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05EB628-11F5-C34D-F051-DE0A26CD6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418" y="771179"/>
            <a:ext cx="8666120" cy="608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640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AF25-080F-37FC-B421-3D34A029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1181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as Machine Learning</a:t>
            </a:r>
            <a:endParaRPr lang="en-US" dirty="0"/>
          </a:p>
        </p:txBody>
      </p:sp>
      <p:pic>
        <p:nvPicPr>
          <p:cNvPr id="5122" name="Picture 2" descr="Illustrations of machine learning models. 3A. Linear regression; 3B.... |  Download Scientific Diagram">
            <a:extLst>
              <a:ext uri="{FF2B5EF4-FFF2-40B4-BE49-F238E27FC236}">
                <a16:creationId xmlns:a16="http://schemas.microsoft.com/office/drawing/2014/main" id="{B6AF6C44-94A6-D947-72CD-2DD9EB7E3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71180"/>
            <a:ext cx="12192001" cy="613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764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6944-E95D-8085-CD14-16E91754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8134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Statistical Pitfall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3F1B-6CF6-1FD4-7B12-20BFE738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6" y="881348"/>
            <a:ext cx="4087258" cy="5761823"/>
          </a:xfrm>
        </p:spPr>
        <p:txBody>
          <a:bodyPr>
            <a:normAutofit fontScale="850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 these errors: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leakage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P-hacking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Ignoring confounding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Overfitting models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Statistical rigor protects patient safety</a:t>
            </a:r>
            <a:r>
              <a:rPr lang="en-US" sz="4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model credibility.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p-hacking">
            <a:extLst>
              <a:ext uri="{FF2B5EF4-FFF2-40B4-BE49-F238E27FC236}">
                <a16:creationId xmlns:a16="http://schemas.microsoft.com/office/drawing/2014/main" id="{B275CAAC-D598-B070-B5F1-0CFD920AC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494" y="881348"/>
            <a:ext cx="7950505" cy="576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443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0284-2676-4A60-E887-AFE70797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9315"/>
          </a:xfrm>
          <a:solidFill>
            <a:schemeClr val="accent2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 Assignment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5154-F973-4CB4-D566-5D76ACDE2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59316"/>
            <a:ext cx="3668616" cy="5998684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for SBP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for hypertension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and interpretation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Deliverable: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notebook (.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ipynb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82D687A-0445-652C-638D-EE8CBB5F3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617" y="859315"/>
            <a:ext cx="8501570" cy="599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03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45A1-745C-DC10-726B-D9A8A7FA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626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Analysis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DBD6-BF94-2D1C-1178-55F88941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6266"/>
            <a:ext cx="4109292" cy="60317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and clean data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Conduct hypothesis tests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 OLS regression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 logistic regression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model performance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5BFA2B0-01AE-5BF7-FD69-49CA5634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292" y="826265"/>
            <a:ext cx="8082708" cy="60317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72266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A486-324F-CD77-53BC-C11DAA72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Preparing for Week 3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49BA-87CE-DC5D-555F-24E34542C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81036"/>
            <a:ext cx="12192000" cy="617696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efore next session: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lab assignment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regression concepts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 train-test split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 required Python libraries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 3 focuses on scalable ML pipelines.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638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97E7-4893-193C-36DD-BFE132DA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219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56EA-35F0-B633-9A23-3CB52762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2198"/>
            <a:ext cx="12085504" cy="6075802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guides evidence-based decisions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underpins machine learning algorithms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Statistical literacy enables responsible AI</a:t>
            </a: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ML requires precision and ethics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 is the foundation of trustworthy machine learning.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24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1196</TotalTime>
  <Words>2572</Words>
  <Application>Microsoft Office PowerPoint</Application>
  <PresentationFormat>Widescreen</PresentationFormat>
  <Paragraphs>379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Arial Black</vt:lpstr>
      <vt:lpstr>Bell MT</vt:lpstr>
      <vt:lpstr>Calibri</vt:lpstr>
      <vt:lpstr>Calibri Light</vt:lpstr>
      <vt:lpstr>Cambria Math</vt:lpstr>
      <vt:lpstr>Courier New</vt:lpstr>
      <vt:lpstr>Georgia</vt:lpstr>
      <vt:lpstr>Symbol</vt:lpstr>
      <vt:lpstr>Times New Roman</vt:lpstr>
      <vt:lpstr>Wingdings</vt:lpstr>
      <vt:lpstr>Office Theme</vt:lpstr>
      <vt:lpstr>INTRODUCTION TO STATISTICAL DATA ANALYSIS USING R &amp; RSTUDIO LUMUMBA WANDERA VICTOR  (M.Sc. Applied Statistics) 9th March, 2026 </vt:lpstr>
      <vt:lpstr>OVERVIEW</vt:lpstr>
      <vt:lpstr>COURSE CONTEXT</vt:lpstr>
      <vt:lpstr>SESSIONA OBJECTIVES</vt:lpstr>
      <vt:lpstr>Why Statistics Before Machine Learning?</vt:lpstr>
      <vt:lpstr>Learning Objectives</vt:lpstr>
      <vt:lpstr>Dataset Overview</vt:lpstr>
      <vt:lpstr>What is Hypothesis Testing?</vt:lpstr>
      <vt:lpstr>Decision Rule in Hypothesis Testing</vt:lpstr>
      <vt:lpstr>Understanding p-values</vt:lpstr>
      <vt:lpstr>Medical Example of a p-value</vt:lpstr>
      <vt:lpstr>Confidence Interval</vt:lpstr>
      <vt:lpstr>Confidence Interval Example</vt:lpstr>
      <vt:lpstr>Choosing the Right Statistical Test</vt:lpstr>
      <vt:lpstr>PowerPoint Presentation</vt:lpstr>
      <vt:lpstr>History of Regression</vt:lpstr>
      <vt:lpstr>Introduction to Regression Analysis</vt:lpstr>
      <vt:lpstr>Correlation Vs Regression</vt:lpstr>
      <vt:lpstr>The Dataset</vt:lpstr>
      <vt:lpstr>Ordinary Least Squares (OLS) Regression</vt:lpstr>
      <vt:lpstr>Interpreting OLS Coefficients</vt:lpstr>
      <vt:lpstr>Model Fit in OLS Regression</vt:lpstr>
      <vt:lpstr>OLS Assumptions</vt:lpstr>
      <vt:lpstr>Multicollinearity</vt:lpstr>
      <vt:lpstr>Types Multicollinearity</vt:lpstr>
      <vt:lpstr>Heteroscedasticity</vt:lpstr>
      <vt:lpstr>Heteroscedasticity</vt:lpstr>
      <vt:lpstr>Autocorrelation</vt:lpstr>
      <vt:lpstr>Logistic Regression Analysis</vt:lpstr>
      <vt:lpstr>Logistic Regression</vt:lpstr>
      <vt:lpstr>Logistic Regression Equation</vt:lpstr>
      <vt:lpstr>Interpreting Logistic Regression Results</vt:lpstr>
      <vt:lpstr>Logistic Regression Example</vt:lpstr>
      <vt:lpstr>Model Evaluation for Classification</vt:lpstr>
      <vt:lpstr>Confounding and Adjustment</vt:lpstr>
      <vt:lpstr>Regression as Machine Learning</vt:lpstr>
      <vt:lpstr>Regression as Machine Learning</vt:lpstr>
      <vt:lpstr>Common Statistical Pitfall</vt:lpstr>
      <vt:lpstr>Lab Assignment Overview</vt:lpstr>
      <vt:lpstr>Python Analysis Workflow</vt:lpstr>
      <vt:lpstr>Preparing for Week 3 Machine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 FOR MACHINE LEARNING</dc:title>
  <dc:creator>Victor Wandera</dc:creator>
  <cp:lastModifiedBy>Victor Lumumba Wandera</cp:lastModifiedBy>
  <cp:revision>13</cp:revision>
  <dcterms:created xsi:type="dcterms:W3CDTF">2026-02-05T12:31:50Z</dcterms:created>
  <dcterms:modified xsi:type="dcterms:W3CDTF">2026-03-08T19:23:03Z</dcterms:modified>
</cp:coreProperties>
</file>