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63" r:id="rId3"/>
    <p:sldId id="264" r:id="rId4"/>
    <p:sldId id="265" r:id="rId5"/>
    <p:sldId id="267" r:id="rId6"/>
    <p:sldId id="268" r:id="rId7"/>
    <p:sldId id="269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59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67789-BA60-4E8A-A29E-029CA43BB9E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89186-947C-449E-9F98-4F0498059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9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462" y="272033"/>
            <a:ext cx="58731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7250" y="6577076"/>
            <a:ext cx="15747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dam.chuka.ac.ke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40386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405829"/>
            <a:ext cx="10591799" cy="119686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indent="390525" algn="ctr">
              <a:lnSpc>
                <a:spcPts val="2860"/>
              </a:lnSpc>
              <a:spcBef>
                <a:spcPts val="620"/>
              </a:spcBef>
            </a:pPr>
            <a:br>
              <a:rPr lang="en-US" sz="2800" spc="-50" dirty="0"/>
            </a:br>
            <a:r>
              <a:rPr sz="2800" spc="-50" dirty="0"/>
              <a:t>INTRODUCTION</a:t>
            </a:r>
            <a:r>
              <a:rPr sz="2800" spc="-195" dirty="0"/>
              <a:t> </a:t>
            </a:r>
            <a:r>
              <a:rPr sz="2800" spc="-10" dirty="0"/>
              <a:t>TO</a:t>
            </a:r>
            <a:r>
              <a:rPr sz="2800" spc="-200" dirty="0"/>
              <a:t> </a:t>
            </a:r>
            <a:r>
              <a:rPr sz="2800" spc="-10" dirty="0"/>
              <a:t>STATISTICAL </a:t>
            </a:r>
            <a:r>
              <a:rPr sz="2800" spc="-175" dirty="0"/>
              <a:t>DATA</a:t>
            </a:r>
            <a:r>
              <a:rPr sz="2800" spc="-130" dirty="0"/>
              <a:t> </a:t>
            </a:r>
            <a:r>
              <a:rPr sz="2800" spc="-95" dirty="0"/>
              <a:t>ANALYSIS</a:t>
            </a:r>
            <a:r>
              <a:rPr lang="en-US" sz="2800" spc="-155" dirty="0"/>
              <a:t> </a:t>
            </a:r>
            <a:r>
              <a:rPr sz="2800" spc="-25" dirty="0"/>
              <a:t>USING</a:t>
            </a:r>
            <a:r>
              <a:rPr sz="2800" spc="-114" dirty="0"/>
              <a:t> </a:t>
            </a:r>
            <a:r>
              <a:rPr sz="2800" dirty="0"/>
              <a:t>R</a:t>
            </a:r>
            <a:r>
              <a:rPr sz="2800" spc="-95" dirty="0"/>
              <a:t> </a:t>
            </a:r>
            <a:r>
              <a:rPr sz="2800" dirty="0"/>
              <a:t>&amp;</a:t>
            </a:r>
            <a:r>
              <a:rPr sz="2800" spc="-95" dirty="0"/>
              <a:t> </a:t>
            </a:r>
            <a:r>
              <a:rPr sz="2800" spc="-25" dirty="0"/>
              <a:t>RSTUDIO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2438400" y="2066397"/>
            <a:ext cx="6705599" cy="2131353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LUMUMBA WANDERA VICTOR </a:t>
            </a:r>
          </a:p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(M.Sc. Applied Statistics)</a:t>
            </a:r>
            <a:endParaRPr sz="2500" dirty="0">
              <a:latin typeface="Arial"/>
              <a:cs typeface="Arial"/>
            </a:endParaRPr>
          </a:p>
          <a:p>
            <a:pPr marL="18415" algn="ctr">
              <a:lnSpc>
                <a:spcPct val="100000"/>
              </a:lnSpc>
              <a:spcBef>
                <a:spcPts val="1085"/>
              </a:spcBef>
              <a:tabLst>
                <a:tab pos="1932305" algn="l"/>
              </a:tabLst>
            </a:pP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17</a:t>
            </a:r>
            <a:r>
              <a:rPr lang="en-US" sz="2400" spc="155" baseline="30000" dirty="0">
                <a:solidFill>
                  <a:srgbClr val="00AF50"/>
                </a:solidFill>
                <a:latin typeface="Arial Black"/>
                <a:cs typeface="Arial Black"/>
              </a:rPr>
              <a:t>th</a:t>
            </a: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sz="2400" spc="155" dirty="0">
                <a:solidFill>
                  <a:srgbClr val="00AF50"/>
                </a:solidFill>
                <a:latin typeface="Arial Black"/>
                <a:cs typeface="Arial Black"/>
              </a:rPr>
              <a:t>February</a:t>
            </a:r>
            <a:r>
              <a:rPr sz="2400" spc="-35" dirty="0">
                <a:solidFill>
                  <a:srgbClr val="00AF50"/>
                </a:solidFill>
                <a:latin typeface="Arial Black"/>
                <a:cs typeface="Arial Black"/>
              </a:rPr>
              <a:t>,</a:t>
            </a:r>
            <a:r>
              <a:rPr sz="2400" dirty="0">
                <a:solidFill>
                  <a:srgbClr val="00AF50"/>
                </a:solidFill>
                <a:latin typeface="Arial Black"/>
                <a:cs typeface="Arial Black"/>
              </a:rPr>
              <a:t>	</a:t>
            </a:r>
            <a:r>
              <a:rPr sz="2400" spc="120" dirty="0">
                <a:solidFill>
                  <a:srgbClr val="00AF50"/>
                </a:solidFill>
                <a:latin typeface="Arial Black"/>
                <a:cs typeface="Arial Black"/>
              </a:rPr>
              <a:t>2025</a:t>
            </a:r>
            <a:endParaRPr sz="2400" dirty="0">
              <a:latin typeface="Arial Black"/>
              <a:cs typeface="Arial Black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4102756"/>
            <a:ext cx="6989064" cy="19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41953" y="1074639"/>
            <a:ext cx="12115800" cy="5094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package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powerful and efficient R package for data manipulation and transformation. It is part of the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ecosystem and provides a set of intuitive functions that make it easy to work with data frames and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tibbles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designed to handle large datasets efficiently and follows a grammar of data manipulation using functions called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verbs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syntax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Uses human-readable functions that make code easy to understand.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Optimized performance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Uses C++ backend for faster computations.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with multiple data sources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Supports data frames,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tibbles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databases.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Chainable operations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Uses the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 operator (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%&gt;%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perform multiple operations in sequence.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41953" y="1074639"/>
            <a:ext cx="12115800" cy="556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package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Verbs (Functions)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package provides key functions (verbs) that facilitate data manipulation: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Selects rows based on conditions.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Selects specific columns.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mutate()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Creates or modifies new variables.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arrange()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Sorts rows based on column values.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summarise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Aggregates data using summary statistics.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group_by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Groups data to perform grouped operations.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Merges datasets (e.g.,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left_join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inner_join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80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63795" y="834059"/>
            <a:ext cx="12115800" cy="518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package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filter() Function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filter()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 in </a:t>
            </a: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subset rows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 data frame (or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tibble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based on specified conditions. It allows users to extract only the rows that meet certain criteria, making it useful for data exploration, cleaning, and preprocessing.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filter()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Condition-Based Row Selection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Filters rows where conditions are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removing others.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Conditions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filtering using multiple conditions combined with logical operators (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with Relational and Logical Operators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 operators like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Well with Pipe (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%&gt;%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used in sequence with other </a:t>
            </a: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2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(Sample R code for filter()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F3868-F4E3-4E63-844D-8C555FD1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408"/>
            <a:ext cx="12192000" cy="616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0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(Sample R code for filter()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E68834-1A4E-47C4-81DA-E24ED6253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12192000" cy="620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2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63795" y="834059"/>
            <a:ext cx="12115800" cy="539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package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select() Function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select()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 in </a:t>
            </a: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choose specific columns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a dataset. It helps in reducing unnecessary variables and improving readability, efficiency, and performance when working with large datasets.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select()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 Selection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Extracts specific columns based on names or positions.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Exclusion of Columns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Removes unwanted columns using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(minus sign).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 Using Helper Functions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pattern-based column selection.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with Pipe (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%&gt;%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Easily combined with other </a:t>
            </a: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7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(select() function R code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EEE49-34D6-4939-BD0E-7250CD40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382"/>
            <a:ext cx="12192000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8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(More select() functions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180D2E-ADEA-4DD1-970E-4035068B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" y="690937"/>
            <a:ext cx="12183812" cy="565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6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(More select() functions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821872-265C-4DB2-BC86-6F902E4AE196}"/>
              </a:ext>
            </a:extLst>
          </p:cNvPr>
          <p:cNvSpPr txBox="1"/>
          <p:nvPr/>
        </p:nvSpPr>
        <p:spPr>
          <a:xfrm>
            <a:off x="516254" y="1219200"/>
            <a:ext cx="11675745" cy="2491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select()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 is an essential tool for column manipulation in R. It allows for flexible and efficient column selection, renaming, reordering, and exclusion. Using helper functions like </a:t>
            </a:r>
            <a:r>
              <a:rPr lang="en-US" sz="2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starts_with</a:t>
            </a:r>
            <a:r>
              <a:rPr lang="en-US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contains()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everything()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users can quickly refine datasets for analysis.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32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Mutate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A7ACB03-E02D-4089-9A02-153F73B6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6" y="899803"/>
            <a:ext cx="11705273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mutate() function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new columns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modify existing ones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a dataset. It allows users to perform calculations, transformations, and feature engineering while keeping the original dataset structure intact.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mutate()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Creating New Columns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new variables based on existing ones.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Modifying Existing Columns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Overwrites column values with updated calculations.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Column Transformations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Supports multiple operations in a single call.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Mutations with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if_else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or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case_when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 logic-based transformations.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with transmute()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 to mutate(), but returns only the mutated columns.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18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Mutate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E27597-E94E-4FA7-B44A-1C2C964F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12192000" cy="617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87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Mutate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8831C1-8F70-46A0-8175-FBD4570C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799"/>
            <a:ext cx="12192000" cy="55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29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Mutate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411BB9D-5D2E-4EED-846E-958570BDF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89" y="1141512"/>
            <a:ext cx="114008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mutate() function in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 tool for data transformation.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the creation of new variables, modification of existing ones,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computations.  For cases where only the transformed columns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needed, transmute() is a great alternative.</a:t>
            </a:r>
          </a:p>
        </p:txBody>
      </p:sp>
    </p:spTree>
    <p:extLst>
      <p:ext uri="{BB962C8B-B14F-4D97-AF65-F5344CB8AC3E}">
        <p14:creationId xmlns:p14="http://schemas.microsoft.com/office/powerpoint/2010/main" val="163489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Arrange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A41BE7E-3EBD-4D4E-A011-37388382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4878"/>
            <a:ext cx="11811000" cy="547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arrange() function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 rows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 dataset based on one or more columns. Sorting can be done in ascending (default) or descending order. It is useful for organizing data for better readability and analysis.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arrange()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Sorts Data in Ascending Order (Default)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Orders rows from smallest to largest.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Sorts Data in Descending Order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desc() to reverse the order.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Sorts by Multiple Columns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Prioritizes sorting based on multiple variables.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Handles Missing Values (NA)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Places NA values at the end by default.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Compatible with Piping (%&gt;%)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Works well with other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62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Arrange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7F871-BF88-4364-AD6D-81006B63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799"/>
            <a:ext cx="12191999" cy="559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1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Arrange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7E62BE-717C-495D-8B73-32B7C16E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2826"/>
            <a:ext cx="12198163" cy="559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21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Arrange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801E2B-6C76-44CF-A972-25EE90DC3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60" y="1066800"/>
            <a:ext cx="113877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arrange() function in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essential for sorting datasets in R. It provides flexibility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ascending and descending orders,  supports multiple column sorting, and handles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 values efficiently.  It is particularly useful when preparing datasets for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further analysis. </a:t>
            </a:r>
          </a:p>
        </p:txBody>
      </p:sp>
    </p:spTree>
    <p:extLst>
      <p:ext uri="{BB962C8B-B14F-4D97-AF65-F5344CB8AC3E}">
        <p14:creationId xmlns:p14="http://schemas.microsoft.com/office/powerpoint/2010/main" val="107254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29677" y="74982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Summarize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801E2B-6C76-44CF-A972-25EE90DC3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0307"/>
            <a:ext cx="12192000" cy="552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summarize() function (or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summarise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the British spelling) in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 summary statistics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a dataset.  It reduces multiple rows into a single row (or a smaller subset) by applying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aggregation functions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mean, sum, count, min, max, and more.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of summarize()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Computes Aggregate Statistics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Performs calculations such as mean, sum, count, min, max, etc.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 Rows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Converts multiple rows into summarized values.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with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group_by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Summarizes data for each group separately.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 Multiple Summary Operations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multiple calculations in one call.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Compatible with Other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well with mutate(), filter(), arrange(), etc.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5385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Summarize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C4DC5-B3DA-420F-B07B-8A060A45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484"/>
            <a:ext cx="12192000" cy="614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45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Summarize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8995E0-8F4B-43CB-90C0-8EBD334F1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" y="769976"/>
            <a:ext cx="12189431" cy="54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83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Piping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4AA24D-ECE6-49A5-8D88-DD59A448E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92561"/>
            <a:ext cx="11658600" cy="4072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Piping (%&gt;%) in 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Piping (%&gt;%) is a core feature of the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introduced by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magrittr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package and widely used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way to improve code readability by allowing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sequential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without nesting functions inside each 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Piping (%&gt;%)?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pipe operator %&gt;% takes the output of one function and passes it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the first argument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next function.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makes the code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readable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reduces the need for intermediate variables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05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Piping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D73D57-312F-4BE6-9A46-82AE4AFBF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808"/>
            <a:ext cx="12192000" cy="3434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471EB9-E597-486B-863A-727A9529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4800"/>
            <a:ext cx="12192000" cy="29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86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Piping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5C92B8-7FE5-44A2-8CB5-5BE9E84F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361"/>
            <a:ext cx="12192000" cy="18900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2160CD-C935-48F7-B05B-9F9E91FD1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2592990"/>
            <a:ext cx="12268200" cy="373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18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Multiple Piping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74E96-7625-4F58-B9ED-02B0D8913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683"/>
            <a:ext cx="12192000" cy="541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14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: Results of Multiple Piping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461B83-D4DF-4A62-B0F8-B9A7F5DF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895"/>
            <a:ext cx="12192000" cy="35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7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3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Manipulation with </a:t>
            </a:r>
            <a:r>
              <a:rPr lang="en-US" dirty="0" err="1"/>
              <a:t>dyply</a:t>
            </a:r>
            <a:r>
              <a:rPr lang="en-US" dirty="0"/>
              <a:t> (%&gt;%)  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4A71A-DFCB-4143-8635-E1FBC28BC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47799"/>
            <a:ext cx="11963400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4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4752" y="4275861"/>
            <a:ext cx="422148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7200" b="1" spc="-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7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67" y="304800"/>
            <a:ext cx="8433816" cy="3471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0952" y="3652215"/>
            <a:ext cx="4726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spc="-2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alibri"/>
                <a:cs typeface="Calibri"/>
                <a:hlinkClick r:id="rId3"/>
              </a:rPr>
              <a:t>https://cdam.chuka.ac.ke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CENTER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FOR</a:t>
            </a:r>
            <a:r>
              <a:rPr sz="1250" b="1" i="1" spc="7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DATA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ANALYTICS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AND 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MODELING,</a:t>
            </a:r>
            <a:r>
              <a:rPr sz="1250" b="1" i="1" spc="8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CHUKA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65" dirty="0">
                <a:solidFill>
                  <a:srgbClr val="FFC000"/>
                </a:solidFill>
                <a:latin typeface="Arial"/>
                <a:cs typeface="Arial"/>
              </a:rPr>
              <a:t>UNIVERSITY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6584086"/>
            <a:ext cx="46545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28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</TotalTime>
  <Words>1635</Words>
  <Application>Microsoft Office PowerPoint</Application>
  <PresentationFormat>Widescreen</PresentationFormat>
  <Paragraphs>211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Courier New</vt:lpstr>
      <vt:lpstr>Symbol</vt:lpstr>
      <vt:lpstr>Times New Roman</vt:lpstr>
      <vt:lpstr>Office Theme</vt:lpstr>
      <vt:lpstr> INTRODUCTION TO STATISTICAL DATA ANALYSIS USING R &amp; RSTUDIO</vt:lpstr>
      <vt:lpstr>Session 3: Data Manipulation with dyply</vt:lpstr>
      <vt:lpstr>Session 3: Data Manipulation with dyply</vt:lpstr>
      <vt:lpstr>Session 3: Data Manipulation with dyply</vt:lpstr>
      <vt:lpstr>Session 3: Data Manipulation with dyply (Sample R code for filter()</vt:lpstr>
      <vt:lpstr>Session 3: Data Manipulation with dyply (Sample R code for filter()</vt:lpstr>
      <vt:lpstr>Session 3: Data Manipulation with dyply</vt:lpstr>
      <vt:lpstr>Session 3: Data Manipulation with dyply (select() function R code</vt:lpstr>
      <vt:lpstr>Session 3: Data Manipulation with dyply (More select() functions</vt:lpstr>
      <vt:lpstr>Session 3: Data Manipulation with dyply (More select() functions</vt:lpstr>
      <vt:lpstr>Session 3: Data Manipulation with dyply: Mutate </vt:lpstr>
      <vt:lpstr>Session 3: Data Manipulation with dyply: Mutate </vt:lpstr>
      <vt:lpstr>Session 3: Data Manipulation with dyply: Mutate </vt:lpstr>
      <vt:lpstr>Session 3: Data Manipulation with dyply: Mutate </vt:lpstr>
      <vt:lpstr>Session 3: Data Manipulation with dyply: Arrange </vt:lpstr>
      <vt:lpstr>Session 3: Data Manipulation with dyply: Arrange </vt:lpstr>
      <vt:lpstr>Session 3: Data Manipulation with dyply: Arrange </vt:lpstr>
      <vt:lpstr>Session 3: Data Manipulation with dyply: Arrange </vt:lpstr>
      <vt:lpstr>Session 3: Data Manipulation with dyply: Summarize </vt:lpstr>
      <vt:lpstr>Session 3: Data Manipulation with dyply: Summarize </vt:lpstr>
      <vt:lpstr>Session 3: Data Manipulation with dyply: Summarize </vt:lpstr>
      <vt:lpstr>Session 3: Data Manipulation with dyply: Piping (%&gt;%)  </vt:lpstr>
      <vt:lpstr>Session 3: Data Manipulation with dyply: Piping (%&gt;%)  </vt:lpstr>
      <vt:lpstr>Session 3: Data Manipulation with dyply: Piping (%&gt;%)  </vt:lpstr>
      <vt:lpstr>Session 3: Data Manipulation with dyply: Multiple Piping (%&gt;%)  </vt:lpstr>
      <vt:lpstr>Session 3: Data Manipulation with dyply: Results of Multiple Piping (%&gt;%)  </vt:lpstr>
      <vt:lpstr>Session 3: Data Manipulation with dyply (%&gt;%)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QUALTRICS AS A TOOL FOR  BASIC STATISTICAL ANALYSIS</dc:title>
  <dc:creator>Scientist</dc:creator>
  <cp:lastModifiedBy>lumumba victor</cp:lastModifiedBy>
  <cp:revision>18</cp:revision>
  <dcterms:created xsi:type="dcterms:W3CDTF">2025-02-11T06:34:41Z</dcterms:created>
  <dcterms:modified xsi:type="dcterms:W3CDTF">2025-02-17T16:21:13Z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2025-02-11T00:00:00Z</vt:filetime>
  </property>
  <property fmtid="{D5CDD505-2E9C-101B-9397-08002B2CF9AE}" pid="5" name="Producer">
    <vt:lpwstr>Microsoft® PowerPoint® 2016</vt:lpwstr>
  </property>
</Properties>
</file>