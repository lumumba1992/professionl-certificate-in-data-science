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80" r:id="rId16"/>
    <p:sldId id="276" r:id="rId17"/>
    <p:sldId id="277" r:id="rId18"/>
    <p:sldId id="278" r:id="rId19"/>
    <p:sldId id="279" r:id="rId20"/>
    <p:sldId id="281" r:id="rId21"/>
    <p:sldId id="286" r:id="rId22"/>
    <p:sldId id="282" r:id="rId23"/>
    <p:sldId id="283" r:id="rId24"/>
    <p:sldId id="285" r:id="rId25"/>
    <p:sldId id="258" r:id="rId26"/>
    <p:sldId id="259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67789-BA60-4E8A-A29E-029CA43BB9E3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89186-947C-449E-9F98-4F0498059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99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89186-947C-449E-9F98-4F049805983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53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89186-947C-449E-9F98-4F04980598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6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89186-947C-449E-9F98-4F049805983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22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89186-947C-449E-9F98-4F049805983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40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89186-947C-449E-9F98-4F04980598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51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89186-947C-449E-9F98-4F04980598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09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89186-947C-449E-9F98-4F049805983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40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89186-947C-449E-9F98-4F049805983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49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89186-947C-449E-9F98-4F049805983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94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9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8952" y="0"/>
                </a:moveTo>
                <a:lnTo>
                  <a:pt x="0" y="0"/>
                </a:lnTo>
                <a:lnTo>
                  <a:pt x="0" y="457199"/>
                </a:lnTo>
                <a:lnTo>
                  <a:pt x="12188952" y="457199"/>
                </a:lnTo>
                <a:lnTo>
                  <a:pt x="12188952" y="0"/>
                </a:lnTo>
                <a:close/>
              </a:path>
            </a:pathLst>
          </a:custGeom>
          <a:solidFill>
            <a:srgbClr val="C72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8952" y="0"/>
                </a:moveTo>
                <a:lnTo>
                  <a:pt x="0" y="0"/>
                </a:lnTo>
                <a:lnTo>
                  <a:pt x="0" y="64007"/>
                </a:lnTo>
                <a:lnTo>
                  <a:pt x="12188952" y="64007"/>
                </a:lnTo>
                <a:lnTo>
                  <a:pt x="12188952" y="0"/>
                </a:lnTo>
                <a:close/>
              </a:path>
            </a:pathLst>
          </a:custGeom>
          <a:solidFill>
            <a:srgbClr val="E22C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0462" y="272033"/>
            <a:ext cx="5873115" cy="329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FF0000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17250" y="6577076"/>
            <a:ext cx="15747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dam.chuka.ac.ke/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8240" y="40386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457200"/>
            <a:ext cx="10591799" cy="1196866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 indent="390525" algn="ctr">
              <a:lnSpc>
                <a:spcPts val="2860"/>
              </a:lnSpc>
              <a:spcBef>
                <a:spcPts val="620"/>
              </a:spcBef>
            </a:pPr>
            <a:br>
              <a:rPr lang="en-US" sz="2800" spc="-50" dirty="0"/>
            </a:br>
            <a:r>
              <a:rPr sz="2800" spc="-50" dirty="0"/>
              <a:t>INTRODUCTION</a:t>
            </a:r>
            <a:r>
              <a:rPr sz="2800" spc="-195" dirty="0"/>
              <a:t> </a:t>
            </a:r>
            <a:r>
              <a:rPr sz="2800" spc="-10" dirty="0"/>
              <a:t>TO</a:t>
            </a:r>
            <a:r>
              <a:rPr sz="2800" spc="-200" dirty="0"/>
              <a:t> </a:t>
            </a:r>
            <a:r>
              <a:rPr sz="2800" spc="-10" dirty="0"/>
              <a:t>STATISTICAL </a:t>
            </a:r>
            <a:r>
              <a:rPr sz="2800" spc="-175" dirty="0"/>
              <a:t>DATA</a:t>
            </a:r>
            <a:r>
              <a:rPr sz="2800" spc="-130" dirty="0"/>
              <a:t> </a:t>
            </a:r>
            <a:r>
              <a:rPr sz="2800" spc="-95" dirty="0"/>
              <a:t>ANALYSIS</a:t>
            </a:r>
            <a:r>
              <a:rPr lang="en-US" sz="2800" spc="-155" dirty="0"/>
              <a:t> </a:t>
            </a:r>
            <a:r>
              <a:rPr sz="2800" spc="-25" dirty="0"/>
              <a:t>USING</a:t>
            </a:r>
            <a:r>
              <a:rPr sz="2800" spc="-114" dirty="0"/>
              <a:t> </a:t>
            </a:r>
            <a:r>
              <a:rPr sz="2800" dirty="0"/>
              <a:t>R</a:t>
            </a:r>
            <a:r>
              <a:rPr sz="2800" spc="-95" dirty="0"/>
              <a:t> </a:t>
            </a:r>
            <a:r>
              <a:rPr sz="2800" dirty="0"/>
              <a:t>&amp;</a:t>
            </a:r>
            <a:r>
              <a:rPr sz="2800" spc="-95" dirty="0"/>
              <a:t> </a:t>
            </a:r>
            <a:r>
              <a:rPr sz="2800" spc="-25" dirty="0"/>
              <a:t>RSTUDIO</a:t>
            </a:r>
            <a:endParaRPr sz="2800" dirty="0"/>
          </a:p>
        </p:txBody>
      </p:sp>
      <p:sp>
        <p:nvSpPr>
          <p:cNvPr id="4" name="object 4"/>
          <p:cNvSpPr txBox="1"/>
          <p:nvPr/>
        </p:nvSpPr>
        <p:spPr>
          <a:xfrm>
            <a:off x="2438400" y="2066397"/>
            <a:ext cx="6705599" cy="2131353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2500" b="1" i="1" spc="120" dirty="0">
                <a:latin typeface="Arial"/>
                <a:cs typeface="Arial"/>
              </a:rPr>
              <a:t>LUMUMBA WANDERA VICTOR </a:t>
            </a:r>
          </a:p>
          <a:p>
            <a:pPr marL="12700" algn="ctr">
              <a:lnSpc>
                <a:spcPct val="100000"/>
              </a:lnSpc>
              <a:spcBef>
                <a:spcPts val="1260"/>
              </a:spcBef>
              <a:tabLst>
                <a:tab pos="523240" algn="l"/>
                <a:tab pos="1057910" algn="l"/>
              </a:tabLst>
            </a:pPr>
            <a:r>
              <a:rPr lang="en-US" sz="2500" b="1" i="1" spc="120" dirty="0">
                <a:latin typeface="Arial"/>
                <a:cs typeface="Arial"/>
              </a:rPr>
              <a:t>(M.Sc. Applied Statistics)</a:t>
            </a:r>
            <a:endParaRPr sz="2500" dirty="0">
              <a:latin typeface="Arial"/>
              <a:cs typeface="Arial"/>
            </a:endParaRPr>
          </a:p>
          <a:p>
            <a:pPr marL="18415" algn="ctr">
              <a:lnSpc>
                <a:spcPct val="100000"/>
              </a:lnSpc>
              <a:spcBef>
                <a:spcPts val="1085"/>
              </a:spcBef>
              <a:tabLst>
                <a:tab pos="1932305" algn="l"/>
              </a:tabLst>
            </a:pPr>
            <a:r>
              <a:rPr lang="en-US" sz="2400" spc="155">
                <a:solidFill>
                  <a:srgbClr val="00AF50"/>
                </a:solidFill>
                <a:latin typeface="Arial Black"/>
                <a:cs typeface="Arial Black"/>
              </a:rPr>
              <a:t>11</a:t>
            </a:r>
            <a:r>
              <a:rPr lang="en-US" sz="2400" spc="155" baseline="30000">
                <a:solidFill>
                  <a:srgbClr val="00AF50"/>
                </a:solidFill>
                <a:latin typeface="Arial Black"/>
                <a:cs typeface="Arial Black"/>
              </a:rPr>
              <a:t>th</a:t>
            </a:r>
            <a:r>
              <a:rPr lang="en-US" sz="2400" spc="155">
                <a:solidFill>
                  <a:srgbClr val="00AF50"/>
                </a:solidFill>
                <a:latin typeface="Arial Black"/>
                <a:cs typeface="Arial Black"/>
              </a:rPr>
              <a:t> </a:t>
            </a:r>
            <a:r>
              <a:rPr sz="2400" spc="155">
                <a:solidFill>
                  <a:srgbClr val="00AF50"/>
                </a:solidFill>
                <a:latin typeface="Arial Black"/>
                <a:cs typeface="Arial Black"/>
              </a:rPr>
              <a:t>February</a:t>
            </a:r>
            <a:r>
              <a:rPr sz="2400" spc="-35">
                <a:solidFill>
                  <a:srgbClr val="00AF50"/>
                </a:solidFill>
                <a:latin typeface="Arial Black"/>
                <a:cs typeface="Arial Black"/>
              </a:rPr>
              <a:t>,</a:t>
            </a:r>
            <a:r>
              <a:rPr sz="2400" dirty="0">
                <a:solidFill>
                  <a:srgbClr val="00AF50"/>
                </a:solidFill>
                <a:latin typeface="Arial Black"/>
                <a:cs typeface="Arial Black"/>
              </a:rPr>
              <a:t>	</a:t>
            </a:r>
            <a:r>
              <a:rPr sz="2400" spc="120" dirty="0">
                <a:solidFill>
                  <a:srgbClr val="00AF50"/>
                </a:solidFill>
                <a:latin typeface="Arial Black"/>
                <a:cs typeface="Arial Black"/>
              </a:rPr>
              <a:t>2025</a:t>
            </a:r>
            <a:endParaRPr sz="2400" dirty="0">
              <a:latin typeface="Arial Black"/>
              <a:cs typeface="Arial Black"/>
            </a:endParaRPr>
          </a:p>
          <a:p>
            <a:pPr marL="1841500">
              <a:lnSpc>
                <a:spcPct val="100000"/>
              </a:lnSpc>
              <a:spcBef>
                <a:spcPts val="1200"/>
              </a:spcBef>
            </a:pPr>
            <a:r>
              <a:rPr sz="2400" b="1" spc="-5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967" y="4102756"/>
            <a:ext cx="6989064" cy="1908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422275" y="1386873"/>
            <a:ext cx="10620375" cy="397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Importation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Files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Commonly used format for structured data.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imported using base R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readr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package for efficiency.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Files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space- or tab-separated.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specifying delimiters.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 Files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 does not natively support Excel files.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readxl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package is commonly used for importing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.xlsx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SPSS, Stata, and SAS Files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Imported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foreign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haven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package.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haven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package is preferred for modern data formats.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797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228600" y="1143000"/>
            <a:ext cx="10620375" cy="3979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Importation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Files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semi-structured data, often in web applications.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imported using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jsonlite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package.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connecting to a database using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package.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queries can be used to extract specific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 can read data directly from URLs.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real-time or open-source datasets.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Inspection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 check structure, missing values, and correctness after importation.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Would you like a more detailed summary on any of these?</a:t>
            </a: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7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10462" y="272033"/>
            <a:ext cx="9393529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11430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228600" y="1143000"/>
            <a:ext cx="10620375" cy="5895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Sample R Codes for csv, table, excel and </a:t>
            </a:r>
            <a:r>
              <a:rPr lang="en-US" sz="2800" b="1" dirty="0" err="1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spss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29B679-0CBA-4BC1-A16B-13E1F0DF7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1680423"/>
            <a:ext cx="9296400" cy="42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71931" y="34747"/>
            <a:ext cx="10448138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699694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666303" y="481494"/>
            <a:ext cx="10620375" cy="5895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Sample R Codes for csv, table, excel and </a:t>
            </a:r>
            <a:r>
              <a:rPr lang="en-US" sz="2800" b="1" dirty="0" err="1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spss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Files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b="1" dirty="0">
              <a:solidFill>
                <a:schemeClr val="tx2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45E299-B1C3-4602-B537-9D046149E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12" y="990600"/>
            <a:ext cx="10586985" cy="51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3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1" y="697006"/>
            <a:ext cx="11107420" cy="5246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Handling Missing Values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Numeric Data: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be replaced with the mean, median, or mode.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Alternatively, interpolation or predictive modeling can be used for imputation.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Categorical Data: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 be replaced with the most frequent category (mode).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Missing categories can be treated as a separate category if meaningful.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Dropping Missing Values: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missing values are excessive, removing affected rows or columns may be necessary.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254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1" y="697006"/>
            <a:ext cx="11107420" cy="544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Handling Outliers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Detection Methods: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summary statistics like interquartile range (IQR).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standard deviation and Z-scores.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Treatment Approaches: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Removing extreme outliers if they are errors.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Transforming data (e.g., logarithmic transformation) to minimize their effect.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Capping or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Winsorization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 limit extreme values.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52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1" y="697006"/>
            <a:ext cx="11107420" cy="4920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Variables Transformation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Scaling and Normalization: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to bring numerical variables to a common scale (e.g., min-max scaling, standardization).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 and Power Transformations: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Helps in normalizing skewed data.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Categorical Encoding: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Converts categorical variables into numerical formats (e.g., one-hot encoding, label encoding).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24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697006"/>
            <a:ext cx="11734800" cy="5711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Renaming Columns, Removing Unnecessary Columns and Duplicates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Renaming Columns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Useful for improving readability and consistency in naming conventions.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Helps avoid conflicts with special characters or spaces in column names.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Removing Unnecessary Columns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 that are irrelevant or redundant should be dropped to enhance model performance.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Highly correlated variables may also be removed to avoid multicollinearity.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Duplicates Handling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Checking and removing duplicate rows prevents biases in analysis.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Sometimes, partial duplicates (same values except for minor variations) need special handling.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676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697006"/>
            <a:ext cx="11734800" cy="5484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Handling Inconsistency and Feature Engineering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Inconsistent Data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Standardizing categorical variables (e.g., ensuring "Male" and "M" are treated as the same).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Ensuring numerical variables follow a logical range (e.g., age values are non-negative).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Creating new meaningful variables from existing data (e.g., combining date columns to create age or tenure).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Binning continuous variables into categorical groups for better interpretability.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 Cleaning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Removing extra spaces, special characters, or converting text to lowercase for consistency.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Date and Time Variables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Converting date columns into appropriate formats.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Extracting useful features like year, month, day, or weekdays for analysis.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829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697006"/>
            <a:ext cx="11734800" cy="5484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Handling Inconsistency and Feature Engineering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Inconsistent Data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Standardizing categorical variables (e.g., ensuring "Male" and "M" are treated as the same).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Ensuring numerical variables follow a logical range (e.g., age values are non-negative).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Creating new meaningful variables from existing data (e.g., combining date columns to create age or tenure).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Binning continuous variables into categorical groups for better interpretability.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String Cleaning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Removing extra spaces, special characters, or converting text to lowercase for consistency.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Handling Date and Time Variables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Converting date columns into appropriate formats.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Extracting useful features like year, month, day, or weekdays for analysis.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33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697006"/>
            <a:ext cx="11734800" cy="706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(Sample R Codes)</a:t>
            </a:r>
            <a:endParaRPr lang="en-US" sz="32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C067D3-F0B8-49A6-AD1E-9CB3D8E0A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71600"/>
            <a:ext cx="10831830" cy="428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06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697006"/>
            <a:ext cx="11734800" cy="706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(Sample Data)</a:t>
            </a:r>
            <a:endParaRPr lang="en-US" sz="32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7EE2AD-4E85-480D-BC09-64A07581F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639595"/>
            <a:ext cx="10468865" cy="285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77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697006"/>
            <a:ext cx="11734800" cy="706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(Sample R Codes)</a:t>
            </a:r>
            <a:endParaRPr lang="en-US" sz="32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0FFB3E-C8E4-4984-9D81-12A6178A3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48" y="1403546"/>
            <a:ext cx="10526594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27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697006"/>
            <a:ext cx="11734800" cy="52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(Sample R Codes) Alternative way of Handling Outliers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EB060B-17E6-4ECA-AEB5-FEBA2B221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26578"/>
            <a:ext cx="11107420" cy="442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3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697006"/>
            <a:ext cx="11734800" cy="706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(Sample R Codes)</a:t>
            </a:r>
            <a:endParaRPr lang="en-US" sz="32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B0A4C5-DD7E-4C9F-8B32-67CA714E6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1693942"/>
            <a:ext cx="11849065" cy="356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49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697006"/>
            <a:ext cx="11734800" cy="4305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Histogram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to visualize the distribution of a single numeric variable.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Helps identify skewness, modality (unimodal, bimodal), and presence of outliers.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Boxplot (Box-and-Whisker Plot)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Displays the distribution of a numeric variable and identifies outliers.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Useful for comparing distributions across different categories.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Scatter Plot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Shows relationships between two numeric variables.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Helps detect patterns, correlations, and potential outliers.</a:t>
            </a:r>
          </a:p>
        </p:txBody>
      </p:sp>
    </p:spTree>
    <p:extLst>
      <p:ext uri="{BB962C8B-B14F-4D97-AF65-F5344CB8AC3E}">
        <p14:creationId xmlns:p14="http://schemas.microsoft.com/office/powerpoint/2010/main" val="3186543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697006"/>
            <a:ext cx="11734800" cy="4640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Bar Chart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for visualizing categorical variables.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Shows frequency or proportion of different categories.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 Heatmap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Represents correlations between multiple variables.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Helps identify multicollinearity and patterns in large datasets.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 Pair Plot (Scatterplot Matrix)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Displays relationships between multiple numeric variables in one view.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Useful for detecting patterns and correlations in high-dimensional data.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83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533400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75863" y="591821"/>
            <a:ext cx="11734800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 (Sample R codes) Summary Statistics</a:t>
            </a:r>
            <a:endParaRPr lang="en-US" sz="16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10A85F-60C6-4D4B-9A83-8173D3464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62" y="1195916"/>
            <a:ext cx="9149137" cy="507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900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389486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409179"/>
            <a:ext cx="11734800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 (Sample Data)</a:t>
            </a:r>
            <a:endParaRPr lang="en-US" sz="16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FECDAF-9C69-494F-81C6-8519DC8BF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050294"/>
            <a:ext cx="11290372" cy="466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35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389486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409179"/>
            <a:ext cx="11734800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 (Sample R codes) Base Visuals</a:t>
            </a:r>
            <a:endParaRPr lang="en-US" sz="16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F039E8-1810-40CE-82FD-C36EFA7C5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0135"/>
            <a:ext cx="12192000" cy="588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63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389486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409179"/>
            <a:ext cx="11734800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 (Sample R codes) Advanced Visuals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Histogram, and Box plot (Whisker’s Plot)</a:t>
            </a:r>
            <a:endParaRPr lang="en-US" sz="12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EA026C-2A7B-47A0-8A9D-14233CA4A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80" y="1305112"/>
            <a:ext cx="10376920" cy="496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57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389486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409179"/>
            <a:ext cx="11734800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 (Sample R codes) Advanced Visuals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Scatter Plot and Bar Chart</a:t>
            </a:r>
            <a:endParaRPr lang="en-US" sz="12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A67C7-3846-48DA-AF0D-87AF71F8C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09" y="1378969"/>
            <a:ext cx="11140685" cy="494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5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324" y="6555130"/>
            <a:ext cx="465455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13579" y="6555130"/>
            <a:ext cx="316738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r>
              <a:rPr sz="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9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sz="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MODELING,</a:t>
            </a:r>
            <a:r>
              <a:rPr sz="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CHUKA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2650" y="6543547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6255" y="50476"/>
            <a:ext cx="1098994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lang="en-US" spc="-40" dirty="0"/>
              <a:t>2</a:t>
            </a:r>
            <a:r>
              <a:rPr dirty="0"/>
              <a:t>:</a:t>
            </a:r>
            <a:r>
              <a:rPr spc="-70" dirty="0"/>
              <a:t> </a:t>
            </a:r>
            <a:r>
              <a:rPr dirty="0"/>
              <a:t>Dat</a:t>
            </a:r>
            <a:r>
              <a:rPr lang="en-US" dirty="0"/>
              <a:t>a Importation, Cleaning and Exploratory Data Analysis (EDA)</a:t>
            </a:r>
            <a:endParaRPr spc="-10" dirty="0"/>
          </a:p>
        </p:txBody>
      </p:sp>
      <p:sp>
        <p:nvSpPr>
          <p:cNvPr id="6" name="object 6"/>
          <p:cNvSpPr/>
          <p:nvPr/>
        </p:nvSpPr>
        <p:spPr>
          <a:xfrm>
            <a:off x="516255" y="389486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1E6C4-F17A-4F9F-B53B-8AD73AD587B9}"/>
              </a:ext>
            </a:extLst>
          </p:cNvPr>
          <p:cNvSpPr txBox="1"/>
          <p:nvPr/>
        </p:nvSpPr>
        <p:spPr>
          <a:xfrm>
            <a:off x="304800" y="409179"/>
            <a:ext cx="11734800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 (Sample R codes) Advanced Visuals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Heatmap and Pairs Plot</a:t>
            </a:r>
            <a:endParaRPr lang="en-US" sz="1200" b="1" dirty="0">
              <a:solidFill>
                <a:schemeClr val="tx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D0F8DD-1808-4747-86D1-5B624A95E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39" y="1752600"/>
            <a:ext cx="11913761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7678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Session</a:t>
            </a:r>
            <a:r>
              <a:rPr spc="-40" dirty="0"/>
              <a:t> </a:t>
            </a:r>
            <a:r>
              <a:rPr dirty="0"/>
              <a:t>4:</a:t>
            </a:r>
            <a:r>
              <a:rPr spc="-70" dirty="0"/>
              <a:t> </a:t>
            </a:r>
            <a:r>
              <a:rPr dirty="0"/>
              <a:t>Data</a:t>
            </a:r>
            <a:r>
              <a:rPr spc="-75" dirty="0"/>
              <a:t> </a:t>
            </a:r>
            <a:r>
              <a:rPr dirty="0"/>
              <a:t>Visualization</a:t>
            </a:r>
            <a:r>
              <a:rPr spc="-4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spc="-10" dirty="0"/>
              <a:t>ggplot2</a:t>
            </a:r>
          </a:p>
        </p:txBody>
      </p:sp>
      <p:sp>
        <p:nvSpPr>
          <p:cNvPr id="3" name="object 3"/>
          <p:cNvSpPr/>
          <p:nvPr/>
        </p:nvSpPr>
        <p:spPr>
          <a:xfrm>
            <a:off x="591312" y="755904"/>
            <a:ext cx="10620375" cy="0"/>
          </a:xfrm>
          <a:custGeom>
            <a:avLst/>
            <a:gdLst/>
            <a:ahLst/>
            <a:cxnLst/>
            <a:rect l="l" t="t" r="r" b="b"/>
            <a:pathLst>
              <a:path w="10620375">
                <a:moveTo>
                  <a:pt x="0" y="0"/>
                </a:moveTo>
                <a:lnTo>
                  <a:pt x="10620121" y="0"/>
                </a:lnTo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2270" y="1234061"/>
            <a:ext cx="10967832" cy="16475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352546" y="6498421"/>
            <a:ext cx="5844540" cy="2520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CENTER</a:t>
            </a:r>
            <a:r>
              <a:rPr sz="1250" b="1" i="1" spc="4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dirty="0">
                <a:solidFill>
                  <a:srgbClr val="FFC000"/>
                </a:solidFill>
                <a:latin typeface="Arial"/>
                <a:cs typeface="Arial"/>
              </a:rPr>
              <a:t>FOR</a:t>
            </a:r>
            <a:r>
              <a:rPr sz="1250" b="1" i="1" spc="7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dirty="0">
                <a:solidFill>
                  <a:srgbClr val="FFC000"/>
                </a:solidFill>
                <a:latin typeface="Arial"/>
                <a:cs typeface="Arial"/>
              </a:rPr>
              <a:t>DATA</a:t>
            </a: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45" dirty="0">
                <a:solidFill>
                  <a:srgbClr val="FFC000"/>
                </a:solidFill>
                <a:latin typeface="Arial"/>
                <a:cs typeface="Arial"/>
              </a:rPr>
              <a:t>ANALYTICS</a:t>
            </a:r>
            <a:r>
              <a:rPr sz="1250" b="1" i="1" spc="7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AND </a:t>
            </a:r>
            <a:r>
              <a:rPr sz="1250" b="1" i="1" spc="55" dirty="0">
                <a:solidFill>
                  <a:srgbClr val="FFC000"/>
                </a:solidFill>
                <a:latin typeface="Arial"/>
                <a:cs typeface="Arial"/>
              </a:rPr>
              <a:t>MODELING,</a:t>
            </a:r>
            <a:r>
              <a:rPr sz="1250" b="1" i="1" spc="8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70" dirty="0">
                <a:solidFill>
                  <a:srgbClr val="FFC000"/>
                </a:solidFill>
                <a:latin typeface="Arial"/>
                <a:cs typeface="Arial"/>
              </a:rPr>
              <a:t>CHUKA</a:t>
            </a:r>
            <a:r>
              <a:rPr sz="1250" b="1" i="1" spc="5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65" dirty="0">
                <a:solidFill>
                  <a:srgbClr val="FFC000"/>
                </a:solidFill>
                <a:latin typeface="Arial"/>
                <a:cs typeface="Arial"/>
              </a:rPr>
              <a:t>UNIVERSITY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24" y="6584086"/>
            <a:ext cx="46545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25</a:t>
            </a:fld>
            <a:endParaRPr spc="-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4752" y="4275861"/>
            <a:ext cx="4221480" cy="1123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b="1" dirty="0">
                <a:solidFill>
                  <a:srgbClr val="FF0000"/>
                </a:solidFill>
                <a:latin typeface="Times New Roman"/>
                <a:cs typeface="Times New Roman"/>
              </a:rPr>
              <a:t>Thank</a:t>
            </a:r>
            <a:r>
              <a:rPr sz="7200" b="1" spc="-3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72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endParaRPr sz="72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967" y="304800"/>
            <a:ext cx="8433816" cy="34716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60952" y="3652215"/>
            <a:ext cx="47269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u="sng" spc="-2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Calibri"/>
                <a:cs typeface="Calibri"/>
                <a:hlinkClick r:id="rId3"/>
              </a:rPr>
              <a:t>https://cdam.chuka.ac.ke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52546" y="6498421"/>
            <a:ext cx="5844540" cy="2520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CENTER</a:t>
            </a:r>
            <a:r>
              <a:rPr sz="1250" b="1" i="1" spc="4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dirty="0">
                <a:solidFill>
                  <a:srgbClr val="FFC000"/>
                </a:solidFill>
                <a:latin typeface="Arial"/>
                <a:cs typeface="Arial"/>
              </a:rPr>
              <a:t>FOR</a:t>
            </a:r>
            <a:r>
              <a:rPr sz="1250" b="1" i="1" spc="7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dirty="0">
                <a:solidFill>
                  <a:srgbClr val="FFC000"/>
                </a:solidFill>
                <a:latin typeface="Arial"/>
                <a:cs typeface="Arial"/>
              </a:rPr>
              <a:t>DATA</a:t>
            </a: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45" dirty="0">
                <a:solidFill>
                  <a:srgbClr val="FFC000"/>
                </a:solidFill>
                <a:latin typeface="Arial"/>
                <a:cs typeface="Arial"/>
              </a:rPr>
              <a:t>ANALYTICS</a:t>
            </a:r>
            <a:r>
              <a:rPr sz="1250" b="1" i="1" spc="7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50" dirty="0">
                <a:solidFill>
                  <a:srgbClr val="FFC000"/>
                </a:solidFill>
                <a:latin typeface="Arial"/>
                <a:cs typeface="Arial"/>
              </a:rPr>
              <a:t>AND </a:t>
            </a:r>
            <a:r>
              <a:rPr sz="1250" b="1" i="1" spc="55" dirty="0">
                <a:solidFill>
                  <a:srgbClr val="FFC000"/>
                </a:solidFill>
                <a:latin typeface="Arial"/>
                <a:cs typeface="Arial"/>
              </a:rPr>
              <a:t>MODELING,</a:t>
            </a:r>
            <a:r>
              <a:rPr sz="1250" b="1" i="1" spc="8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70" dirty="0">
                <a:solidFill>
                  <a:srgbClr val="FFC000"/>
                </a:solidFill>
                <a:latin typeface="Arial"/>
                <a:cs typeface="Arial"/>
              </a:rPr>
              <a:t>CHUKA</a:t>
            </a:r>
            <a:r>
              <a:rPr sz="1250" b="1" i="1" spc="5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250" b="1" i="1" spc="65" dirty="0">
                <a:solidFill>
                  <a:srgbClr val="FFC000"/>
                </a:solidFill>
                <a:latin typeface="Arial"/>
                <a:cs typeface="Arial"/>
              </a:rPr>
              <a:t>UNIVERSITY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324" y="6584086"/>
            <a:ext cx="46545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65"/>
              </a:lnSpc>
            </a:pPr>
            <a:r>
              <a:rPr sz="900" spc="-10" dirty="0">
                <a:solidFill>
                  <a:srgbClr val="FFFFFF"/>
                </a:solidFill>
                <a:latin typeface="Calibri"/>
                <a:cs typeface="Calibri"/>
              </a:rPr>
              <a:t>2/8/2025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50" dirty="0"/>
              <a:t>26</a:t>
            </a:fld>
            <a:endParaRPr spc="-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9F2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</TotalTime>
  <Words>1683</Words>
  <Application>Microsoft Office PowerPoint</Application>
  <PresentationFormat>Widescreen</PresentationFormat>
  <Paragraphs>257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Black</vt:lpstr>
      <vt:lpstr>Arial Unicode MS</vt:lpstr>
      <vt:lpstr>Calibri</vt:lpstr>
      <vt:lpstr>Courier New</vt:lpstr>
      <vt:lpstr>Symbol</vt:lpstr>
      <vt:lpstr>Times New Roman</vt:lpstr>
      <vt:lpstr>Office Theme</vt:lpstr>
      <vt:lpstr> INTRODUCTION TO STATISTICAL DATA ANALYSIS USING R &amp; RSTUDIO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2: Data Importation, Cleaning and Exploratory Data Analysis (EDA)</vt:lpstr>
      <vt:lpstr>Session 4: Data Visualization with ggplot2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QUALTRICS AS A TOOL FOR  BASIC STATISTICAL ANALYSIS</dc:title>
  <dc:creator>Scientist</dc:creator>
  <cp:lastModifiedBy>lumumba victor</cp:lastModifiedBy>
  <cp:revision>13</cp:revision>
  <dcterms:created xsi:type="dcterms:W3CDTF">2025-02-11T06:34:41Z</dcterms:created>
  <dcterms:modified xsi:type="dcterms:W3CDTF">2025-02-13T15:53:23Z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2025-02-11T00:00:00Z</vt:filetime>
  </property>
  <property fmtid="{D5CDD505-2E9C-101B-9397-08002B2CF9AE}" pid="5" name="Producer">
    <vt:lpwstr>Microsoft® PowerPoint® 2016</vt:lpwstr>
  </property>
</Properties>
</file>