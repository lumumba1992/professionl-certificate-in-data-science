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3" r:id="rId11"/>
    <p:sldId id="282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7" r:id="rId22"/>
    <p:sldId id="298" r:id="rId23"/>
    <p:sldId id="299" r:id="rId24"/>
    <p:sldId id="300" r:id="rId25"/>
    <p:sldId id="293" r:id="rId26"/>
    <p:sldId id="294" r:id="rId27"/>
    <p:sldId id="295" r:id="rId28"/>
    <p:sldId id="296" r:id="rId29"/>
    <p:sldId id="259" r:id="rId3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467789-BA60-4E8A-A29E-029CA43BB9E3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89186-947C-449E-9F98-4F0498059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999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FF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9"/>
            <a:ext cx="12189460" cy="457200"/>
          </a:xfrm>
          <a:custGeom>
            <a:avLst/>
            <a:gdLst/>
            <a:ahLst/>
            <a:cxnLst/>
            <a:rect l="l" t="t" r="r" b="b"/>
            <a:pathLst>
              <a:path w="12189460" h="457200">
                <a:moveTo>
                  <a:pt x="12188952" y="0"/>
                </a:move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C72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89460" cy="64135"/>
          </a:xfrm>
          <a:custGeom>
            <a:avLst/>
            <a:gdLst/>
            <a:ahLst/>
            <a:cxnLst/>
            <a:rect l="l" t="t" r="r" b="b"/>
            <a:pathLst>
              <a:path w="12189460" h="64135">
                <a:moveTo>
                  <a:pt x="12188952" y="0"/>
                </a:moveTo>
                <a:lnTo>
                  <a:pt x="0" y="0"/>
                </a:lnTo>
                <a:lnTo>
                  <a:pt x="0" y="64007"/>
                </a:lnTo>
                <a:lnTo>
                  <a:pt x="12188952" y="64007"/>
                </a:lnTo>
                <a:lnTo>
                  <a:pt x="12188952" y="0"/>
                </a:lnTo>
                <a:close/>
              </a:path>
            </a:pathLst>
          </a:custGeom>
          <a:solidFill>
            <a:srgbClr val="E22C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9"/>
            <a:ext cx="12189460" cy="457200"/>
          </a:xfrm>
          <a:custGeom>
            <a:avLst/>
            <a:gdLst/>
            <a:ahLst/>
            <a:cxnLst/>
            <a:rect l="l" t="t" r="r" b="b"/>
            <a:pathLst>
              <a:path w="12189460" h="457200">
                <a:moveTo>
                  <a:pt x="12188952" y="0"/>
                </a:move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C72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89460" cy="64135"/>
          </a:xfrm>
          <a:custGeom>
            <a:avLst/>
            <a:gdLst/>
            <a:ahLst/>
            <a:cxnLst/>
            <a:rect l="l" t="t" r="r" b="b"/>
            <a:pathLst>
              <a:path w="12189460" h="64135">
                <a:moveTo>
                  <a:pt x="12188952" y="0"/>
                </a:moveTo>
                <a:lnTo>
                  <a:pt x="0" y="0"/>
                </a:lnTo>
                <a:lnTo>
                  <a:pt x="0" y="64007"/>
                </a:lnTo>
                <a:lnTo>
                  <a:pt x="12188952" y="64007"/>
                </a:lnTo>
                <a:lnTo>
                  <a:pt x="12188952" y="0"/>
                </a:lnTo>
                <a:close/>
              </a:path>
            </a:pathLst>
          </a:custGeom>
          <a:solidFill>
            <a:srgbClr val="E22C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10462" y="272033"/>
            <a:ext cx="5873115" cy="329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FF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17250" y="6577076"/>
            <a:ext cx="157479" cy="16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cdam.chuka.ac.ke/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58240" y="40386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0600" y="457200"/>
            <a:ext cx="10591799" cy="1196866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 marR="5080" indent="390525" algn="ctr">
              <a:lnSpc>
                <a:spcPts val="2860"/>
              </a:lnSpc>
              <a:spcBef>
                <a:spcPts val="620"/>
              </a:spcBef>
            </a:pPr>
            <a:br>
              <a:rPr lang="en-US" sz="2800" spc="-50" dirty="0"/>
            </a:br>
            <a:r>
              <a:rPr sz="2800" spc="-50" dirty="0"/>
              <a:t>INTRODUCTION</a:t>
            </a:r>
            <a:r>
              <a:rPr sz="2800" spc="-195" dirty="0"/>
              <a:t> </a:t>
            </a:r>
            <a:r>
              <a:rPr sz="2800" spc="-10" dirty="0"/>
              <a:t>TO</a:t>
            </a:r>
            <a:r>
              <a:rPr sz="2800" spc="-200" dirty="0"/>
              <a:t> </a:t>
            </a:r>
            <a:r>
              <a:rPr sz="2800" spc="-10" dirty="0"/>
              <a:t>STATISTICAL </a:t>
            </a:r>
            <a:r>
              <a:rPr sz="2800" spc="-175" dirty="0"/>
              <a:t>DATA</a:t>
            </a:r>
            <a:r>
              <a:rPr sz="2800" spc="-130" dirty="0"/>
              <a:t> </a:t>
            </a:r>
            <a:r>
              <a:rPr sz="2800" spc="-95" dirty="0"/>
              <a:t>ANALYSIS</a:t>
            </a:r>
            <a:r>
              <a:rPr lang="en-US" sz="2800" spc="-155" dirty="0"/>
              <a:t> </a:t>
            </a:r>
            <a:r>
              <a:rPr sz="2800" spc="-25" dirty="0"/>
              <a:t>USING</a:t>
            </a:r>
            <a:r>
              <a:rPr sz="2800" spc="-114" dirty="0"/>
              <a:t> </a:t>
            </a:r>
            <a:r>
              <a:rPr sz="2800" dirty="0"/>
              <a:t>R</a:t>
            </a:r>
            <a:r>
              <a:rPr sz="2800" spc="-95" dirty="0"/>
              <a:t> </a:t>
            </a:r>
            <a:r>
              <a:rPr sz="2800" dirty="0"/>
              <a:t>&amp;</a:t>
            </a:r>
            <a:r>
              <a:rPr sz="2800" spc="-95" dirty="0"/>
              <a:t> </a:t>
            </a:r>
            <a:r>
              <a:rPr sz="2800" spc="-25" dirty="0"/>
              <a:t>RSTUDIO</a:t>
            </a:r>
            <a:endParaRPr sz="2800" dirty="0"/>
          </a:p>
        </p:txBody>
      </p:sp>
      <p:sp>
        <p:nvSpPr>
          <p:cNvPr id="4" name="object 4"/>
          <p:cNvSpPr txBox="1"/>
          <p:nvPr/>
        </p:nvSpPr>
        <p:spPr>
          <a:xfrm>
            <a:off x="2438400" y="2066397"/>
            <a:ext cx="7543800" cy="2131353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60"/>
              </a:spcBef>
              <a:tabLst>
                <a:tab pos="523240" algn="l"/>
                <a:tab pos="1057910" algn="l"/>
              </a:tabLst>
            </a:pPr>
            <a:r>
              <a:rPr lang="en-US" sz="2500" b="1" i="1" spc="120" dirty="0">
                <a:latin typeface="Arial"/>
                <a:cs typeface="Arial"/>
              </a:rPr>
              <a:t>LUMUMBA WANDERA VICTOR </a:t>
            </a:r>
          </a:p>
          <a:p>
            <a:pPr marL="12700" algn="ctr">
              <a:lnSpc>
                <a:spcPct val="100000"/>
              </a:lnSpc>
              <a:spcBef>
                <a:spcPts val="1260"/>
              </a:spcBef>
              <a:tabLst>
                <a:tab pos="523240" algn="l"/>
                <a:tab pos="1057910" algn="l"/>
              </a:tabLst>
            </a:pPr>
            <a:r>
              <a:rPr lang="en-US" sz="2500" b="1" i="1" spc="120" dirty="0">
                <a:latin typeface="Arial"/>
                <a:cs typeface="Arial"/>
              </a:rPr>
              <a:t>(M.Sc. Applied Statistics)</a:t>
            </a:r>
            <a:endParaRPr sz="2500" dirty="0">
              <a:latin typeface="Arial"/>
              <a:cs typeface="Arial"/>
            </a:endParaRPr>
          </a:p>
          <a:p>
            <a:pPr marL="18415" algn="ctr">
              <a:lnSpc>
                <a:spcPct val="100000"/>
              </a:lnSpc>
              <a:spcBef>
                <a:spcPts val="1085"/>
              </a:spcBef>
              <a:tabLst>
                <a:tab pos="1932305" algn="l"/>
              </a:tabLst>
            </a:pPr>
            <a:r>
              <a:rPr lang="en-US" sz="2400" spc="155" dirty="0">
                <a:solidFill>
                  <a:srgbClr val="00AF50"/>
                </a:solidFill>
                <a:latin typeface="Arial Black"/>
                <a:cs typeface="Arial Black"/>
              </a:rPr>
              <a:t>19</a:t>
            </a:r>
            <a:r>
              <a:rPr lang="en-US" sz="2400" spc="155" baseline="30000" dirty="0">
                <a:solidFill>
                  <a:srgbClr val="00AF50"/>
                </a:solidFill>
                <a:latin typeface="Arial Black"/>
                <a:cs typeface="Arial Black"/>
              </a:rPr>
              <a:t>th</a:t>
            </a:r>
            <a:r>
              <a:rPr lang="en-US" sz="2400" spc="155" dirty="0">
                <a:solidFill>
                  <a:srgbClr val="00AF50"/>
                </a:solidFill>
                <a:latin typeface="Arial Black"/>
                <a:cs typeface="Arial Black"/>
              </a:rPr>
              <a:t> </a:t>
            </a:r>
            <a:r>
              <a:rPr sz="2400" spc="155" dirty="0">
                <a:solidFill>
                  <a:srgbClr val="00AF50"/>
                </a:solidFill>
                <a:latin typeface="Arial Black"/>
                <a:cs typeface="Arial Black"/>
              </a:rPr>
              <a:t>February</a:t>
            </a:r>
            <a:r>
              <a:rPr sz="2400" spc="-35" dirty="0">
                <a:solidFill>
                  <a:srgbClr val="00AF50"/>
                </a:solidFill>
                <a:latin typeface="Arial Black"/>
                <a:cs typeface="Arial Black"/>
              </a:rPr>
              <a:t>,</a:t>
            </a:r>
            <a:r>
              <a:rPr sz="2400" dirty="0">
                <a:solidFill>
                  <a:srgbClr val="00AF50"/>
                </a:solidFill>
                <a:latin typeface="Arial Black"/>
                <a:cs typeface="Arial Black"/>
              </a:rPr>
              <a:t>	</a:t>
            </a:r>
            <a:r>
              <a:rPr sz="2400" spc="120" dirty="0">
                <a:solidFill>
                  <a:srgbClr val="00AF50"/>
                </a:solidFill>
                <a:latin typeface="Arial Black"/>
                <a:cs typeface="Arial Black"/>
              </a:rPr>
              <a:t>2025</a:t>
            </a:r>
            <a:endParaRPr sz="2400" dirty="0">
              <a:latin typeface="Arial Black"/>
              <a:cs typeface="Arial Black"/>
            </a:endParaRPr>
          </a:p>
          <a:p>
            <a:pPr marL="1841500">
              <a:lnSpc>
                <a:spcPct val="100000"/>
              </a:lnSpc>
              <a:spcBef>
                <a:spcPts val="1200"/>
              </a:spcBef>
            </a:pPr>
            <a:r>
              <a:rPr sz="2400" b="1" spc="-5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1967" y="4102756"/>
            <a:ext cx="6989064" cy="1908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HYPOTHESIS TESTING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892CBE-869B-4949-A7F7-C3161FF4B870}"/>
              </a:ext>
            </a:extLst>
          </p:cNvPr>
          <p:cNvSpPr txBox="1"/>
          <p:nvPr/>
        </p:nvSpPr>
        <p:spPr>
          <a:xfrm>
            <a:off x="516255" y="1371612"/>
            <a:ext cx="1062037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Testing – Key Concepts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1️⃣ What is Hypothesis Testing?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testing is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method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to make inferences about a population based on a sample.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determine if a claim about a population parameter (mean, proportion, variance, etc.) is supported by evidence from the data.</a:t>
            </a:r>
          </a:p>
        </p:txBody>
      </p:sp>
    </p:spTree>
    <p:extLst>
      <p:ext uri="{BB962C8B-B14F-4D97-AF65-F5344CB8AC3E}">
        <p14:creationId xmlns:p14="http://schemas.microsoft.com/office/powerpoint/2010/main" val="935282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98585" y="166949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HYPOTHESIS TESTING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6858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7A0DEC-9566-46F9-B4CB-C4FA3571A161}"/>
              </a:ext>
            </a:extLst>
          </p:cNvPr>
          <p:cNvSpPr txBox="1"/>
          <p:nvPr/>
        </p:nvSpPr>
        <p:spPr>
          <a:xfrm>
            <a:off x="-36816" y="875983"/>
            <a:ext cx="123444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2️⃣ Key Terminology</a:t>
            </a:r>
          </a:p>
          <a:p>
            <a:r>
              <a:rPr lang="en-US" sz="2000" dirty="0"/>
              <a:t>✔ </a:t>
            </a:r>
            <a:r>
              <a:rPr lang="en-US" sz="2000" b="1" dirty="0"/>
              <a:t>Null Hypothesis (H0H_0H0​)</a:t>
            </a:r>
            <a:r>
              <a:rPr lang="en-US" sz="2000" dirty="0"/>
              <a:t> → The default assumption that there is </a:t>
            </a:r>
            <a:r>
              <a:rPr lang="en-US" sz="2000" b="1" dirty="0"/>
              <a:t>no effect, no difference, or no relationship</a:t>
            </a:r>
            <a:r>
              <a:rPr lang="en-US" sz="2000" dirty="0"/>
              <a:t> in the population. Example: "The average height of students is 170 cm."</a:t>
            </a:r>
          </a:p>
          <a:p>
            <a:r>
              <a:rPr lang="en-US" sz="2000" dirty="0"/>
              <a:t>✔ </a:t>
            </a:r>
            <a:r>
              <a:rPr lang="en-US" sz="2000" b="1" dirty="0"/>
              <a:t>Alternative Hypothesis (HAH_AHA​)</a:t>
            </a:r>
            <a:r>
              <a:rPr lang="en-US" sz="2000" dirty="0"/>
              <a:t> → The claim we test against the null hypothesis. It suggests a </a:t>
            </a:r>
            <a:r>
              <a:rPr lang="en-US" sz="2000" b="1" dirty="0"/>
              <a:t>difference, effect, or relationship</a:t>
            </a:r>
            <a:r>
              <a:rPr lang="en-US" sz="2000" dirty="0"/>
              <a:t> exists. Example: "The average height of students is NOT 170 cm."</a:t>
            </a:r>
          </a:p>
          <a:p>
            <a:r>
              <a:rPr lang="en-US" sz="2000" dirty="0"/>
              <a:t>✔ </a:t>
            </a:r>
            <a:r>
              <a:rPr lang="en-US" sz="2000" b="1" dirty="0"/>
              <a:t>Significance Level (α\alphaα)</a:t>
            </a:r>
            <a:r>
              <a:rPr lang="en-US" sz="2000" dirty="0"/>
              <a:t> → The probability of rejecting H0H_0H0​ when it is actually true. Common choices: </a:t>
            </a:r>
            <a:r>
              <a:rPr lang="en-US" sz="2000" b="1" dirty="0"/>
              <a:t>0.05 (5%)</a:t>
            </a:r>
            <a:r>
              <a:rPr lang="en-US" sz="2000" dirty="0"/>
              <a:t> or </a:t>
            </a:r>
            <a:r>
              <a:rPr lang="en-US" sz="2000" b="1" dirty="0"/>
              <a:t>0.01 (1%)</a:t>
            </a:r>
            <a:r>
              <a:rPr lang="en-US" sz="2000" dirty="0"/>
              <a:t>.</a:t>
            </a:r>
          </a:p>
          <a:p>
            <a:r>
              <a:rPr lang="en-US" sz="2000" dirty="0"/>
              <a:t>✔ </a:t>
            </a:r>
            <a:r>
              <a:rPr lang="en-US" sz="2000" b="1" dirty="0"/>
              <a:t>p-value</a:t>
            </a:r>
            <a:r>
              <a:rPr lang="en-US" sz="2000" dirty="0"/>
              <a:t> → The probability of obtaining the observed data (or more extreme) </a:t>
            </a:r>
            <a:r>
              <a:rPr lang="en-US" sz="2000" b="1" dirty="0"/>
              <a:t>if H0H_0H0​ is true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If </a:t>
            </a:r>
            <a:r>
              <a:rPr lang="en-US" sz="2000" b="1" dirty="0"/>
              <a:t>p &lt; α</a:t>
            </a:r>
            <a:r>
              <a:rPr lang="en-US" sz="2000" dirty="0"/>
              <a:t>, reject H0H_0H0​ (</a:t>
            </a:r>
            <a:r>
              <a:rPr lang="en-US" sz="2000" b="1" dirty="0"/>
              <a:t>significant result</a:t>
            </a:r>
            <a:r>
              <a:rPr lang="en-US" sz="20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If </a:t>
            </a:r>
            <a:r>
              <a:rPr lang="en-US" sz="2000" b="1" dirty="0"/>
              <a:t>p ≥ α</a:t>
            </a:r>
            <a:r>
              <a:rPr lang="en-US" sz="2000" dirty="0"/>
              <a:t>, fail to reject H0H_0H0​ (</a:t>
            </a:r>
            <a:r>
              <a:rPr lang="en-US" sz="2000" b="1" dirty="0"/>
              <a:t>not significant</a:t>
            </a:r>
            <a:r>
              <a:rPr lang="en-US" sz="2000" dirty="0"/>
              <a:t>).</a:t>
            </a:r>
          </a:p>
          <a:p>
            <a:r>
              <a:rPr lang="en-US" sz="2000" dirty="0"/>
              <a:t>✔ </a:t>
            </a:r>
            <a:r>
              <a:rPr lang="en-US" sz="2000" b="1" dirty="0"/>
              <a:t>Test Statistic</a:t>
            </a:r>
            <a:r>
              <a:rPr lang="en-US" sz="2000" dirty="0"/>
              <a:t> → A value calculated from sample data to determine if the null hypothesis should be rejected. Examples: </a:t>
            </a:r>
            <a:r>
              <a:rPr lang="en-US" sz="2000" b="1" dirty="0"/>
              <a:t>t-statistic, z-statistic, F-statistic, chi-square statistic</a:t>
            </a:r>
            <a:r>
              <a:rPr lang="en-US" sz="2000" dirty="0"/>
              <a:t>.</a:t>
            </a:r>
          </a:p>
          <a:p>
            <a:r>
              <a:rPr lang="en-US" sz="2000" dirty="0"/>
              <a:t>✔ </a:t>
            </a:r>
            <a:r>
              <a:rPr lang="en-US" sz="2000" b="1" dirty="0"/>
              <a:t>Type I Error (False Positive)</a:t>
            </a:r>
            <a:r>
              <a:rPr lang="en-US" sz="2000" dirty="0"/>
              <a:t> → Rejecting H0H_0H0​ when it is actually true (false alarm). Controlled by setting a low α (e.g., 0.05).</a:t>
            </a:r>
          </a:p>
          <a:p>
            <a:r>
              <a:rPr lang="en-US" sz="2000" dirty="0"/>
              <a:t>✔ </a:t>
            </a:r>
            <a:r>
              <a:rPr lang="en-US" sz="2000" b="1" dirty="0"/>
              <a:t>Type II Error (False Negative)</a:t>
            </a:r>
            <a:r>
              <a:rPr lang="en-US" sz="2000" dirty="0"/>
              <a:t> → Failing to reject H0H_0H0​ when it is actually false (missed detection). Reduced by increasing sample size.</a:t>
            </a:r>
          </a:p>
          <a:p>
            <a:r>
              <a:rPr lang="en-US" sz="2000" dirty="0"/>
              <a:t>✔ </a:t>
            </a:r>
            <a:r>
              <a:rPr lang="en-US" sz="2000" b="1" dirty="0"/>
              <a:t>Power of a Test</a:t>
            </a:r>
            <a:r>
              <a:rPr lang="en-US" sz="2000" dirty="0"/>
              <a:t> → The probability of correctly rejecting H0H_0H0​ when it is false (</a:t>
            </a:r>
            <a:r>
              <a:rPr lang="en-US" sz="2000" b="1" dirty="0"/>
              <a:t>1 - Type II Error</a:t>
            </a:r>
            <a:r>
              <a:rPr lang="en-US" sz="2000" dirty="0"/>
              <a:t>). A higher sample size increases power.</a:t>
            </a:r>
          </a:p>
        </p:txBody>
      </p:sp>
    </p:spTree>
    <p:extLst>
      <p:ext uri="{BB962C8B-B14F-4D97-AF65-F5344CB8AC3E}">
        <p14:creationId xmlns:p14="http://schemas.microsoft.com/office/powerpoint/2010/main" val="1901272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HYPOTHESIS TESTING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B46DE1-0938-4250-9ACD-2D3F9D4AB388}"/>
              </a:ext>
            </a:extLst>
          </p:cNvPr>
          <p:cNvSpPr txBox="1"/>
          <p:nvPr/>
        </p:nvSpPr>
        <p:spPr>
          <a:xfrm>
            <a:off x="516255" y="1600226"/>
            <a:ext cx="1068514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3️⃣ Steps in Hypothesis Testing</a:t>
            </a:r>
          </a:p>
          <a:p>
            <a:r>
              <a:rPr lang="en-US" sz="2400" dirty="0"/>
              <a:t>1️⃣ </a:t>
            </a:r>
            <a:r>
              <a:rPr lang="en-US" sz="2400" b="1" dirty="0"/>
              <a:t>State the Hypotheses:</a:t>
            </a:r>
            <a:r>
              <a:rPr lang="en-US" sz="2400" dirty="0"/>
              <a:t> Define H0H_0H0​ and HAH_AHA​.</a:t>
            </a:r>
            <a:br>
              <a:rPr lang="en-US" sz="2400" dirty="0"/>
            </a:br>
            <a:r>
              <a:rPr lang="en-US" sz="2400" dirty="0"/>
              <a:t>2️⃣ </a:t>
            </a:r>
            <a:r>
              <a:rPr lang="en-US" sz="2400" b="1" dirty="0"/>
              <a:t>Choose Significance Level (</a:t>
            </a:r>
            <a:r>
              <a:rPr lang="el-GR" sz="2400" b="1" dirty="0"/>
              <a:t>α\</a:t>
            </a:r>
            <a:r>
              <a:rPr lang="en-US" sz="2400" b="1" dirty="0"/>
              <a:t>alpha</a:t>
            </a:r>
            <a:r>
              <a:rPr lang="el-GR" sz="2400" b="1" dirty="0"/>
              <a:t>α)</a:t>
            </a:r>
            <a:r>
              <a:rPr lang="el-GR" sz="2400" dirty="0"/>
              <a:t> (</a:t>
            </a:r>
            <a:r>
              <a:rPr lang="en-US" sz="2400" dirty="0"/>
              <a:t>e.g., 0.05).</a:t>
            </a:r>
            <a:br>
              <a:rPr lang="en-US" sz="2400" dirty="0"/>
            </a:br>
            <a:r>
              <a:rPr lang="en-US" sz="2400" dirty="0"/>
              <a:t>3️⃣ </a:t>
            </a:r>
            <a:r>
              <a:rPr lang="en-US" sz="2400" b="1" dirty="0"/>
              <a:t>Select the Test &amp; Check Assumptions</a:t>
            </a:r>
            <a:r>
              <a:rPr lang="en-US" sz="2400" dirty="0"/>
              <a:t> (e.g., t-test, chi-square test).</a:t>
            </a:r>
            <a:br>
              <a:rPr lang="en-US" sz="2400" dirty="0"/>
            </a:br>
            <a:r>
              <a:rPr lang="en-US" sz="2400" dirty="0"/>
              <a:t>4️⃣ </a:t>
            </a:r>
            <a:r>
              <a:rPr lang="en-US" sz="2400" b="1" dirty="0"/>
              <a:t>Compute the Test Statistic &amp; p-value.</a:t>
            </a:r>
            <a:br>
              <a:rPr lang="en-US" sz="2400" dirty="0"/>
            </a:br>
            <a:r>
              <a:rPr lang="en-US" sz="2400" dirty="0"/>
              <a:t>5️⃣ </a:t>
            </a:r>
            <a:r>
              <a:rPr lang="en-US" sz="2400" b="1" dirty="0"/>
              <a:t>Interpret Results: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If </a:t>
            </a:r>
            <a:r>
              <a:rPr lang="en-US" sz="2400" b="1" dirty="0"/>
              <a:t>p &lt; </a:t>
            </a:r>
            <a:r>
              <a:rPr lang="el-GR" sz="2400" b="1" dirty="0"/>
              <a:t>α</a:t>
            </a:r>
            <a:r>
              <a:rPr lang="el-GR" sz="2400" dirty="0"/>
              <a:t>, </a:t>
            </a:r>
            <a:r>
              <a:rPr lang="en-US" sz="2400" dirty="0"/>
              <a:t>reject H_0 (significant difference).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If </a:t>
            </a:r>
            <a:r>
              <a:rPr lang="en-US" sz="2400" b="1" dirty="0"/>
              <a:t>p ≥ </a:t>
            </a:r>
            <a:r>
              <a:rPr lang="el-GR" sz="2400" b="1" dirty="0"/>
              <a:t>α</a:t>
            </a:r>
            <a:r>
              <a:rPr lang="el-GR" sz="2400" dirty="0"/>
              <a:t>, </a:t>
            </a:r>
            <a:r>
              <a:rPr lang="en-US" sz="2400" dirty="0"/>
              <a:t>fail to reject H_0​ (no evidence for a difference).</a:t>
            </a:r>
          </a:p>
        </p:txBody>
      </p:sp>
    </p:spTree>
    <p:extLst>
      <p:ext uri="{BB962C8B-B14F-4D97-AF65-F5344CB8AC3E}">
        <p14:creationId xmlns:p14="http://schemas.microsoft.com/office/powerpoint/2010/main" val="31360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HYPOTHESIS TESTING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9DB3A4-6648-479B-90B9-1B5916AD8C66}"/>
              </a:ext>
            </a:extLst>
          </p:cNvPr>
          <p:cNvSpPr txBox="1"/>
          <p:nvPr/>
        </p:nvSpPr>
        <p:spPr>
          <a:xfrm>
            <a:off x="516255" y="1447811"/>
            <a:ext cx="1062037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4️⃣ Types of Hypothesis Tests</a:t>
            </a:r>
          </a:p>
          <a:p>
            <a:r>
              <a:rPr lang="en-US" sz="2400" b="1" dirty="0"/>
              <a:t>1. Parametric Tests (Assume Normality)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One-Sample t-test</a:t>
            </a:r>
            <a:r>
              <a:rPr lang="en-US" sz="2400" dirty="0"/>
              <a:t> → Compare sample mean to a known population mean.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Two-Sample t-test</a:t>
            </a:r>
            <a:r>
              <a:rPr lang="en-US" sz="2400" dirty="0"/>
              <a:t> → Compare means of two independent groups.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Paired t-test</a:t>
            </a:r>
            <a:r>
              <a:rPr lang="en-US" sz="2400" dirty="0"/>
              <a:t> → Compare means before and after an intervention in the same group.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ANOVA</a:t>
            </a:r>
            <a:r>
              <a:rPr lang="en-US" sz="2400" dirty="0"/>
              <a:t> → Compare means of </a:t>
            </a:r>
            <a:r>
              <a:rPr lang="en-US" sz="2400" b="1" dirty="0"/>
              <a:t>more than two groups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0355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HYPOTHESIS TESTING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E4E60D-3181-4500-A7F0-F7CF003C8F66}"/>
              </a:ext>
            </a:extLst>
          </p:cNvPr>
          <p:cNvSpPr txBox="1"/>
          <p:nvPr/>
        </p:nvSpPr>
        <p:spPr>
          <a:xfrm>
            <a:off x="152400" y="1307910"/>
            <a:ext cx="1173479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2. Non-Parametric Tests (No Normality Assumption)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Wilcoxon Signed-Rank Test → Alternative to one-sample t-test.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Mann-Whitney U Test → Alternative to two-sample t-test.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Kruskal-Wallis Test → Alternative to ANOVA.</a:t>
            </a:r>
          </a:p>
          <a:p>
            <a:r>
              <a:rPr lang="en-US" sz="2400" b="1" dirty="0"/>
              <a:t>3. Tests for Categorical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Chi-Square Test → Tests association between categorical variables.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Fisher’s Exact Test → Used for small sample sizes when chi-square is inappropriate.</a:t>
            </a:r>
          </a:p>
          <a:p>
            <a:r>
              <a:rPr lang="en-US" sz="2400" b="1" dirty="0"/>
              <a:t>4. Tests for Variances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F-Test → Compares variances of two groups.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Levene’s</a:t>
            </a:r>
            <a:r>
              <a:rPr lang="en-US" sz="2400" dirty="0"/>
              <a:t> Test → Checks variance equality before using ANOVA.</a:t>
            </a:r>
          </a:p>
        </p:txBody>
      </p:sp>
    </p:spTree>
    <p:extLst>
      <p:ext uri="{BB962C8B-B14F-4D97-AF65-F5344CB8AC3E}">
        <p14:creationId xmlns:p14="http://schemas.microsoft.com/office/powerpoint/2010/main" val="3591836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HYPOTHESIS TESTING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691E5A-E790-414A-8244-D1A7AC9515FC}"/>
              </a:ext>
            </a:extLst>
          </p:cNvPr>
          <p:cNvSpPr txBox="1"/>
          <p:nvPr/>
        </p:nvSpPr>
        <p:spPr>
          <a:xfrm>
            <a:off x="152401" y="1524018"/>
            <a:ext cx="115062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5️⃣ One-Tailed vs. Two-Tailed Tests</a:t>
            </a:r>
          </a:p>
          <a:p>
            <a:r>
              <a:rPr lang="en-US" sz="2800" dirty="0"/>
              <a:t>✔ </a:t>
            </a:r>
            <a:r>
              <a:rPr lang="en-US" sz="2800" b="1" dirty="0"/>
              <a:t>One-Tailed Test</a:t>
            </a:r>
            <a:r>
              <a:rPr lang="en-US" sz="2800" dirty="0"/>
              <a:t> → Tests if the mean is </a:t>
            </a:r>
            <a:r>
              <a:rPr lang="en-US" sz="2800" b="1" dirty="0"/>
              <a:t>greater than OR less than</a:t>
            </a:r>
            <a:r>
              <a:rPr lang="en-US" sz="2800" dirty="0"/>
              <a:t> a value. Example: "Is the new drug </a:t>
            </a:r>
            <a:r>
              <a:rPr lang="en-US" sz="2800" b="1" dirty="0"/>
              <a:t>better</a:t>
            </a:r>
            <a:r>
              <a:rPr lang="en-US" sz="2800" dirty="0"/>
              <a:t> than the old one?"</a:t>
            </a:r>
            <a:br>
              <a:rPr lang="en-US" sz="2800" dirty="0"/>
            </a:br>
            <a:r>
              <a:rPr lang="en-US" sz="2800" dirty="0"/>
              <a:t>✔ </a:t>
            </a:r>
            <a:r>
              <a:rPr lang="en-US" sz="2800" b="1" dirty="0"/>
              <a:t>Two-Tailed Test</a:t>
            </a:r>
            <a:r>
              <a:rPr lang="en-US" sz="2800" dirty="0"/>
              <a:t> → Tests if the mean is </a:t>
            </a:r>
            <a:r>
              <a:rPr lang="en-US" sz="2800" b="1" dirty="0"/>
              <a:t>different</a:t>
            </a:r>
            <a:r>
              <a:rPr lang="en-US" sz="2800" dirty="0"/>
              <a:t> (higher or lower). Example: "Is the new drug </a:t>
            </a:r>
            <a:r>
              <a:rPr lang="en-US" sz="2800" b="1" dirty="0"/>
              <a:t>different</a:t>
            </a:r>
            <a:r>
              <a:rPr lang="en-US" sz="2800" dirty="0"/>
              <a:t> from the old one?"</a:t>
            </a:r>
          </a:p>
        </p:txBody>
      </p:sp>
    </p:spTree>
    <p:extLst>
      <p:ext uri="{BB962C8B-B14F-4D97-AF65-F5344CB8AC3E}">
        <p14:creationId xmlns:p14="http://schemas.microsoft.com/office/powerpoint/2010/main" val="1391620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HYPOTHESIS TESTING: One Sample T-Test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0A676D-44E4-44EA-8023-968A6E1C0B40}"/>
              </a:ext>
            </a:extLst>
          </p:cNvPr>
          <p:cNvSpPr txBox="1"/>
          <p:nvPr/>
        </p:nvSpPr>
        <p:spPr>
          <a:xfrm>
            <a:off x="516255" y="1584909"/>
            <a:ext cx="1062037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One-Sample t-Test in R</a:t>
            </a:r>
          </a:p>
          <a:p>
            <a:r>
              <a:rPr lang="en-US" sz="2400" b="1" dirty="0"/>
              <a:t>Introduction</a:t>
            </a:r>
          </a:p>
          <a:p>
            <a:r>
              <a:rPr lang="en-US" sz="2400" dirty="0"/>
              <a:t>A </a:t>
            </a:r>
            <a:r>
              <a:rPr lang="en-US" sz="2400" b="1" dirty="0"/>
              <a:t>one-sample t-test</a:t>
            </a:r>
            <a:r>
              <a:rPr lang="en-US" sz="2400" dirty="0"/>
              <a:t> is used to compare the mean of a single sample to a known or hypothesized population mean. It tests the null hypothesis:</a:t>
            </a:r>
          </a:p>
          <a:p>
            <a:r>
              <a:rPr lang="en-US" sz="2400" dirty="0"/>
              <a:t>H0​:μ=μ_0</a:t>
            </a:r>
          </a:p>
          <a:p>
            <a:r>
              <a:rPr lang="en-US" sz="2400" dirty="0"/>
              <a:t>​where: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μ = Sample mean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μ_0​ = Population mean (hypothesized value)</a:t>
            </a:r>
          </a:p>
          <a:p>
            <a:r>
              <a:rPr lang="en-US" sz="2400" dirty="0"/>
              <a:t>The test assumes:</a:t>
            </a:r>
            <a:br>
              <a:rPr lang="en-US" sz="2400" dirty="0"/>
            </a:br>
            <a:r>
              <a:rPr lang="en-US" sz="2400" dirty="0"/>
              <a:t>✅ The data are </a:t>
            </a:r>
            <a:r>
              <a:rPr lang="en-US" sz="2400" b="1" dirty="0"/>
              <a:t>normally distributed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✅ The sample is </a:t>
            </a:r>
            <a:r>
              <a:rPr lang="en-US" sz="2400" b="1" dirty="0"/>
              <a:t>randomly selected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✅ The population </a:t>
            </a:r>
            <a:r>
              <a:rPr lang="en-US" sz="2400" b="1" dirty="0"/>
              <a:t>variance is unknown</a:t>
            </a:r>
            <a:r>
              <a:rPr lang="en-US" sz="2400" dirty="0"/>
              <a:t> (otherwise, use a z-test).</a:t>
            </a:r>
          </a:p>
        </p:txBody>
      </p:sp>
    </p:spTree>
    <p:extLst>
      <p:ext uri="{BB962C8B-B14F-4D97-AF65-F5344CB8AC3E}">
        <p14:creationId xmlns:p14="http://schemas.microsoft.com/office/powerpoint/2010/main" val="3912495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HYPOTHESIS TESTING: One Sample T-Test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3E3DD0-958E-4009-B845-8C512BCC0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6177"/>
            <a:ext cx="11042650" cy="19642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1B63E8-35CE-4475-AFBC-B8DA961E6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104" y="3222967"/>
            <a:ext cx="11077753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872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HYPOTHESIS TESTING: One Sample T-Test using Real Data</a:t>
            </a:r>
            <a:endParaRPr spc="-1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3A1362-B8E9-4BCB-AA2D-410553891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762000"/>
            <a:ext cx="5430916" cy="44202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25D80E8-875C-47F9-A14C-E7B426565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917" y="914399"/>
            <a:ext cx="6268323" cy="4267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814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HYPOTHESIS TESTING: Two – Sample T-Test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08627E-C3E9-4B65-8EF6-53E65A5F167F}"/>
              </a:ext>
            </a:extLst>
          </p:cNvPr>
          <p:cNvSpPr txBox="1"/>
          <p:nvPr/>
        </p:nvSpPr>
        <p:spPr>
          <a:xfrm>
            <a:off x="516255" y="1524003"/>
            <a:ext cx="1062037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Two-Sample t-Test – Notes and R Code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1️⃣ What is a Two-Sample t-Test?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two-sample t-test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(independent t-test) is used to compare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two independent groups to determine if they are significantly different from each other.</a:t>
            </a:r>
          </a:p>
        </p:txBody>
      </p:sp>
    </p:spTree>
    <p:extLst>
      <p:ext uri="{BB962C8B-B14F-4D97-AF65-F5344CB8AC3E}">
        <p14:creationId xmlns:p14="http://schemas.microsoft.com/office/powerpoint/2010/main" val="3256537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HYPOTHESIS TESTING: Two – Sample T-Test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A4C7E43-EAE5-4027-BB99-7FEC9163F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779" y="1694650"/>
            <a:ext cx="1145644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2️⃣ Assumptions of a Two-Sample t-Test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Before performing the test, ensure the following: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Independence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two groups are independent (not related).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data in each group follows a normal distribution (use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shapiro.test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to check).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Equal Variance (Optional)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If variances are equal, use the standard t-test. Otherwise, use Welch’s t-test. The assumption of equal variance can be checked using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Levene’s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Test (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leveneTest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in car package)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F-test (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var.test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4804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HYPOTHESIS TESTING: Two – Sample T-Test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121866-AE80-499E-9546-89DD8BA65281}"/>
              </a:ext>
            </a:extLst>
          </p:cNvPr>
          <p:cNvSpPr txBox="1"/>
          <p:nvPr/>
        </p:nvSpPr>
        <p:spPr>
          <a:xfrm>
            <a:off x="152401" y="1600201"/>
            <a:ext cx="11811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3️⃣ Hypotheses for a Two-Sample t-Test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 Hypothesis (H0H_0H0​)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two groups have equal means. H0:</a:t>
            </a:r>
            <a:r>
              <a:rPr lang="el-G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μ1=μ2​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Hypothesis (HAH_AHA​)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two groups have different means. HA:</a:t>
            </a:r>
            <a:r>
              <a:rPr lang="el-G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μ1≠μ2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two-tailed test)</a:t>
            </a:r>
          </a:p>
        </p:txBody>
      </p:sp>
    </p:spTree>
    <p:extLst>
      <p:ext uri="{BB962C8B-B14F-4D97-AF65-F5344CB8AC3E}">
        <p14:creationId xmlns:p14="http://schemas.microsoft.com/office/powerpoint/2010/main" val="4024013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HYPOTHESIS TESTING: Two – Sample T-Test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6C4BD6-EF3B-44F8-8846-11A41D6B8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7" y="1142144"/>
            <a:ext cx="12163423" cy="411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606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HYPOTHESIS TESTING: Two – Sample T-Test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0CF112-4189-4B7D-A415-84463F18C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309" y="1143000"/>
            <a:ext cx="9799834" cy="569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714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HYPOTHESIS TESTING: Two – Sample T-Test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988D05-6364-46B4-91A7-BC89EEBEF192}"/>
              </a:ext>
            </a:extLst>
          </p:cNvPr>
          <p:cNvSpPr txBox="1"/>
          <p:nvPr/>
        </p:nvSpPr>
        <p:spPr>
          <a:xfrm>
            <a:off x="0" y="1524000"/>
            <a:ext cx="12039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Paired Sample t-Test – Notes and R Code</a:t>
            </a:r>
          </a:p>
          <a:p>
            <a:r>
              <a:rPr lang="en-US" sz="2800" b="1" dirty="0"/>
              <a:t>1️⃣ What is a Paired Sample t-Test?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A </a:t>
            </a:r>
            <a:r>
              <a:rPr lang="en-US" sz="2800" b="1" dirty="0"/>
              <a:t>paired sample t-test</a:t>
            </a:r>
            <a:r>
              <a:rPr lang="en-US" sz="2800" dirty="0"/>
              <a:t> (also called a dependent t-test) is used to compare </a:t>
            </a:r>
            <a:r>
              <a:rPr lang="en-US" sz="2800" b="1" dirty="0"/>
              <a:t>two related (paired) measurements</a:t>
            </a:r>
            <a:r>
              <a:rPr lang="en-US" sz="2800" dirty="0"/>
              <a:t> to determine whether there is a significant difference between them.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It is commonly used in </a:t>
            </a:r>
            <a:r>
              <a:rPr lang="en-US" sz="2800" b="1" dirty="0"/>
              <a:t>before-and-after studies</a:t>
            </a:r>
            <a:r>
              <a:rPr lang="en-US" sz="2800" dirty="0"/>
              <a:t>, </a:t>
            </a:r>
            <a:r>
              <a:rPr lang="en-US" sz="2800" b="1" dirty="0"/>
              <a:t>pre-test/post-test comparisons</a:t>
            </a:r>
            <a:r>
              <a:rPr lang="en-US" sz="2800" dirty="0"/>
              <a:t>, or </a:t>
            </a:r>
            <a:r>
              <a:rPr lang="en-US" sz="2800" b="1" dirty="0"/>
              <a:t>when the same subjects are measured twice</a:t>
            </a:r>
            <a:r>
              <a:rPr lang="en-US" sz="2800" dirty="0"/>
              <a:t> under different conditions.</a:t>
            </a:r>
          </a:p>
        </p:txBody>
      </p:sp>
    </p:spTree>
    <p:extLst>
      <p:ext uri="{BB962C8B-B14F-4D97-AF65-F5344CB8AC3E}">
        <p14:creationId xmlns:p14="http://schemas.microsoft.com/office/powerpoint/2010/main" val="27696564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HYPOTHESIS TESTING: Two – Sample T-Test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4AA5BEC-C622-4895-BDAD-3A933D053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255" y="1176765"/>
            <a:ext cx="1062037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2️⃣ Assumptions of a Paired t-Test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Dependent (paired) samples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Each observation in one group is directly related to an observation in the other group (e.g., same subject before and after treatment).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differences between paired observations should be approximately normally distributed (check using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shapiro.test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()).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75F7CE9-298F-4343-B65E-E97B37BFA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254" y="3422877"/>
            <a:ext cx="1062037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3️⃣ Hypotheses for a Paired Sample t-Test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Null Hypothesis (H_0​)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mean difference between the two related samples is zero. H0:μd​=0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Alternative Hypothesis (HAH_AHA​)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mean difference is not zero. HA:μd≠0 (For a two-tailed test)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530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HYPOTHESIS TESTING: Two – Sample T-Test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628EAD-EFF9-48D9-8BDA-FAB21F185157}"/>
              </a:ext>
            </a:extLst>
          </p:cNvPr>
          <p:cNvSpPr txBox="1"/>
          <p:nvPr/>
        </p:nvSpPr>
        <p:spPr>
          <a:xfrm>
            <a:off x="516254" y="1295400"/>
            <a:ext cx="106203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4️⃣ R Code for a Paired Sample t-Test</a:t>
            </a:r>
          </a:p>
          <a:p>
            <a:r>
              <a:rPr lang="en-US" b="1" dirty="0"/>
              <a:t>Example: Comparing Students' Test Scores Before and After a Training Program</a:t>
            </a:r>
          </a:p>
          <a:p>
            <a:r>
              <a:rPr lang="en-US" dirty="0"/>
              <a:t>We collected test scores </a:t>
            </a:r>
            <a:r>
              <a:rPr lang="en-US" b="1" dirty="0"/>
              <a:t>before</a:t>
            </a:r>
            <a:r>
              <a:rPr lang="en-US" dirty="0"/>
              <a:t> and </a:t>
            </a:r>
            <a:r>
              <a:rPr lang="en-US" b="1" dirty="0"/>
              <a:t>after</a:t>
            </a:r>
            <a:r>
              <a:rPr lang="en-US" dirty="0"/>
              <a:t> a training session and want to check if the training had a significant impact.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A4963A-120E-483B-97A4-30A9E21FB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54" y="2782713"/>
            <a:ext cx="10087737" cy="264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559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HYPOTHESIS TESTING: Two – Sample T-Test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D593AE-CF60-48EC-B89A-F4908BB50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295399"/>
            <a:ext cx="11353800" cy="482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727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HYPOTHESIS TESTING: Two – Sample T-Test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43E8A5C-0FD3-4CDD-8E16-0FF85269F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22" y="1288728"/>
            <a:ext cx="1123378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Sleep Dat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a for Paired T-Test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extra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The increase in sleep duration.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group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The drug administered (1 or 2).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Subject ID (same subjects tested twice).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Since the same subjects received both drugs, we can use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paired t-test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check if there is a significant difference in sleep duration between the two drugs.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A5F711-9E24-4A94-AD8D-A82EF7965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064" y="3885680"/>
            <a:ext cx="10577566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7769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HYPOTHESIS TESTING: Two – Sample T-Test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5FAD6C-58D6-43EB-9C78-A5A7B1A24C2B}"/>
              </a:ext>
            </a:extLst>
          </p:cNvPr>
          <p:cNvSpPr txBox="1"/>
          <p:nvPr/>
        </p:nvSpPr>
        <p:spPr>
          <a:xfrm>
            <a:off x="516255" y="1447801"/>
            <a:ext cx="1076134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Welch’s Two-Sample t-Test and the Standard Two-Sample t-Test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two-sample t-test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Welch’s t-test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both used to compare the means of two independent groups. However, they differ in their assumptions about variance.</a:t>
            </a:r>
          </a:p>
        </p:txBody>
      </p:sp>
    </p:spTree>
    <p:extLst>
      <p:ext uri="{BB962C8B-B14F-4D97-AF65-F5344CB8AC3E}">
        <p14:creationId xmlns:p14="http://schemas.microsoft.com/office/powerpoint/2010/main" val="23101410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HYPOTHESIS TESTING: Two – Sample T-Test</a:t>
            </a:r>
            <a:endParaRPr spc="-1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001C51-CF23-4C20-904D-D355293C4542}"/>
              </a:ext>
            </a:extLst>
          </p:cNvPr>
          <p:cNvSpPr txBox="1"/>
          <p:nvPr/>
        </p:nvSpPr>
        <p:spPr>
          <a:xfrm>
            <a:off x="105079" y="762000"/>
            <a:ext cx="260794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1️⃣ Standard Two-Sample t-Test (Student’s t-Test)</a:t>
            </a:r>
          </a:p>
          <a:p>
            <a:r>
              <a:rPr lang="en-US" dirty="0"/>
              <a:t>✅ Compares the means of </a:t>
            </a:r>
            <a:r>
              <a:rPr lang="en-US" b="1" dirty="0"/>
              <a:t>two independent groups</a:t>
            </a:r>
            <a:r>
              <a:rPr lang="en-US" dirty="0"/>
              <a:t> under the assumption that: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variances</a:t>
            </a:r>
            <a:r>
              <a:rPr lang="en-US" dirty="0"/>
              <a:t> of the two groups are </a:t>
            </a:r>
            <a:r>
              <a:rPr lang="en-US" b="1" dirty="0"/>
              <a:t>equal</a:t>
            </a:r>
            <a:r>
              <a:rPr lang="en-US" dirty="0"/>
              <a:t> (</a:t>
            </a:r>
            <a:r>
              <a:rPr lang="en-US" b="1" dirty="0"/>
              <a:t>homogeneity of variance</a:t>
            </a:r>
            <a:r>
              <a:rPr lang="en-US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data in both groups are </a:t>
            </a:r>
            <a:r>
              <a:rPr lang="en-US" b="1" dirty="0"/>
              <a:t>normally distributed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two samples are </a:t>
            </a:r>
            <a:r>
              <a:rPr lang="en-US" b="1" dirty="0"/>
              <a:t>independent</a:t>
            </a:r>
            <a:r>
              <a:rPr lang="en-US" dirty="0"/>
              <a:t>.</a:t>
            </a:r>
          </a:p>
          <a:p>
            <a:r>
              <a:rPr lang="en-US" dirty="0"/>
              <a:t>📌 </a:t>
            </a:r>
            <a:r>
              <a:rPr lang="en-US" b="1" dirty="0"/>
              <a:t>Formula: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B1AD18-D133-45A9-A798-5DD38F1A5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023" y="914401"/>
            <a:ext cx="9478977" cy="492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6195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HYPOTHESIS TESTING: Two – Sample T-Test</a:t>
            </a:r>
            <a:endParaRPr spc="-1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3E3520-A67B-4FA0-AD7E-40D08486C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85799"/>
            <a:ext cx="10744200" cy="566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596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HYPOTHESIS TESTING: Two – Sample T-Test</a:t>
            </a:r>
            <a:endParaRPr spc="-1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FAB222-F90A-408D-AB3A-12D7E2FB0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772178"/>
              </p:ext>
            </p:extLst>
          </p:nvPr>
        </p:nvGraphicFramePr>
        <p:xfrm>
          <a:off x="69850" y="1897687"/>
          <a:ext cx="12028170" cy="320771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009390">
                  <a:extLst>
                    <a:ext uri="{9D8B030D-6E8A-4147-A177-3AD203B41FA5}">
                      <a16:colId xmlns:a16="http://schemas.microsoft.com/office/drawing/2014/main" val="1388170388"/>
                    </a:ext>
                  </a:extLst>
                </a:gridCol>
                <a:gridCol w="4009390">
                  <a:extLst>
                    <a:ext uri="{9D8B030D-6E8A-4147-A177-3AD203B41FA5}">
                      <a16:colId xmlns:a16="http://schemas.microsoft.com/office/drawing/2014/main" val="4124277448"/>
                    </a:ext>
                  </a:extLst>
                </a:gridCol>
                <a:gridCol w="4009390">
                  <a:extLst>
                    <a:ext uri="{9D8B030D-6E8A-4147-A177-3AD203B41FA5}">
                      <a16:colId xmlns:a16="http://schemas.microsoft.com/office/drawing/2014/main" val="1460186623"/>
                    </a:ext>
                  </a:extLst>
                </a:gridCol>
              </a:tblGrid>
              <a:tr h="556004">
                <a:tc>
                  <a:txBody>
                    <a:bodyPr/>
                    <a:lstStyle/>
                    <a:p>
                      <a:r>
                        <a:rPr lang="en-US" sz="200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Standard Two-Sample t-Test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Welch’s t-Test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855291"/>
                  </a:ext>
                </a:extLst>
              </a:tr>
              <a:tr h="556004">
                <a:tc>
                  <a:txBody>
                    <a:bodyPr/>
                    <a:lstStyle/>
                    <a:p>
                      <a:r>
                        <a:rPr lang="en-US" sz="2000"/>
                        <a:t>Assumption of Equal Variance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Yes</a:t>
                      </a:r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No</a:t>
                      </a:r>
                      <a:endParaRPr 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225855"/>
                  </a:ext>
                </a:extLst>
              </a:tr>
              <a:tr h="556004">
                <a:tc>
                  <a:txBody>
                    <a:bodyPr/>
                    <a:lstStyle/>
                    <a:p>
                      <a:r>
                        <a:rPr lang="en-US" sz="2000"/>
                        <a:t>Robust to Unequal Variance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✅ 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1119862"/>
                  </a:ext>
                </a:extLst>
              </a:tr>
              <a:tr h="983699">
                <a:tc>
                  <a:txBody>
                    <a:bodyPr/>
                    <a:lstStyle/>
                    <a:p>
                      <a:r>
                        <a:rPr lang="en-US" sz="2000"/>
                        <a:t>Works with Unequal Sample Sizes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⚠️ Less accurate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✅ Better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4160040"/>
                  </a:ext>
                </a:extLst>
              </a:tr>
              <a:tr h="556004">
                <a:tc>
                  <a:txBody>
                    <a:bodyPr/>
                    <a:lstStyle/>
                    <a:p>
                      <a:r>
                        <a:rPr lang="en-US" sz="2000"/>
                        <a:t>Formula Uses Pooled Variance?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❌ 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6187883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4C62C3CA-92F5-4F5C-AC18-D0298E8AB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982909"/>
            <a:ext cx="10972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3️⃣ Key Differences: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5895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HYPOTHESIS TESTING: Chi-Square Test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5361F2-2D14-4DFB-B4B5-2451DE49434C}"/>
              </a:ext>
            </a:extLst>
          </p:cNvPr>
          <p:cNvSpPr txBox="1"/>
          <p:nvPr/>
        </p:nvSpPr>
        <p:spPr>
          <a:xfrm>
            <a:off x="93981" y="1371603"/>
            <a:ext cx="1141221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Chi-Square Tests and Fisher’s Exact Test – Notes &amp; R Code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1️⃣ What is the Chi-Square Test?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Chi-Square test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statistical test used to determine whether there is a significant association between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categorical variables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contingency table.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compares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 frequencies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frequencies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 the assumption that the variables are independent.</a:t>
            </a:r>
          </a:p>
        </p:txBody>
      </p:sp>
    </p:spTree>
    <p:extLst>
      <p:ext uri="{BB962C8B-B14F-4D97-AF65-F5344CB8AC3E}">
        <p14:creationId xmlns:p14="http://schemas.microsoft.com/office/powerpoint/2010/main" val="24880718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HYPOTHESIS TESTING: Chi-Square Test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BAEE5BB-73A1-4C7B-8FFB-03E853DA2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254" y="1505397"/>
            <a:ext cx="10620375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2️⃣ Types of Chi-Square Tests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Chi-Square Test for Independence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Determines whether two categorical variables are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independent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associated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Chi-Square Goodness-of-Fit Test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Checks if a categorical variable follows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specific distribution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4DE1EC5-C25E-4177-BF37-D7031763E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803" y="3581400"/>
            <a:ext cx="10620374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3️⃣ Assumptions of the Chi-Square Test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 The data should be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categorical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(nominal or ordinal).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 Observations should be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independent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(each case belongs to only one category).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 Expected frequency in each cell should be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≥ 5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valid results.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 The total sample size should be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enough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40771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HYPOTHESIS TESTING: Chi-Square Test</a:t>
            </a:r>
            <a:endParaRPr spc="-1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4E0D5BC-9320-453B-949F-17CB39069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1352"/>
            <a:ext cx="12192000" cy="39044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C8B7B58-EB2F-427A-B94B-A5479FBF2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95800"/>
            <a:ext cx="121920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2012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HYPOTHESIS TESTING: Fishers Exact Test</a:t>
            </a:r>
            <a:endParaRPr spc="-1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109F79-6E23-4711-AC6C-F938625AB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799"/>
            <a:ext cx="12192000" cy="247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7149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4752" y="4275861"/>
            <a:ext cx="4221480" cy="1123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200" b="1" dirty="0">
                <a:solidFill>
                  <a:srgbClr val="FF0000"/>
                </a:solidFill>
                <a:latin typeface="Times New Roman"/>
                <a:cs typeface="Times New Roman"/>
              </a:rPr>
              <a:t>Thank</a:t>
            </a:r>
            <a:r>
              <a:rPr sz="7200" b="1" spc="-3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7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you</a:t>
            </a:r>
            <a:endParaRPr sz="7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9967" y="304800"/>
            <a:ext cx="8433816" cy="34716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60952" y="3652215"/>
            <a:ext cx="47269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u="sng" spc="-25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Calibri"/>
                <a:cs typeface="Calibri"/>
                <a:hlinkClick r:id="rId3"/>
              </a:rPr>
              <a:t>https://cdam.chuka.ac.ke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52546" y="6498421"/>
            <a:ext cx="5844540" cy="25209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250" b="1" i="1" spc="50" dirty="0">
                <a:solidFill>
                  <a:srgbClr val="FFC000"/>
                </a:solidFill>
                <a:latin typeface="Arial"/>
                <a:cs typeface="Arial"/>
              </a:rPr>
              <a:t>CENTER</a:t>
            </a:r>
            <a:r>
              <a:rPr sz="1250" b="1" i="1" spc="4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50" b="1" i="1" dirty="0">
                <a:solidFill>
                  <a:srgbClr val="FFC000"/>
                </a:solidFill>
                <a:latin typeface="Arial"/>
                <a:cs typeface="Arial"/>
              </a:rPr>
              <a:t>FOR</a:t>
            </a:r>
            <a:r>
              <a:rPr sz="1250" b="1" i="1" spc="7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50" b="1" i="1" dirty="0">
                <a:solidFill>
                  <a:srgbClr val="FFC000"/>
                </a:solidFill>
                <a:latin typeface="Arial"/>
                <a:cs typeface="Arial"/>
              </a:rPr>
              <a:t>DATA</a:t>
            </a:r>
            <a:r>
              <a:rPr sz="1250" b="1" i="1" spc="5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50" b="1" i="1" spc="45" dirty="0">
                <a:solidFill>
                  <a:srgbClr val="FFC000"/>
                </a:solidFill>
                <a:latin typeface="Arial"/>
                <a:cs typeface="Arial"/>
              </a:rPr>
              <a:t>ANALYTICS</a:t>
            </a:r>
            <a:r>
              <a:rPr sz="1250" b="1" i="1" spc="7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50" b="1" i="1" spc="50" dirty="0">
                <a:solidFill>
                  <a:srgbClr val="FFC000"/>
                </a:solidFill>
                <a:latin typeface="Arial"/>
                <a:cs typeface="Arial"/>
              </a:rPr>
              <a:t>AND </a:t>
            </a:r>
            <a:r>
              <a:rPr sz="1250" b="1" i="1" spc="55" dirty="0">
                <a:solidFill>
                  <a:srgbClr val="FFC000"/>
                </a:solidFill>
                <a:latin typeface="Arial"/>
                <a:cs typeface="Arial"/>
              </a:rPr>
              <a:t>MODELING,</a:t>
            </a:r>
            <a:r>
              <a:rPr sz="1250" b="1" i="1" spc="8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50" b="1" i="1" spc="70" dirty="0">
                <a:solidFill>
                  <a:srgbClr val="FFC000"/>
                </a:solidFill>
                <a:latin typeface="Arial"/>
                <a:cs typeface="Arial"/>
              </a:rPr>
              <a:t>CHUKA</a:t>
            </a:r>
            <a:r>
              <a:rPr sz="1250" b="1" i="1" spc="5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50" b="1" i="1" spc="65" dirty="0">
                <a:solidFill>
                  <a:srgbClr val="FFC000"/>
                </a:solidFill>
                <a:latin typeface="Arial"/>
                <a:cs typeface="Arial"/>
              </a:rPr>
              <a:t>UNIVERSITY</a:t>
            </a:r>
            <a:endParaRPr sz="12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6324" y="6584086"/>
            <a:ext cx="46545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5"/>
              </a:lnSpc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29</a:t>
            </a:fld>
            <a:endParaRPr spc="-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B9F2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542</TotalTime>
  <Words>2125</Words>
  <Application>Microsoft Office PowerPoint</Application>
  <PresentationFormat>Widescreen</PresentationFormat>
  <Paragraphs>226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Arial Black</vt:lpstr>
      <vt:lpstr>Arial Unicode MS</vt:lpstr>
      <vt:lpstr>Calibri</vt:lpstr>
      <vt:lpstr>Times New Roman</vt:lpstr>
      <vt:lpstr>Wingdings</vt:lpstr>
      <vt:lpstr>Office Theme</vt:lpstr>
      <vt:lpstr> INTRODUCTION TO STATISTICAL DATA ANALYSIS USING R &amp; RSTUDIO</vt:lpstr>
      <vt:lpstr>Session 2: HYPOTHESIS TESTING</vt:lpstr>
      <vt:lpstr>Session 2: HYPOTHESIS TESTING</vt:lpstr>
      <vt:lpstr>Session 2: HYPOTHESIS TESTING</vt:lpstr>
      <vt:lpstr>Session 2: HYPOTHESIS TESTING</vt:lpstr>
      <vt:lpstr>Session 2: HYPOTHESIS TESTING</vt:lpstr>
      <vt:lpstr>Session 2: HYPOTHESIS TESTING</vt:lpstr>
      <vt:lpstr>Session 2: HYPOTHESIS TESTING: One Sample T-Test</vt:lpstr>
      <vt:lpstr>Session 2: HYPOTHESIS TESTING: One Sample T-Test</vt:lpstr>
      <vt:lpstr>Session 2: HYPOTHESIS TESTING: One Sample T-Test using Real Data</vt:lpstr>
      <vt:lpstr>Session 2: HYPOTHESIS TESTING: Two – Sample T-Test</vt:lpstr>
      <vt:lpstr>Session 2: HYPOTHESIS TESTING: Two – Sample T-Test</vt:lpstr>
      <vt:lpstr>Session 2: HYPOTHESIS TESTING: Two – Sample T-Test</vt:lpstr>
      <vt:lpstr>Session 2: HYPOTHESIS TESTING: Two – Sample T-Test</vt:lpstr>
      <vt:lpstr>Session 2: HYPOTHESIS TESTING: Two – Sample T-Test</vt:lpstr>
      <vt:lpstr>Session 2: HYPOTHESIS TESTING: Two – Sample T-Test</vt:lpstr>
      <vt:lpstr>Session 2: HYPOTHESIS TESTING: Two – Sample T-Test</vt:lpstr>
      <vt:lpstr>Session 2: HYPOTHESIS TESTING: Two – Sample T-Test</vt:lpstr>
      <vt:lpstr>Session 2: HYPOTHESIS TESTING: Two – Sample T-Test</vt:lpstr>
      <vt:lpstr>Session 2: HYPOTHESIS TESTING: Two – Sample T-Test</vt:lpstr>
      <vt:lpstr>Session 2: HYPOTHESIS TESTING: Two – Sample T-Test</vt:lpstr>
      <vt:lpstr>Session 2: HYPOTHESIS TESTING: Two – Sample T-Test</vt:lpstr>
      <vt:lpstr>Session 2: HYPOTHESIS TESTING: Two – Sample T-Test</vt:lpstr>
      <vt:lpstr>Session 2: HYPOTHESIS TESTING: Two – Sample T-Test</vt:lpstr>
      <vt:lpstr>Session 2: HYPOTHESIS TESTING: Chi-Square Test</vt:lpstr>
      <vt:lpstr>Session 2: HYPOTHESIS TESTING: Chi-Square Test</vt:lpstr>
      <vt:lpstr>Session 2: HYPOTHESIS TESTING: Chi-Square Test</vt:lpstr>
      <vt:lpstr>Session 2: HYPOTHESIS TESTING: Fishers Exact Test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QUALTRICS AS A TOOL FOR  BASIC STATISTICAL ANALYSIS</dc:title>
  <dc:creator>Scientist</dc:creator>
  <cp:lastModifiedBy>lumumba victor</cp:lastModifiedBy>
  <cp:revision>25</cp:revision>
  <dcterms:created xsi:type="dcterms:W3CDTF">2025-02-11T06:34:41Z</dcterms:created>
  <dcterms:modified xsi:type="dcterms:W3CDTF">2025-02-19T15:55:33Z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2025-02-08T00:00:00Z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2025-02-11T00:00:00Z</vt:filetime>
  </property>
  <property fmtid="{D5CDD505-2E9C-101B-9397-08002B2CF9AE}" pid="5" name="Producer">
    <vt:lpwstr>Microsoft® PowerPoint® 2016</vt:lpwstr>
  </property>
</Properties>
</file>