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5" r:id="rId4"/>
    <p:sldId id="261" r:id="rId5"/>
    <p:sldId id="263" r:id="rId6"/>
    <p:sldId id="262" r:id="rId7"/>
    <p:sldId id="264" r:id="rId8"/>
    <p:sldId id="265" r:id="rId9"/>
    <p:sldId id="267" r:id="rId10"/>
    <p:sldId id="268" r:id="rId11"/>
    <p:sldId id="269" r:id="rId12"/>
    <p:sldId id="270" r:id="rId13"/>
    <p:sldId id="266" r:id="rId14"/>
    <p:sldId id="271" r:id="rId15"/>
    <p:sldId id="272" r:id="rId16"/>
    <p:sldId id="273" r:id="rId17"/>
    <p:sldId id="274" r:id="rId18"/>
    <p:sldId id="276" r:id="rId19"/>
    <p:sldId id="277" r:id="rId20"/>
    <p:sldId id="281" r:id="rId21"/>
    <p:sldId id="280" r:id="rId22"/>
    <p:sldId id="282" r:id="rId23"/>
    <p:sldId id="283" r:id="rId24"/>
    <p:sldId id="258" r:id="rId25"/>
    <p:sldId id="259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2678" y="821258"/>
            <a:ext cx="9134576" cy="1099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1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76324" y="6584086"/>
            <a:ext cx="465455" cy="14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7250" y="6577076"/>
            <a:ext cx="15747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dam.chuka.ac.ke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619" rIns="0" bIns="0" rtlCol="0">
            <a:spAutoFit/>
          </a:bodyPr>
          <a:lstStyle/>
          <a:p>
            <a:pPr marL="2035810" marR="5080" indent="390525">
              <a:lnSpc>
                <a:spcPts val="2860"/>
              </a:lnSpc>
              <a:spcBef>
                <a:spcPts val="620"/>
              </a:spcBef>
            </a:pPr>
            <a:r>
              <a:rPr sz="2800" spc="-50" dirty="0"/>
              <a:t>INTRODUCTION</a:t>
            </a:r>
            <a:r>
              <a:rPr sz="2800" spc="-195" dirty="0"/>
              <a:t> </a:t>
            </a:r>
            <a:r>
              <a:rPr sz="2800" spc="-10" dirty="0"/>
              <a:t>TO</a:t>
            </a:r>
            <a:r>
              <a:rPr sz="2800" spc="-200" dirty="0"/>
              <a:t> </a:t>
            </a:r>
            <a:r>
              <a:rPr sz="2800" spc="-10" dirty="0"/>
              <a:t>STATISTICAL </a:t>
            </a:r>
            <a:r>
              <a:rPr sz="2800" spc="-175" dirty="0"/>
              <a:t>DATA</a:t>
            </a:r>
            <a:r>
              <a:rPr sz="2800" spc="-130" dirty="0"/>
              <a:t> </a:t>
            </a:r>
            <a:r>
              <a:rPr sz="2800" spc="-95" dirty="0"/>
              <a:t>ANALYSIS</a:t>
            </a:r>
            <a:r>
              <a:rPr sz="2800" spc="-155" dirty="0"/>
              <a:t> </a:t>
            </a:r>
            <a:r>
              <a:rPr sz="2800" spc="-25" dirty="0"/>
              <a:t>USING</a:t>
            </a:r>
            <a:r>
              <a:rPr sz="2800" spc="-114" dirty="0"/>
              <a:t> </a:t>
            </a:r>
            <a:r>
              <a:rPr sz="2800" dirty="0"/>
              <a:t>R</a:t>
            </a:r>
            <a:r>
              <a:rPr sz="2800" spc="-95" dirty="0"/>
              <a:t> </a:t>
            </a:r>
            <a:r>
              <a:rPr sz="2800" dirty="0"/>
              <a:t>&amp;</a:t>
            </a:r>
            <a:r>
              <a:rPr sz="2800" spc="-95" dirty="0"/>
              <a:t> </a:t>
            </a:r>
            <a:r>
              <a:rPr sz="2800" spc="-25" dirty="0"/>
              <a:t>RSTUDIO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981200" y="2192913"/>
            <a:ext cx="8915400" cy="1605568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210" dirty="0">
                <a:latin typeface="Arial"/>
                <a:cs typeface="Arial"/>
              </a:rPr>
              <a:t>LUMUMBA WANDERA VICTOR</a:t>
            </a:r>
            <a:endParaRPr lang="en-US" sz="2500" b="1" i="1" spc="335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335" dirty="0">
                <a:solidFill>
                  <a:srgbClr val="00AF50"/>
                </a:solidFill>
                <a:latin typeface="Arial"/>
                <a:cs typeface="Arial"/>
              </a:rPr>
              <a:t>24</a:t>
            </a:r>
            <a:r>
              <a:rPr lang="en-US" sz="2500" b="1" i="1" spc="335" baseline="30000" dirty="0">
                <a:solidFill>
                  <a:srgbClr val="00AF50"/>
                </a:solidFill>
                <a:latin typeface="Arial"/>
                <a:cs typeface="Arial"/>
              </a:rPr>
              <a:t>TH</a:t>
            </a:r>
            <a:r>
              <a:rPr lang="en-US" sz="2500" b="1" i="1" spc="335" dirty="0">
                <a:solidFill>
                  <a:srgbClr val="00AF50"/>
                </a:solidFill>
                <a:latin typeface="Arial"/>
                <a:cs typeface="Arial"/>
              </a:rPr>
              <a:t> FEB</a:t>
            </a:r>
            <a:r>
              <a:rPr sz="2400" spc="-35" dirty="0">
                <a:solidFill>
                  <a:srgbClr val="00AF50"/>
                </a:solidFill>
                <a:latin typeface="Arial Black"/>
                <a:cs typeface="Arial Black"/>
              </a:rPr>
              <a:t>,</a:t>
            </a:r>
            <a:r>
              <a:rPr sz="2400" dirty="0">
                <a:solidFill>
                  <a:srgbClr val="00AF50"/>
                </a:solidFill>
                <a:latin typeface="Arial Black"/>
                <a:cs typeface="Arial Black"/>
              </a:rPr>
              <a:t>	</a:t>
            </a:r>
            <a:r>
              <a:rPr sz="2400" spc="120" dirty="0">
                <a:solidFill>
                  <a:srgbClr val="00AF50"/>
                </a:solidFill>
                <a:latin typeface="Arial Black"/>
                <a:cs typeface="Arial Black"/>
              </a:rPr>
              <a:t>2025</a:t>
            </a:r>
            <a:endParaRPr sz="2400" dirty="0">
              <a:latin typeface="Arial Black"/>
              <a:cs typeface="Arial Black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144" y="4376928"/>
            <a:ext cx="6989064" cy="19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B6349-8209-4875-BCA5-70BD6BB231D8}"/>
              </a:ext>
            </a:extLst>
          </p:cNvPr>
          <p:cNvSpPr txBox="1"/>
          <p:nvPr/>
        </p:nvSpPr>
        <p:spPr>
          <a:xfrm>
            <a:off x="262127" y="1604948"/>
            <a:ext cx="114726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Time Series Analysis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Time Series?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sequence of data points recorded at successive time intervals. It captures how a variable evolves over time. Examples include: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 (daily closing prices)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readings (hourly/daily)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indicators (GDP, inflation)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data (COVID-19 cases per week)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DAC5F-5341-4B65-B216-4F51D97B6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103"/>
            <a:ext cx="12268200" cy="566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1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FEB0F-3D45-4142-9E6D-E924D00331D2}"/>
              </a:ext>
            </a:extLst>
          </p:cNvPr>
          <p:cNvSpPr txBox="1"/>
          <p:nvPr/>
        </p:nvSpPr>
        <p:spPr>
          <a:xfrm>
            <a:off x="262127" y="1447800"/>
            <a:ext cx="1139647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Time Series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Dependency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Past values influence future values.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Long-term upward or downward movements.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Patterns that repeat at regular intervals (e.g., daily, monthly).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Patterns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Irregular fluctuations over extended periods.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time series is stationary if its statistical properties (mean, variance) do not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182067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A39DA-9AC9-49E6-B0C7-6A1920D724FB}"/>
              </a:ext>
            </a:extLst>
          </p:cNvPr>
          <p:cNvSpPr txBox="1"/>
          <p:nvPr/>
        </p:nvSpPr>
        <p:spPr>
          <a:xfrm>
            <a:off x="262126" y="1535263"/>
            <a:ext cx="106203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Time Series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Time Series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single variable recorded over time (e.g., daily temperature).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Time Series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interrelated variables (e.g., temperature, humidity, and pressure recorded simultaneously).</a:t>
            </a:r>
          </a:p>
        </p:txBody>
      </p:sp>
    </p:spTree>
    <p:extLst>
      <p:ext uri="{BB962C8B-B14F-4D97-AF65-F5344CB8AC3E}">
        <p14:creationId xmlns:p14="http://schemas.microsoft.com/office/powerpoint/2010/main" val="381009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E1A45-5112-4477-992E-C9C9E3C07F9A}"/>
              </a:ext>
            </a:extLst>
          </p:cNvPr>
          <p:cNvSpPr txBox="1"/>
          <p:nvPr/>
        </p:nvSpPr>
        <p:spPr>
          <a:xfrm>
            <a:off x="262127" y="1307910"/>
            <a:ext cx="113964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Time Series Models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(Autoregressive Model)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future values using past values.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 (Moving Average Model)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past forecast errors for predictions.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 (AR + MA Model)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combination of AR and MA models.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Extends ARMA to handle non-stationary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 (Seasonal ARIMA)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Includes seasonality components.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Smoothing (ETS Models)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Forecasts using weighted averages of past observations.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LSTMs, RNNs, and Transformer-based models for complex patterns.</a:t>
            </a:r>
          </a:p>
        </p:txBody>
      </p:sp>
    </p:spTree>
    <p:extLst>
      <p:ext uri="{BB962C8B-B14F-4D97-AF65-F5344CB8AC3E}">
        <p14:creationId xmlns:p14="http://schemas.microsoft.com/office/powerpoint/2010/main" val="213541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0DB27-422D-44A2-89F7-EA7157968DA6}"/>
              </a:ext>
            </a:extLst>
          </p:cNvPr>
          <p:cNvSpPr txBox="1"/>
          <p:nvPr/>
        </p:nvSpPr>
        <p:spPr>
          <a:xfrm>
            <a:off x="381000" y="1524003"/>
            <a:ext cx="105015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Time Series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 price prediction, risk management)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(Inflation forecasting, GDP trends)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 and climate modeling)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(Disease outbreak prediction, patient monitoring)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(Demand forecasting, inventory optimization)</a:t>
            </a:r>
          </a:p>
        </p:txBody>
      </p:sp>
    </p:spTree>
    <p:extLst>
      <p:ext uri="{BB962C8B-B14F-4D97-AF65-F5344CB8AC3E}">
        <p14:creationId xmlns:p14="http://schemas.microsoft.com/office/powerpoint/2010/main" val="208209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678" y="821258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Decomposition of Time Series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EE8E-277A-454B-81EF-54ED7DDDC56A}"/>
              </a:ext>
            </a:extLst>
          </p:cNvPr>
          <p:cNvSpPr txBox="1"/>
          <p:nvPr/>
        </p:nvSpPr>
        <p:spPr>
          <a:xfrm>
            <a:off x="13449" y="1674404"/>
            <a:ext cx="111678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of Time Series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decomposition is a technique used to break down a time series into its fundamental components: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Trend, Seasonality, and Residuals (Noise).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understanding the underlying patterns and improving forecasting models.</a:t>
            </a:r>
          </a:p>
        </p:txBody>
      </p:sp>
    </p:spTree>
    <p:extLst>
      <p:ext uri="{BB962C8B-B14F-4D97-AF65-F5344CB8AC3E}">
        <p14:creationId xmlns:p14="http://schemas.microsoft.com/office/powerpoint/2010/main" val="368915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501D0-DC03-4805-8890-86F3D9DC757A}"/>
              </a:ext>
            </a:extLst>
          </p:cNvPr>
          <p:cNvSpPr txBox="1"/>
          <p:nvPr/>
        </p:nvSpPr>
        <p:spPr>
          <a:xfrm>
            <a:off x="262127" y="1446409"/>
            <a:ext cx="1162507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Time Series Decomposition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series can generally be decomposed into the following parts: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(Tt)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long-term movement in the data. It shows whether the data is increasing, decreasing, or remaining stable over time.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(St)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Regular, repeating patterns at fixed time intervals (e.g., daily, monthly, yearly).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Component (Ct)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Longer-term fluctuations that do not follow a fixed pattern but occur over extended periods.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Residual/Random Component (Rt)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irregular or random variations that cannot be explained by trend or seasonality.</a:t>
            </a:r>
          </a:p>
        </p:txBody>
      </p:sp>
    </p:spTree>
    <p:extLst>
      <p:ext uri="{BB962C8B-B14F-4D97-AF65-F5344CB8AC3E}">
        <p14:creationId xmlns:p14="http://schemas.microsoft.com/office/powerpoint/2010/main" val="20965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C7288-68E1-456A-A169-EE1AF786AC33}"/>
              </a:ext>
            </a:extLst>
          </p:cNvPr>
          <p:cNvSpPr txBox="1"/>
          <p:nvPr/>
        </p:nvSpPr>
        <p:spPr>
          <a:xfrm>
            <a:off x="0" y="1371002"/>
            <a:ext cx="1203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Time Series Decomposition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ways to decompose a time series: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Additive 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the components are independent of each other and do not vary proportionally with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T_t+S_t+R_t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when the seasonal effect is constant over time. Example: Monthly sales increasing by a fixed amount every year.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Multiplicative Model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the seasonal variation is proportional to the trend.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T_t×S_t×R_tY_t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Suitable when seasonal changes increase or decrease in magnitude as the trend increases. Example: Retail sales where seasonal fluctuations grow as the overall sales increase.</a:t>
            </a:r>
          </a:p>
        </p:txBody>
      </p:sp>
    </p:spTree>
    <p:extLst>
      <p:ext uri="{BB962C8B-B14F-4D97-AF65-F5344CB8AC3E}">
        <p14:creationId xmlns:p14="http://schemas.microsoft.com/office/powerpoint/2010/main" val="3453721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678" y="821258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Methods of Decomposition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7F630-598E-4742-8643-2190CCA1CC0C}"/>
              </a:ext>
            </a:extLst>
          </p:cNvPr>
          <p:cNvSpPr txBox="1"/>
          <p:nvPr/>
        </p:nvSpPr>
        <p:spPr>
          <a:xfrm>
            <a:off x="303690" y="1447800"/>
            <a:ext cx="115073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Decomposition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Decomposition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moving averages to estimate the trend and seasonal components.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STL (Seasonal-Trend Decomposition using LOESS)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flexible method that allows for changes in seasonality over time.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X-12-ARIMA/X-13-ARIMA-SEATS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statistical methods used for official economic time series decomposition.</a:t>
            </a:r>
          </a:p>
        </p:txBody>
      </p:sp>
    </p:spTree>
    <p:extLst>
      <p:ext uri="{BB962C8B-B14F-4D97-AF65-F5344CB8AC3E}">
        <p14:creationId xmlns:p14="http://schemas.microsoft.com/office/powerpoint/2010/main" val="216540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678" y="821258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Methods of Decomposition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E21D0-0479-4015-B6CF-B3AA23ED7778}"/>
              </a:ext>
            </a:extLst>
          </p:cNvPr>
          <p:cNvSpPr txBox="1"/>
          <p:nvPr/>
        </p:nvSpPr>
        <p:spPr>
          <a:xfrm>
            <a:off x="262126" y="1600200"/>
            <a:ext cx="106203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Decomposition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Decomposed time series typically consists of four separate plots: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Time Series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Component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Component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Residual/Noise Component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plots help in identifying trends, periodicity, and randomness in the data.</a:t>
            </a:r>
          </a:p>
        </p:txBody>
      </p:sp>
    </p:spTree>
    <p:extLst>
      <p:ext uri="{BB962C8B-B14F-4D97-AF65-F5344CB8AC3E}">
        <p14:creationId xmlns:p14="http://schemas.microsoft.com/office/powerpoint/2010/main" val="101594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Decomposition of Time Series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8BCAD7-7647-40A1-9562-3887CDF2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104"/>
            <a:ext cx="12192000" cy="56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33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D2C44-A0DC-4BAD-B8D4-824B855E4F16}"/>
              </a:ext>
            </a:extLst>
          </p:cNvPr>
          <p:cNvSpPr txBox="1"/>
          <p:nvPr/>
        </p:nvSpPr>
        <p:spPr>
          <a:xfrm>
            <a:off x="262127" y="1600210"/>
            <a:ext cx="106203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 Function (ACF) and Partial Autocorrelation Function (PACF)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and PACF are essential tools in time series analysis for identifying dependencies and selecting appropriate lags for models like AR, MA, and ARIMA.</a:t>
            </a:r>
          </a:p>
        </p:txBody>
      </p:sp>
    </p:spTree>
    <p:extLst>
      <p:ext uri="{BB962C8B-B14F-4D97-AF65-F5344CB8AC3E}">
        <p14:creationId xmlns:p14="http://schemas.microsoft.com/office/powerpoint/2010/main" val="343532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98FE9-7F1A-4CC0-B035-6AEC0498CFED}"/>
              </a:ext>
            </a:extLst>
          </p:cNvPr>
          <p:cNvSpPr txBox="1"/>
          <p:nvPr/>
        </p:nvSpPr>
        <p:spPr>
          <a:xfrm>
            <a:off x="0" y="1349007"/>
            <a:ext cx="1219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Autocorrelation Function (ACF)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 measures how a time series is correlated with its past values (lags).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Plot 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spikes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certain lags indicate strong correlation with past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decays slowly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time series likely has a trend (non-stationary).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seasonal spikes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data exhibits seasonality.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ACF cuts off after a few lags, the series might follow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MA(q)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decaying gradually → AR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cutting off at lag q → MA(q) process</a:t>
            </a:r>
          </a:p>
        </p:txBody>
      </p:sp>
    </p:spTree>
    <p:extLst>
      <p:ext uri="{BB962C8B-B14F-4D97-AF65-F5344CB8AC3E}">
        <p14:creationId xmlns:p14="http://schemas.microsoft.com/office/powerpoint/2010/main" val="139207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AE4D4-C1C6-4967-A36A-47F5030320F4}"/>
              </a:ext>
            </a:extLst>
          </p:cNvPr>
          <p:cNvSpPr txBox="1"/>
          <p:nvPr/>
        </p:nvSpPr>
        <p:spPr>
          <a:xfrm>
            <a:off x="262127" y="1467955"/>
            <a:ext cx="1075512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Partial Autocorrelation Function (PACF)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measures the direct relationship between a time series and its past values by removing the effects of intermediate lags.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Plot 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cutoff at lag 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AR(p)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both ACF and PACF gradually decay, the series may be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ARMA/ARIMA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can help determine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AR terms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ARIMA models.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cuts off at lag p → AR(p)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has a gradual decay → ARMA process</a:t>
            </a:r>
          </a:p>
        </p:txBody>
      </p:sp>
    </p:spTree>
    <p:extLst>
      <p:ext uri="{BB962C8B-B14F-4D97-AF65-F5344CB8AC3E}">
        <p14:creationId xmlns:p14="http://schemas.microsoft.com/office/powerpoint/2010/main" val="360847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17</a:t>
            </a:fld>
            <a:endParaRPr spc="-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455245-7B72-491B-B557-2A59311CD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925458"/>
              </p:ext>
            </p:extLst>
          </p:nvPr>
        </p:nvGraphicFramePr>
        <p:xfrm>
          <a:off x="100072" y="2453396"/>
          <a:ext cx="11634729" cy="23202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78243">
                  <a:extLst>
                    <a:ext uri="{9D8B030D-6E8A-4147-A177-3AD203B41FA5}">
                      <a16:colId xmlns:a16="http://schemas.microsoft.com/office/drawing/2014/main" val="3728557834"/>
                    </a:ext>
                  </a:extLst>
                </a:gridCol>
                <a:gridCol w="3878243">
                  <a:extLst>
                    <a:ext uri="{9D8B030D-6E8A-4147-A177-3AD203B41FA5}">
                      <a16:colId xmlns:a16="http://schemas.microsoft.com/office/drawing/2014/main" val="2384361487"/>
                    </a:ext>
                  </a:extLst>
                </a:gridCol>
                <a:gridCol w="3878243">
                  <a:extLst>
                    <a:ext uri="{9D8B030D-6E8A-4147-A177-3AD203B41FA5}">
                      <a16:colId xmlns:a16="http://schemas.microsoft.com/office/drawing/2014/main" val="1536660911"/>
                    </a:ext>
                  </a:extLst>
                </a:gridCol>
              </a:tblGrid>
              <a:tr h="58006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ACF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PACF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058562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r>
                        <a:rPr lang="en-US" sz="2400"/>
                        <a:t>AR(p)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Decays gradually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Cuts off at lag 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603851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r>
                        <a:rPr lang="en-US" sz="2400"/>
                        <a:t>MA(q)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Cuts off at lag 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Decays gradually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272270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r>
                        <a:rPr lang="en-US" sz="2400"/>
                        <a:t>ARMA(p, 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Decays gradually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Decays gradually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52781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82C513F-9F02-4AB9-9AEA-43E4CDD4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27" y="1388815"/>
            <a:ext cx="937260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Use ACF and PACF for Model Selection?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74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D54E7-B70C-438F-BC75-1D6F004BFCFB}"/>
              </a:ext>
            </a:extLst>
          </p:cNvPr>
          <p:cNvSpPr txBox="1"/>
          <p:nvPr/>
        </p:nvSpPr>
        <p:spPr>
          <a:xfrm>
            <a:off x="309879" y="685800"/>
            <a:ext cx="1192987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"Cutting Off at Lag p or q" Mean?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say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"cutting off at lag p or q"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are referring to when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or PACF plot suddenly drops to near zero after a certain lag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stays close to zero for all further lags.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ACF Cutting Off at Lag q (Moving Average Process – MA(q))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significant spikes up to lag 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then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drops close to zero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the time series follows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MA(q)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current value is influenced by noise from the past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lags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not beyond.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PACF, on the other hand, will decay gradually.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ACF has spikes at lags 1, 2, 3, but is near zero after lag 3, we say 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off at lag 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MA(3)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2419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19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7B21D-FC1B-4CBE-A043-5526D8E577CD}"/>
              </a:ext>
            </a:extLst>
          </p:cNvPr>
          <p:cNvSpPr txBox="1"/>
          <p:nvPr/>
        </p:nvSpPr>
        <p:spPr>
          <a:xfrm>
            <a:off x="0" y="762000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PACF Cutting Off at Lag p (Autoregressive Process – AR(p))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significant spikes up to lag 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then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drops close to zero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AR(p)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current value is influenced directly by its own past values up to lag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not beyond.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ACF, in this case, will decay gradually.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PACF has spikes at lags 1 and 2 but is near zero after lag 2, we say PACF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off at lag 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AR(2)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913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ACF and PACF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20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2350E-F7F6-45A9-B0A9-06479A203AA5}"/>
              </a:ext>
            </a:extLst>
          </p:cNvPr>
          <p:cNvSpPr txBox="1"/>
          <p:nvPr/>
        </p:nvSpPr>
        <p:spPr>
          <a:xfrm>
            <a:off x="457200" y="838200"/>
            <a:ext cx="11049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cuts off at lag 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decays gradually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MA(3) model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PACF cuts off at lag 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decays gradually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AR(2) model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decay gradually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 model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4871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91345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Time Series Data </a:t>
            </a:r>
            <a:r>
              <a:rPr lang="en-US" spc="-10" dirty="0" err="1"/>
              <a:t>Preparatiom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21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B0CA7-F2EF-4034-B393-8C79C8D8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612"/>
            <a:ext cx="12192000" cy="57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9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102870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Model Estimation and Forecasting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22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CC141-9BDD-429F-BC5F-4CE4E3C63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836"/>
            <a:ext cx="12192000" cy="582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07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44300"/>
            <a:ext cx="102870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  <a:r>
              <a:rPr lang="en-US" spc="-10" dirty="0"/>
              <a:t>: Model Estimation and Forecasting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23</a:t>
            </a:fld>
            <a:endParaRPr spc="-5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F7D5276-111F-4894-BF8E-FA7E0E06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58444"/>
            <a:ext cx="10668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What This Code Does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Loads necessary packages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Simulates a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Checks stationarity (ADF test) &amp; differences data if needed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Plots ACF &amp; PACF to determine AR &amp; MA terms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Fits ARIMA using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auto.arima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Checks residuals &amp; diagnostics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Forecasts the next 12 periods</a:t>
            </a:r>
          </a:p>
        </p:txBody>
      </p:sp>
    </p:spTree>
    <p:extLst>
      <p:ext uri="{BB962C8B-B14F-4D97-AF65-F5344CB8AC3E}">
        <p14:creationId xmlns:p14="http://schemas.microsoft.com/office/powerpoint/2010/main" val="4176413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Session</a:t>
            </a:r>
            <a:r>
              <a:rPr spc="-25" dirty="0"/>
              <a:t> </a:t>
            </a:r>
            <a:r>
              <a:rPr dirty="0"/>
              <a:t>8:</a:t>
            </a:r>
            <a:r>
              <a:rPr spc="-5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dirty="0"/>
              <a:t>Series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1213103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62" y="1604362"/>
            <a:ext cx="10820258" cy="20099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24</a:t>
            </a:fld>
            <a:endParaRPr spc="-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4752" y="4275861"/>
            <a:ext cx="422148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7200" b="1" spc="-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7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67" y="304800"/>
            <a:ext cx="8433816" cy="3471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0952" y="3652215"/>
            <a:ext cx="4726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spc="-2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alibri"/>
                <a:cs typeface="Calibri"/>
                <a:hlinkClick r:id="rId3"/>
              </a:rPr>
              <a:t>https://cdam.chuka.ac.ke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0" dirty="0"/>
              <a:t>CENTER</a:t>
            </a:r>
            <a:r>
              <a:rPr spc="45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DATA</a:t>
            </a:r>
            <a:r>
              <a:rPr spc="50" dirty="0"/>
              <a:t> </a:t>
            </a:r>
            <a:r>
              <a:rPr spc="45" dirty="0"/>
              <a:t>ANALYTICS</a:t>
            </a:r>
            <a:r>
              <a:rPr spc="70" dirty="0"/>
              <a:t> </a:t>
            </a:r>
            <a:r>
              <a:rPr spc="50" dirty="0"/>
              <a:t>AND </a:t>
            </a:r>
            <a:r>
              <a:rPr spc="55" dirty="0"/>
              <a:t>MODELING,</a:t>
            </a:r>
            <a:r>
              <a:rPr spc="80" dirty="0"/>
              <a:t> </a:t>
            </a:r>
            <a:r>
              <a:rPr spc="70" dirty="0"/>
              <a:t>CHUKA</a:t>
            </a:r>
            <a:r>
              <a:rPr spc="55" dirty="0"/>
              <a:t> </a:t>
            </a:r>
            <a:r>
              <a:rPr spc="6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pc="-10" dirty="0"/>
              <a:t>2/8/2025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25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1889</Words>
  <Application>Microsoft Office PowerPoint</Application>
  <PresentationFormat>Widescreen</PresentationFormat>
  <Paragraphs>212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Times New Roman</vt:lpstr>
      <vt:lpstr>Wingdings</vt:lpstr>
      <vt:lpstr>Office Theme</vt:lpstr>
      <vt:lpstr>INTRODUCTION TO STATISTICAL DATA ANALYSIS USING R &amp; RSTUDIO</vt:lpstr>
      <vt:lpstr>Session 8: Time Series Analysis</vt:lpstr>
      <vt:lpstr>Session 8: Time Series Analysis</vt:lpstr>
      <vt:lpstr>Session 8: Time Series Analysis</vt:lpstr>
      <vt:lpstr>Session 8: Time Series Analysis</vt:lpstr>
      <vt:lpstr>Session 8: Time Series Analysis</vt:lpstr>
      <vt:lpstr>Session 8: Time Series Analysis</vt:lpstr>
      <vt:lpstr>Session 8: Time Series Analysis: Decomposition of Time Series</vt:lpstr>
      <vt:lpstr>Session 8: Time Series Analysis</vt:lpstr>
      <vt:lpstr>Session 8: Time Series Analysis</vt:lpstr>
      <vt:lpstr>Session 8: Time Series Analysis: Methods of Decomposition</vt:lpstr>
      <vt:lpstr>Session 8: Time Series Analysis: Methods of Decomposition</vt:lpstr>
      <vt:lpstr>Session 8: Time Series Analysis: Decomposition of Time Series</vt:lpstr>
      <vt:lpstr>Session 8: Time Series Analysis: ACF and PACF</vt:lpstr>
      <vt:lpstr>Session 8: Time Series Analysis: ACF and PACF</vt:lpstr>
      <vt:lpstr>Session 8: Time Series Analysis: ACF and PACF</vt:lpstr>
      <vt:lpstr>Session 8: Time Series Analysis: ACF and PACF</vt:lpstr>
      <vt:lpstr>Session 8: Time Series Analysis: ACF and PACF</vt:lpstr>
      <vt:lpstr>Session 8: Time Series Analysis: ACF and PACF</vt:lpstr>
      <vt:lpstr>Session 8: Time Series Analysis: ACF and PACF</vt:lpstr>
      <vt:lpstr>Session 8: Time Series Analysis: Time Series Data Preparatiom</vt:lpstr>
      <vt:lpstr>Session 8: Time Series Analysis: Model Estimation and Forecasting</vt:lpstr>
      <vt:lpstr>Session 8: Time Series Analysis: Model Estimation and Forecasting</vt:lpstr>
      <vt:lpstr>Session 8: Time Series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QUALTRICS AS A TOOL FOR  BASIC STATISTICAL ANALYSIS</dc:title>
  <dc:creator>Scientist</dc:creator>
  <cp:lastModifiedBy>USER</cp:lastModifiedBy>
  <cp:revision>4</cp:revision>
  <dcterms:created xsi:type="dcterms:W3CDTF">2025-02-24T11:12:34Z</dcterms:created>
  <dcterms:modified xsi:type="dcterms:W3CDTF">2025-06-04T13:31:40Z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PowerPoint® 2016</vt:lpwstr>
  </property>
</Properties>
</file>