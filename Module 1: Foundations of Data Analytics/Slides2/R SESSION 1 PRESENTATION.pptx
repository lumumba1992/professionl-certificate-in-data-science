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63" r:id="rId3"/>
    <p:sldId id="274" r:id="rId4"/>
    <p:sldId id="269" r:id="rId5"/>
    <p:sldId id="270" r:id="rId6"/>
    <p:sldId id="272" r:id="rId7"/>
    <p:sldId id="271" r:id="rId8"/>
    <p:sldId id="273" r:id="rId9"/>
    <p:sldId id="275" r:id="rId10"/>
    <p:sldId id="276" r:id="rId11"/>
    <p:sldId id="277" r:id="rId12"/>
    <p:sldId id="278" r:id="rId13"/>
    <p:sldId id="281" r:id="rId14"/>
    <p:sldId id="279" r:id="rId15"/>
    <p:sldId id="282" r:id="rId16"/>
    <p:sldId id="283" r:id="rId17"/>
    <p:sldId id="286" r:id="rId18"/>
    <p:sldId id="284" r:id="rId19"/>
    <p:sldId id="285" r:id="rId20"/>
    <p:sldId id="287" r:id="rId21"/>
    <p:sldId id="259"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04" y="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C467789-BA60-4E8A-A29E-029CA43BB9E3}" type="datetimeFigureOut">
              <a:rPr lang="en-US" smtClean="0"/>
              <a:t>5/5/2025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B789186-947C-449E-9F98-4F049805983A}" type="slidenum">
              <a:rPr lang="en-US" smtClean="0"/>
              <a:t>‹#›</a:t>
            </a:fld>
            <a:endParaRPr lang="en-US"/>
          </a:p>
        </p:txBody>
      </p:sp>
    </p:spTree>
    <p:extLst>
      <p:ext uri="{BB962C8B-B14F-4D97-AF65-F5344CB8AC3E}">
        <p14:creationId xmlns:p14="http://schemas.microsoft.com/office/powerpoint/2010/main" val="192299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0" i="0">
                <a:solidFill>
                  <a:srgbClr val="FF0000"/>
                </a:solidFill>
                <a:latin typeface="Arial Black"/>
                <a:cs typeface="Arial Black"/>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FF0000"/>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FF0000"/>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5/5/2025</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FF0000"/>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5/5/2025</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C72FCC"/>
          </a:solidFill>
        </p:spPr>
        <p:txBody>
          <a:bodyPr wrap="square" lIns="0" tIns="0" rIns="0" bIns="0" rtlCol="0"/>
          <a:lstStyle/>
          <a:p>
            <a:endParaRPr/>
          </a:p>
        </p:txBody>
      </p:sp>
      <p:sp>
        <p:nvSpPr>
          <p:cNvPr id="17" name="bg object 17"/>
          <p:cNvSpPr/>
          <p:nvPr/>
        </p:nvSpPr>
        <p:spPr>
          <a:xfrm>
            <a:off x="0" y="6333744"/>
            <a:ext cx="12189460" cy="64135"/>
          </a:xfrm>
          <a:custGeom>
            <a:avLst/>
            <a:gdLst/>
            <a:ahLst/>
            <a:cxnLst/>
            <a:rect l="l" t="t" r="r" b="b"/>
            <a:pathLst>
              <a:path w="12189460" h="64135">
                <a:moveTo>
                  <a:pt x="12188952" y="0"/>
                </a:moveTo>
                <a:lnTo>
                  <a:pt x="0" y="0"/>
                </a:lnTo>
                <a:lnTo>
                  <a:pt x="0" y="64007"/>
                </a:lnTo>
                <a:lnTo>
                  <a:pt x="12188952" y="64007"/>
                </a:lnTo>
                <a:lnTo>
                  <a:pt x="12188952" y="0"/>
                </a:lnTo>
                <a:close/>
              </a:path>
            </a:pathLst>
          </a:custGeom>
          <a:solidFill>
            <a:srgbClr val="E22C91"/>
          </a:solidFill>
        </p:spPr>
        <p:txBody>
          <a:bodyPr wrap="square" lIns="0" tIns="0" rIns="0" bIns="0" rtlCol="0"/>
          <a:lstStyle/>
          <a:p>
            <a:endParaRPr/>
          </a:p>
        </p:txBody>
      </p:sp>
      <p:sp>
        <p:nvSpPr>
          <p:cNvPr id="18" name="bg object 18"/>
          <p:cNvSpPr/>
          <p:nvPr/>
        </p:nvSpPr>
        <p:spPr>
          <a:xfrm>
            <a:off x="1207008" y="4343400"/>
            <a:ext cx="9875520" cy="0"/>
          </a:xfrm>
          <a:custGeom>
            <a:avLst/>
            <a:gdLst/>
            <a:ahLst/>
            <a:cxnLst/>
            <a:rect l="l" t="t" r="r" b="b"/>
            <a:pathLst>
              <a:path w="9875520">
                <a:moveTo>
                  <a:pt x="0" y="0"/>
                </a:moveTo>
                <a:lnTo>
                  <a:pt x="9875520" y="0"/>
                </a:lnTo>
              </a:path>
            </a:pathLst>
          </a:custGeom>
          <a:ln w="6096">
            <a:solidFill>
              <a:srgbClr val="7E7E7E"/>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5/5/2025</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C72FCC"/>
          </a:solidFill>
        </p:spPr>
        <p:txBody>
          <a:bodyPr wrap="square" lIns="0" tIns="0" rIns="0" bIns="0" rtlCol="0"/>
          <a:lstStyle/>
          <a:p>
            <a:endParaRPr/>
          </a:p>
        </p:txBody>
      </p:sp>
      <p:sp>
        <p:nvSpPr>
          <p:cNvPr id="17" name="bg object 17"/>
          <p:cNvSpPr/>
          <p:nvPr/>
        </p:nvSpPr>
        <p:spPr>
          <a:xfrm>
            <a:off x="0" y="6333744"/>
            <a:ext cx="12189460" cy="64135"/>
          </a:xfrm>
          <a:custGeom>
            <a:avLst/>
            <a:gdLst/>
            <a:ahLst/>
            <a:cxnLst/>
            <a:rect l="l" t="t" r="r" b="b"/>
            <a:pathLst>
              <a:path w="12189460" h="64135">
                <a:moveTo>
                  <a:pt x="12188952" y="0"/>
                </a:moveTo>
                <a:lnTo>
                  <a:pt x="0" y="0"/>
                </a:lnTo>
                <a:lnTo>
                  <a:pt x="0" y="64007"/>
                </a:lnTo>
                <a:lnTo>
                  <a:pt x="12188952" y="64007"/>
                </a:lnTo>
                <a:lnTo>
                  <a:pt x="12188952" y="0"/>
                </a:lnTo>
                <a:close/>
              </a:path>
            </a:pathLst>
          </a:custGeom>
          <a:solidFill>
            <a:srgbClr val="E22C91"/>
          </a:solidFill>
        </p:spPr>
        <p:txBody>
          <a:bodyPr wrap="square" lIns="0" tIns="0" rIns="0" bIns="0" rtlCol="0"/>
          <a:lstStyle/>
          <a:p>
            <a:endParaRPr/>
          </a:p>
        </p:txBody>
      </p:sp>
      <p:sp>
        <p:nvSpPr>
          <p:cNvPr id="2" name="Holder 2"/>
          <p:cNvSpPr>
            <a:spLocks noGrp="1"/>
          </p:cNvSpPr>
          <p:nvPr>
            <p:ph type="title"/>
          </p:nvPr>
        </p:nvSpPr>
        <p:spPr>
          <a:xfrm>
            <a:off x="1210462" y="272033"/>
            <a:ext cx="5873115" cy="329565"/>
          </a:xfrm>
          <a:prstGeom prst="rect">
            <a:avLst/>
          </a:prstGeom>
        </p:spPr>
        <p:txBody>
          <a:bodyPr wrap="square" lIns="0" tIns="0" rIns="0" bIns="0">
            <a:spAutoFit/>
          </a:bodyPr>
          <a:lstStyle>
            <a:lvl1pPr>
              <a:defRPr sz="2000" b="0" i="0">
                <a:solidFill>
                  <a:srgbClr val="FF0000"/>
                </a:solidFill>
                <a:latin typeface="Arial Black"/>
                <a:cs typeface="Arial Black"/>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5/5/2025</a:t>
            </a:fld>
            <a:endParaRPr lang="en-US"/>
          </a:p>
        </p:txBody>
      </p:sp>
      <p:sp>
        <p:nvSpPr>
          <p:cNvPr id="6" name="Holder 6"/>
          <p:cNvSpPr>
            <a:spLocks noGrp="1"/>
          </p:cNvSpPr>
          <p:nvPr>
            <p:ph type="sldNum" sz="quarter" idx="7"/>
          </p:nvPr>
        </p:nvSpPr>
        <p:spPr>
          <a:xfrm>
            <a:off x="11017250" y="6577076"/>
            <a:ext cx="157479" cy="160020"/>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38100">
              <a:lnSpc>
                <a:spcPts val="110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google.com/spreadsheets/d/1146Y7ZYtzs6Mvu14igio-vIoGMdTJS3SC27mp7lnwGU/edit?usp=shar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dam.chuka.ac.ke/" TargetMode="External"/><Relationship Id="rId2" Type="http://schemas.openxmlformats.org/officeDocument/2006/relationships/image" Target="../media/image9.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8240" y="4038600"/>
            <a:ext cx="9875520" cy="0"/>
          </a:xfrm>
          <a:custGeom>
            <a:avLst/>
            <a:gdLst/>
            <a:ahLst/>
            <a:cxnLst/>
            <a:rect l="l" t="t" r="r" b="b"/>
            <a:pathLst>
              <a:path w="9875520">
                <a:moveTo>
                  <a:pt x="0" y="0"/>
                </a:moveTo>
                <a:lnTo>
                  <a:pt x="9875520" y="0"/>
                </a:lnTo>
              </a:path>
            </a:pathLst>
          </a:custGeom>
          <a:ln w="6096">
            <a:solidFill>
              <a:srgbClr val="7E7E7E"/>
            </a:solidFill>
          </a:ln>
        </p:spPr>
        <p:txBody>
          <a:bodyPr wrap="square" lIns="0" tIns="0" rIns="0" bIns="0" rtlCol="0"/>
          <a:lstStyle/>
          <a:p>
            <a:endParaRPr/>
          </a:p>
        </p:txBody>
      </p:sp>
      <p:sp>
        <p:nvSpPr>
          <p:cNvPr id="3" name="object 3"/>
          <p:cNvSpPr txBox="1">
            <a:spLocks noGrp="1"/>
          </p:cNvSpPr>
          <p:nvPr>
            <p:ph type="title"/>
          </p:nvPr>
        </p:nvSpPr>
        <p:spPr>
          <a:xfrm>
            <a:off x="990600" y="457200"/>
            <a:ext cx="10591799" cy="1196866"/>
          </a:xfrm>
          <a:prstGeom prst="rect">
            <a:avLst/>
          </a:prstGeom>
        </p:spPr>
        <p:txBody>
          <a:bodyPr vert="horz" wrap="square" lIns="0" tIns="78740" rIns="0" bIns="0" rtlCol="0">
            <a:spAutoFit/>
          </a:bodyPr>
          <a:lstStyle/>
          <a:p>
            <a:pPr marL="12700" marR="5080" indent="390525" algn="ctr">
              <a:lnSpc>
                <a:spcPts val="2860"/>
              </a:lnSpc>
              <a:spcBef>
                <a:spcPts val="620"/>
              </a:spcBef>
            </a:pPr>
            <a:br>
              <a:rPr lang="en-US" sz="2800" spc="-50" dirty="0"/>
            </a:br>
            <a:r>
              <a:rPr sz="2800" spc="-50" dirty="0"/>
              <a:t>INTRODUCTION</a:t>
            </a:r>
            <a:r>
              <a:rPr sz="2800" spc="-195" dirty="0"/>
              <a:t> </a:t>
            </a:r>
            <a:r>
              <a:rPr sz="2800" spc="-10" dirty="0"/>
              <a:t>TO</a:t>
            </a:r>
            <a:r>
              <a:rPr sz="2800" spc="-200" dirty="0"/>
              <a:t> </a:t>
            </a:r>
            <a:r>
              <a:rPr sz="2800" spc="-10" dirty="0"/>
              <a:t>STATISTICAL </a:t>
            </a:r>
            <a:r>
              <a:rPr sz="2800" spc="-175" dirty="0"/>
              <a:t>DATA</a:t>
            </a:r>
            <a:r>
              <a:rPr sz="2800" spc="-130" dirty="0"/>
              <a:t> </a:t>
            </a:r>
            <a:r>
              <a:rPr sz="2800" spc="-95" dirty="0"/>
              <a:t>ANALYSIS</a:t>
            </a:r>
            <a:r>
              <a:rPr lang="en-US" sz="2800" spc="-155" dirty="0"/>
              <a:t> </a:t>
            </a:r>
            <a:r>
              <a:rPr sz="2800" spc="-25" dirty="0"/>
              <a:t>USING</a:t>
            </a:r>
            <a:r>
              <a:rPr sz="2800" spc="-114" dirty="0"/>
              <a:t> </a:t>
            </a:r>
            <a:r>
              <a:rPr sz="2800" dirty="0"/>
              <a:t>R</a:t>
            </a:r>
            <a:r>
              <a:rPr sz="2800" spc="-95" dirty="0"/>
              <a:t> </a:t>
            </a:r>
            <a:r>
              <a:rPr sz="2800" dirty="0"/>
              <a:t>&amp;</a:t>
            </a:r>
            <a:r>
              <a:rPr sz="2800" spc="-95" dirty="0"/>
              <a:t> </a:t>
            </a:r>
            <a:r>
              <a:rPr sz="2800" spc="-25" dirty="0"/>
              <a:t>RSTUDIO</a:t>
            </a:r>
            <a:endParaRPr sz="2800" dirty="0"/>
          </a:p>
        </p:txBody>
      </p:sp>
      <p:sp>
        <p:nvSpPr>
          <p:cNvPr id="4" name="object 4"/>
          <p:cNvSpPr txBox="1"/>
          <p:nvPr/>
        </p:nvSpPr>
        <p:spPr>
          <a:xfrm>
            <a:off x="2438400" y="2066397"/>
            <a:ext cx="6705599" cy="2131353"/>
          </a:xfrm>
          <a:prstGeom prst="rect">
            <a:avLst/>
          </a:prstGeom>
        </p:spPr>
        <p:txBody>
          <a:bodyPr vert="horz" wrap="square" lIns="0" tIns="160020" rIns="0" bIns="0" rtlCol="0">
            <a:spAutoFit/>
          </a:bodyPr>
          <a:lstStyle/>
          <a:p>
            <a:pPr marL="12700" algn="ctr">
              <a:lnSpc>
                <a:spcPct val="100000"/>
              </a:lnSpc>
              <a:spcBef>
                <a:spcPts val="1260"/>
              </a:spcBef>
              <a:tabLst>
                <a:tab pos="523240" algn="l"/>
                <a:tab pos="1057910" algn="l"/>
              </a:tabLst>
            </a:pPr>
            <a:r>
              <a:rPr lang="en-US" sz="2500" b="1" i="1" spc="120" dirty="0">
                <a:latin typeface="Arial"/>
                <a:cs typeface="Arial"/>
              </a:rPr>
              <a:t>LUMUMBA WANDERA VICTOR </a:t>
            </a:r>
          </a:p>
          <a:p>
            <a:pPr marL="12700" algn="ctr">
              <a:lnSpc>
                <a:spcPct val="100000"/>
              </a:lnSpc>
              <a:spcBef>
                <a:spcPts val="1260"/>
              </a:spcBef>
              <a:tabLst>
                <a:tab pos="523240" algn="l"/>
                <a:tab pos="1057910" algn="l"/>
              </a:tabLst>
            </a:pPr>
            <a:r>
              <a:rPr lang="en-US" sz="2500" b="1" i="1" spc="120" dirty="0">
                <a:latin typeface="Arial"/>
                <a:cs typeface="Arial"/>
              </a:rPr>
              <a:t>(M.Sc. Applied Statistics)</a:t>
            </a:r>
            <a:endParaRPr sz="2500" dirty="0">
              <a:latin typeface="Arial"/>
              <a:cs typeface="Arial"/>
            </a:endParaRPr>
          </a:p>
          <a:p>
            <a:pPr marL="18415" algn="ctr">
              <a:lnSpc>
                <a:spcPct val="100000"/>
              </a:lnSpc>
              <a:spcBef>
                <a:spcPts val="1085"/>
              </a:spcBef>
              <a:tabLst>
                <a:tab pos="1932305" algn="l"/>
              </a:tabLst>
            </a:pPr>
            <a:r>
              <a:rPr lang="en-US" sz="2400" spc="155">
                <a:solidFill>
                  <a:srgbClr val="00AF50"/>
                </a:solidFill>
                <a:latin typeface="Arial Black"/>
                <a:cs typeface="Arial Black"/>
              </a:rPr>
              <a:t>11</a:t>
            </a:r>
            <a:r>
              <a:rPr lang="en-US" sz="2400" spc="155" baseline="30000">
                <a:solidFill>
                  <a:srgbClr val="00AF50"/>
                </a:solidFill>
                <a:latin typeface="Arial Black"/>
                <a:cs typeface="Arial Black"/>
              </a:rPr>
              <a:t>th</a:t>
            </a:r>
            <a:r>
              <a:rPr lang="en-US" sz="2400" spc="155">
                <a:solidFill>
                  <a:srgbClr val="00AF50"/>
                </a:solidFill>
                <a:latin typeface="Arial Black"/>
                <a:cs typeface="Arial Black"/>
              </a:rPr>
              <a:t> </a:t>
            </a:r>
            <a:r>
              <a:rPr sz="2400" spc="155">
                <a:solidFill>
                  <a:srgbClr val="00AF50"/>
                </a:solidFill>
                <a:latin typeface="Arial Black"/>
                <a:cs typeface="Arial Black"/>
              </a:rPr>
              <a:t>February</a:t>
            </a:r>
            <a:r>
              <a:rPr sz="2400" spc="-35">
                <a:solidFill>
                  <a:srgbClr val="00AF50"/>
                </a:solidFill>
                <a:latin typeface="Arial Black"/>
                <a:cs typeface="Arial Black"/>
              </a:rPr>
              <a:t>,</a:t>
            </a:r>
            <a:r>
              <a:rPr sz="2400" dirty="0">
                <a:solidFill>
                  <a:srgbClr val="00AF50"/>
                </a:solidFill>
                <a:latin typeface="Arial Black"/>
                <a:cs typeface="Arial Black"/>
              </a:rPr>
              <a:t>	</a:t>
            </a:r>
            <a:r>
              <a:rPr sz="2400" spc="120" dirty="0">
                <a:solidFill>
                  <a:srgbClr val="00AF50"/>
                </a:solidFill>
                <a:latin typeface="Arial Black"/>
                <a:cs typeface="Arial Black"/>
              </a:rPr>
              <a:t>2025</a:t>
            </a:r>
            <a:endParaRPr sz="2400" dirty="0">
              <a:latin typeface="Arial Black"/>
              <a:cs typeface="Arial Black"/>
            </a:endParaRPr>
          </a:p>
          <a:p>
            <a:pPr marL="1841500">
              <a:lnSpc>
                <a:spcPct val="100000"/>
              </a:lnSpc>
              <a:spcBef>
                <a:spcPts val="1200"/>
              </a:spcBef>
            </a:pPr>
            <a:r>
              <a:rPr sz="2400" b="1" spc="-50" dirty="0">
                <a:latin typeface="Times New Roman"/>
                <a:cs typeface="Times New Roman"/>
              </a:rPr>
              <a:t>.</a:t>
            </a:r>
            <a:endParaRPr sz="2400" dirty="0">
              <a:latin typeface="Times New Roman"/>
              <a:cs typeface="Times New Roman"/>
            </a:endParaRPr>
          </a:p>
        </p:txBody>
      </p:sp>
      <p:pic>
        <p:nvPicPr>
          <p:cNvPr id="5" name="object 5"/>
          <p:cNvPicPr/>
          <p:nvPr/>
        </p:nvPicPr>
        <p:blipFill>
          <a:blip r:embed="rId2" cstate="print"/>
          <a:stretch>
            <a:fillRect/>
          </a:stretch>
        </p:blipFill>
        <p:spPr>
          <a:xfrm>
            <a:off x="2791967" y="4102756"/>
            <a:ext cx="6989064" cy="1908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176324" y="12276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442081"/>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0" y="442081"/>
            <a:ext cx="12039600" cy="5789470"/>
          </a:xfrm>
          <a:prstGeom prst="rect">
            <a:avLst/>
          </a:prstGeom>
          <a:noFill/>
        </p:spPr>
        <p:txBody>
          <a:bodyPr wrap="square">
            <a:spAutoFit/>
          </a:bodyPr>
          <a:lstStyle/>
          <a:p>
            <a:pPr marL="0" indent="0" algn="l">
              <a:buNone/>
            </a:pPr>
            <a:r>
              <a:rPr lang="en-US" sz="2800" b="1" dirty="0">
                <a:latin typeface="Times New Roman" panose="02020603050405020304" pitchFamily="18" charset="0"/>
                <a:cs typeface="Times New Roman" panose="02020603050405020304" pitchFamily="18" charset="0"/>
              </a:rPr>
              <a:t>History about R</a:t>
            </a:r>
          </a:p>
          <a:p>
            <a:pPr marL="0" marR="0" algn="just">
              <a:lnSpc>
                <a:spcPct val="107000"/>
              </a:lnSpc>
              <a:spcBef>
                <a:spcPts val="0"/>
              </a:spcBef>
              <a:spcAft>
                <a:spcPts val="800"/>
              </a:spcAft>
            </a:pPr>
            <a:r>
              <a:rPr lang="en-US" sz="2100" dirty="0">
                <a:effectLst/>
                <a:latin typeface="Times New Roman" panose="02020603050405020304" pitchFamily="18" charset="0"/>
                <a:ea typeface="DengXian" panose="02010600030101010101" pitchFamily="2" charset="-122"/>
                <a:cs typeface="Times New Roman" panose="02020603050405020304" pitchFamily="18" charset="0"/>
              </a:rPr>
              <a:t>R, a powerful and open-source programming language, has become a cornerstone in the realm of data analysis and statistical computing. Developed by statisticians and data scientists, R offers a versatile environment for handling, exploring, and visualizing data. Its extensive collection of packages and libraries caters to a wide array of statistical and machine learning techniques, making it an invaluable tool for researchers, analysts, and postgraduate students alike. Whether you are cleaning and manipulating datasets, conducting exploratory data analysis, or building sophisticated predictive models, R provides a seamless and reproducible workflow. With its syntax designed for ease of use and a vibrant community that contributes to its growth, R serves as a fundamental skill for those seeking to unravel the insights hidden within the vast landscape of data. As we embark on this journey of learning, the versatility and efficiency of R will empower you to navigate the intricacies of data analysis and derive meaningful conclusions from complex datasets.</a:t>
            </a:r>
          </a:p>
          <a:p>
            <a:pPr marL="0" marR="0" algn="just">
              <a:lnSpc>
                <a:spcPct val="107000"/>
              </a:lnSpc>
              <a:spcBef>
                <a:spcPts val="0"/>
              </a:spcBef>
              <a:spcAft>
                <a:spcPts val="800"/>
              </a:spcAft>
            </a:pPr>
            <a:r>
              <a:rPr lang="en-US" sz="2100" dirty="0">
                <a:effectLst/>
                <a:latin typeface="Times New Roman" panose="02020603050405020304" pitchFamily="18" charset="0"/>
                <a:ea typeface="DengXian" panose="02010600030101010101" pitchFamily="2" charset="-122"/>
                <a:cs typeface="Times New Roman" panose="02020603050405020304" pitchFamily="18" charset="0"/>
              </a:rPr>
              <a:t>Although R is a programming language, it is unlike most others. It is designed to analyze data. It isn’t too difficult to learn, and is extremely popular. R has the advantage that it is free and open-source, and that thousands of users have contributed “add-on” packages that are readily downloadable by anyone. R is found in all areas of academia that encounter data, and in many private and public organizations. R is great for any job or task that uses data.</a:t>
            </a:r>
          </a:p>
        </p:txBody>
      </p:sp>
    </p:spTree>
    <p:extLst>
      <p:ext uri="{BB962C8B-B14F-4D97-AF65-F5344CB8AC3E}">
        <p14:creationId xmlns:p14="http://schemas.microsoft.com/office/powerpoint/2010/main" val="3217973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762000" y="1219200"/>
            <a:ext cx="10374630" cy="4401205"/>
          </a:xfrm>
          <a:prstGeom prst="rect">
            <a:avLst/>
          </a:prstGeom>
          <a:noFill/>
        </p:spPr>
        <p:txBody>
          <a:bodyPr wrap="square">
            <a:spAutoFit/>
          </a:bodyPr>
          <a:lstStyle/>
          <a:p>
            <a:pPr marL="0" indent="0" algn="l">
              <a:buNone/>
            </a:pPr>
            <a:r>
              <a:rPr lang="en-US" sz="2800" b="1" i="0" u="none" strike="noStrike" baseline="0" dirty="0">
                <a:latin typeface="Times New Roman" panose="02020603050405020304" pitchFamily="18" charset="0"/>
                <a:cs typeface="Times New Roman" panose="02020603050405020304" pitchFamily="18" charset="0"/>
              </a:rPr>
              <a:t>What is R?</a:t>
            </a: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Although R is a programming language, it is unlike most others. It is designed to analyze data. It isn’t too difficult to learn, and is extremely popular. </a:t>
            </a: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R has the advantage that it is free and open-source, and that thousands of users have contributed “add-on” packages that are readily downloadable by anyone.</a:t>
            </a: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R is found in all areas of academia that encounter data, and in many private and public organizations. R is great for any job or task that uses data.</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282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378142" y="1219200"/>
            <a:ext cx="10896600" cy="2677656"/>
          </a:xfrm>
          <a:prstGeom prst="rect">
            <a:avLst/>
          </a:prstGeom>
          <a:noFill/>
        </p:spPr>
        <p:txBody>
          <a:bodyPr wrap="square">
            <a:spAutoFit/>
          </a:bodyPr>
          <a:lstStyle/>
          <a:p>
            <a:pPr marL="0" indent="0" algn="l">
              <a:buNone/>
            </a:pPr>
            <a:r>
              <a:rPr lang="en-US" sz="2800" b="1" i="0" u="none" strike="noStrike" baseline="0" dirty="0">
                <a:latin typeface="Times New Roman" panose="02020603050405020304" pitchFamily="18" charset="0"/>
                <a:cs typeface="Times New Roman" panose="02020603050405020304" pitchFamily="18" charset="0"/>
              </a:rPr>
              <a:t>Where to get R and Rstudio</a:t>
            </a:r>
          </a:p>
          <a:p>
            <a:pPr marL="457200" indent="-457200" algn="l">
              <a:buFont typeface="Wingdings" panose="05000000000000000000" pitchFamily="2" charset="2"/>
              <a:buChar char="Ø"/>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Both are free and open-source. Download and install R first: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https://cran.r-project.org/bin/windows/base/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(for Windows) or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https://cran.r-project.org/bin/macosx/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(for Mac). </a:t>
            </a:r>
          </a:p>
          <a:p>
            <a:pPr marL="457200" indent="-457200" algn="l">
              <a:buFont typeface="Wingdings" panose="05000000000000000000" pitchFamily="2" charset="2"/>
              <a:buChar char="Ø"/>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Then, download and install RStudio from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https://www.rstudio.com/products/rstudio/download/</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9688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762000" y="1219200"/>
            <a:ext cx="10374630" cy="1384995"/>
          </a:xfrm>
          <a:prstGeom prst="rect">
            <a:avLst/>
          </a:prstGeom>
          <a:noFill/>
        </p:spPr>
        <p:txBody>
          <a:bodyPr wrap="square">
            <a:spAutoFit/>
          </a:bodyPr>
          <a:lstStyle/>
          <a:p>
            <a:pPr marL="0" indent="0" algn="l">
              <a:buNone/>
            </a:pPr>
            <a:r>
              <a:rPr lang="en-US" sz="2800" b="1" dirty="0">
                <a:latin typeface="Times New Roman" panose="02020603050405020304" pitchFamily="18" charset="0"/>
                <a:cs typeface="Times New Roman" panose="02020603050405020304" pitchFamily="18" charset="0"/>
              </a:rPr>
              <a:t>Open Rstudio</a:t>
            </a:r>
            <a:endParaRPr lang="en-US" sz="2800" b="1" i="0" u="none" strike="noStrike" baseline="0"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Search your computer for RStudio.exe and open the application. It should look something like the image in the next slide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439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168618" y="0"/>
            <a:ext cx="9393529" cy="442429"/>
          </a:xfrm>
          <a:prstGeom prst="rect">
            <a:avLst/>
          </a:prstGeom>
        </p:spPr>
        <p:txBody>
          <a:bodyPr vert="horz" wrap="square" lIns="0" tIns="11430" rIns="0" bIns="0" rtlCol="0">
            <a:spAutoFit/>
          </a:bodyPr>
          <a:lstStyle/>
          <a:p>
            <a:pPr marL="12700">
              <a:lnSpc>
                <a:spcPct val="100000"/>
              </a:lnSpc>
              <a:spcBef>
                <a:spcPts val="90"/>
              </a:spcBef>
            </a:pPr>
            <a:r>
              <a:rPr sz="2800" dirty="0"/>
              <a:t>Session</a:t>
            </a:r>
            <a:r>
              <a:rPr sz="2800" spc="-40" dirty="0"/>
              <a:t> </a:t>
            </a:r>
            <a:r>
              <a:rPr lang="en-US" sz="2800" spc="-40" dirty="0"/>
              <a:t>1</a:t>
            </a:r>
            <a:r>
              <a:rPr sz="2800" dirty="0"/>
              <a:t>:</a:t>
            </a:r>
            <a:r>
              <a:rPr sz="2800" spc="-70" dirty="0"/>
              <a:t> </a:t>
            </a:r>
            <a:r>
              <a:rPr lang="en-US" sz="2800" spc="-70" dirty="0"/>
              <a:t>Rstudio Environment</a:t>
            </a:r>
            <a:endParaRPr sz="2800"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8" name="Content Placeholder 4">
            <a:extLst>
              <a:ext uri="{FF2B5EF4-FFF2-40B4-BE49-F238E27FC236}">
                <a16:creationId xmlns:a16="http://schemas.microsoft.com/office/drawing/2014/main" id="{E79D2B97-AB2C-47E7-9590-F7672D18C7E1}"/>
              </a:ext>
            </a:extLst>
          </p:cNvPr>
          <p:cNvPicPr>
            <a:picLocks noChangeAspect="1"/>
          </p:cNvPicPr>
          <p:nvPr/>
        </p:nvPicPr>
        <p:blipFill>
          <a:blip r:embed="rId2"/>
          <a:stretch>
            <a:fillRect/>
          </a:stretch>
        </p:blipFill>
        <p:spPr>
          <a:xfrm>
            <a:off x="381000" y="661987"/>
            <a:ext cx="11144250" cy="5534025"/>
          </a:xfrm>
          <a:prstGeom prst="rect">
            <a:avLst/>
          </a:prstGeom>
        </p:spPr>
      </p:pic>
    </p:spTree>
    <p:extLst>
      <p:ext uri="{BB962C8B-B14F-4D97-AF65-F5344CB8AC3E}">
        <p14:creationId xmlns:p14="http://schemas.microsoft.com/office/powerpoint/2010/main" val="794631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176324" y="0"/>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Rstudio Pane Layout</a:t>
            </a:r>
            <a:endParaRPr spc="-10" dirty="0"/>
          </a:p>
        </p:txBody>
      </p:sp>
      <p:sp>
        <p:nvSpPr>
          <p:cNvPr id="6" name="object 6"/>
          <p:cNvSpPr/>
          <p:nvPr/>
        </p:nvSpPr>
        <p:spPr>
          <a:xfrm>
            <a:off x="516255" y="381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8" name="Content Placeholder 4">
            <a:extLst>
              <a:ext uri="{FF2B5EF4-FFF2-40B4-BE49-F238E27FC236}">
                <a16:creationId xmlns:a16="http://schemas.microsoft.com/office/drawing/2014/main" id="{B9AF9D60-92CF-47C3-AED3-AA160912187C}"/>
              </a:ext>
            </a:extLst>
          </p:cNvPr>
          <p:cNvPicPr>
            <a:picLocks noChangeAspect="1"/>
          </p:cNvPicPr>
          <p:nvPr/>
        </p:nvPicPr>
        <p:blipFill>
          <a:blip r:embed="rId2"/>
          <a:stretch>
            <a:fillRect/>
          </a:stretch>
        </p:blipFill>
        <p:spPr>
          <a:xfrm>
            <a:off x="901038" y="369013"/>
            <a:ext cx="10352380" cy="6031786"/>
          </a:xfrm>
          <a:prstGeom prst="rect">
            <a:avLst/>
          </a:prstGeom>
        </p:spPr>
      </p:pic>
    </p:spTree>
    <p:extLst>
      <p:ext uri="{BB962C8B-B14F-4D97-AF65-F5344CB8AC3E}">
        <p14:creationId xmlns:p14="http://schemas.microsoft.com/office/powerpoint/2010/main" val="272250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762000" y="1219200"/>
            <a:ext cx="10374630" cy="1384995"/>
          </a:xfrm>
          <a:prstGeom prst="rect">
            <a:avLst/>
          </a:prstGeom>
          <a:noFill/>
        </p:spPr>
        <p:txBody>
          <a:bodyPr wrap="square">
            <a:spAutoFit/>
          </a:bodyPr>
          <a:lstStyle/>
          <a:p>
            <a:pPr marL="0" indent="0" algn="l">
              <a:buNone/>
            </a:pPr>
            <a:r>
              <a:rPr lang="en-US" sz="2800" b="1" dirty="0">
                <a:latin typeface="Times New Roman" panose="02020603050405020304" pitchFamily="18" charset="0"/>
                <a:cs typeface="Times New Roman" panose="02020603050405020304" pitchFamily="18" charset="0"/>
              </a:rPr>
              <a:t>Open Rstudio</a:t>
            </a:r>
            <a:endParaRPr lang="en-US" sz="2800" b="1" i="0" u="none" strike="noStrike" baseline="0"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Search your computer for RStudio.exe and open the application. It should look something like the image in the next slide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524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762000" y="1219200"/>
            <a:ext cx="10374630" cy="1384995"/>
          </a:xfrm>
          <a:prstGeom prst="rect">
            <a:avLst/>
          </a:prstGeom>
          <a:noFill/>
        </p:spPr>
        <p:txBody>
          <a:bodyPr wrap="square">
            <a:spAutoFit/>
          </a:bodyPr>
          <a:lstStyle/>
          <a:p>
            <a:pPr marL="0" indent="0" algn="l">
              <a:buNone/>
            </a:pPr>
            <a:r>
              <a:rPr lang="en-US" sz="2800" b="1" dirty="0">
                <a:latin typeface="Times New Roman" panose="02020603050405020304" pitchFamily="18" charset="0"/>
                <a:cs typeface="Times New Roman" panose="02020603050405020304" pitchFamily="18" charset="0"/>
              </a:rPr>
              <a:t>Open Rstudio</a:t>
            </a:r>
            <a:endParaRPr lang="en-US" sz="2800" b="1" i="0" u="none" strike="noStrike" baseline="0"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Search your computer for RStudio.exe and open the application. It should look something like the image in the next slide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8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1143000"/>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762000" y="1219200"/>
            <a:ext cx="10374630" cy="2677656"/>
          </a:xfrm>
          <a:prstGeom prst="rect">
            <a:avLst/>
          </a:prstGeom>
          <a:noFill/>
        </p:spPr>
        <p:txBody>
          <a:bodyPr wrap="square">
            <a:spAutoFit/>
          </a:bodyPr>
          <a:lstStyle/>
          <a:p>
            <a:pPr marL="0" indent="0" algn="l">
              <a:buNone/>
            </a:pPr>
            <a:r>
              <a:rPr lang="en-US" sz="2800" b="1" i="0" u="none" strike="noStrike" baseline="0" dirty="0">
                <a:latin typeface="Times New Roman" panose="02020603050405020304" pitchFamily="18" charset="0"/>
                <a:cs typeface="Times New Roman" panose="02020603050405020304" pitchFamily="18" charset="0"/>
              </a:rPr>
              <a:t>Basic R</a:t>
            </a:r>
            <a:r>
              <a:rPr lang="en-US" sz="2800" b="1" dirty="0">
                <a:latin typeface="Times New Roman" panose="02020603050405020304" pitchFamily="18" charset="0"/>
                <a:cs typeface="Times New Roman" panose="02020603050405020304" pitchFamily="18" charset="0"/>
              </a:rPr>
              <a:t> Syntax, Commands and Data Types</a:t>
            </a:r>
          </a:p>
          <a:p>
            <a:pPr marL="0" indent="0" algn="l">
              <a:buNone/>
            </a:pPr>
            <a:endParaRPr lang="en-US" sz="2800" b="1" i="0" u="none" strike="noStrike" baseline="0" dirty="0">
              <a:latin typeface="Times New Roman" panose="02020603050405020304" pitchFamily="18" charset="0"/>
              <a:cs typeface="Times New Roman" panose="02020603050405020304" pitchFamily="18" charset="0"/>
            </a:endParaRPr>
          </a:p>
          <a:p>
            <a:pPr marL="0" indent="0" algn="l">
              <a:buNone/>
            </a:pPr>
            <a:r>
              <a:rPr lang="en-US" sz="2800" dirty="0">
                <a:latin typeface="Times New Roman" panose="02020603050405020304" pitchFamily="18" charset="0"/>
                <a:cs typeface="Times New Roman" panose="02020603050405020304" pitchFamily="18" charset="0"/>
              </a:rPr>
              <a:t>Open the link below to learn more about R basic syntax and commands</a:t>
            </a:r>
          </a:p>
          <a:p>
            <a:pPr marL="0" indent="0" algn="l">
              <a:buNone/>
            </a:pPr>
            <a:endParaRPr lang="en-US" sz="2800" i="0" u="none" strike="noStrike" baseline="0" dirty="0">
              <a:latin typeface="Times New Roman" panose="02020603050405020304" pitchFamily="18" charset="0"/>
              <a:cs typeface="Times New Roman" panose="02020603050405020304" pitchFamily="18" charset="0"/>
            </a:endParaRPr>
          </a:p>
          <a:p>
            <a:pPr marL="0" indent="0" algn="l">
              <a:buNone/>
            </a:pPr>
            <a:r>
              <a:rPr lang="en-US" sz="2800" i="0" u="none" strike="noStrike" baseline="0" dirty="0">
                <a:latin typeface="Times New Roman" panose="02020603050405020304" pitchFamily="18" charset="0"/>
                <a:cs typeface="Times New Roman" panose="02020603050405020304" pitchFamily="18" charset="0"/>
                <a:hlinkClick r:id="rId2"/>
              </a:rPr>
              <a:t>https://docs.google.com/spreadsheets/d/1146Y7ZYtzs6Mvu14igio-vIoGMdTJS3SC27mp7lnwGU/edit?usp=sharing</a:t>
            </a:r>
            <a:endParaRPr lang="en-US" sz="280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46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Introduction to R, Rstudio</a:t>
            </a:r>
            <a:r>
              <a:rPr lang="en-US" dirty="0"/>
              <a:t>, and Basic Data Types</a:t>
            </a:r>
            <a:endParaRPr spc="-10" dirty="0"/>
          </a:p>
        </p:txBody>
      </p:sp>
      <p:sp>
        <p:nvSpPr>
          <p:cNvPr id="6" name="object 6"/>
          <p:cNvSpPr/>
          <p:nvPr/>
        </p:nvSpPr>
        <p:spPr>
          <a:xfrm>
            <a:off x="516255" y="68638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7269B5B0-4D45-4044-AEC7-DE209F35673C}"/>
              </a:ext>
            </a:extLst>
          </p:cNvPr>
          <p:cNvSpPr txBox="1"/>
          <p:nvPr/>
        </p:nvSpPr>
        <p:spPr>
          <a:xfrm>
            <a:off x="0" y="756896"/>
            <a:ext cx="11963400" cy="954107"/>
          </a:xfrm>
          <a:prstGeom prst="rect">
            <a:avLst/>
          </a:prstGeom>
          <a:noFill/>
        </p:spPr>
        <p:txBody>
          <a:bodyPr wrap="square">
            <a:spAutoFit/>
          </a:bodyPr>
          <a:lstStyle/>
          <a:p>
            <a:pPr marL="0" indent="0" algn="l">
              <a:buNone/>
            </a:pPr>
            <a:r>
              <a:rPr lang="en-US" sz="2800" b="1" i="0" u="none" strike="noStrike" baseline="0" dirty="0">
                <a:latin typeface="Times New Roman" panose="02020603050405020304" pitchFamily="18" charset="0"/>
                <a:cs typeface="Times New Roman" panose="02020603050405020304" pitchFamily="18" charset="0"/>
              </a:rPr>
              <a:t>Basic R</a:t>
            </a:r>
            <a:r>
              <a:rPr lang="en-US" sz="2800" b="1" dirty="0">
                <a:latin typeface="Times New Roman" panose="02020603050405020304" pitchFamily="18" charset="0"/>
                <a:cs typeface="Times New Roman" panose="02020603050405020304" pitchFamily="18" charset="0"/>
              </a:rPr>
              <a:t> Syntax, Commands and Data Types (Sample R Codes)</a:t>
            </a:r>
          </a:p>
          <a:p>
            <a:pPr marL="0" indent="0" algn="l">
              <a:buNone/>
            </a:pPr>
            <a:r>
              <a:rPr lang="en-US" sz="2800" b="1" dirty="0">
                <a:latin typeface="Times New Roman" panose="02020603050405020304" pitchFamily="18" charset="0"/>
                <a:cs typeface="Times New Roman" panose="02020603050405020304" pitchFamily="18" charset="0"/>
              </a:rPr>
              <a:t>Arithmetic Operations</a:t>
            </a:r>
          </a:p>
        </p:txBody>
      </p:sp>
      <p:pic>
        <p:nvPicPr>
          <p:cNvPr id="8" name="Picture 7">
            <a:extLst>
              <a:ext uri="{FF2B5EF4-FFF2-40B4-BE49-F238E27FC236}">
                <a16:creationId xmlns:a16="http://schemas.microsoft.com/office/drawing/2014/main" id="{4D532894-8A4B-4D2B-8C15-4200C517A550}"/>
              </a:ext>
            </a:extLst>
          </p:cNvPr>
          <p:cNvPicPr>
            <a:picLocks noChangeAspect="1"/>
          </p:cNvPicPr>
          <p:nvPr/>
        </p:nvPicPr>
        <p:blipFill>
          <a:blip r:embed="rId2"/>
          <a:stretch>
            <a:fillRect/>
          </a:stretch>
        </p:blipFill>
        <p:spPr>
          <a:xfrm>
            <a:off x="152400" y="1711002"/>
            <a:ext cx="10058400" cy="4399237"/>
          </a:xfrm>
          <a:prstGeom prst="rect">
            <a:avLst/>
          </a:prstGeom>
        </p:spPr>
      </p:pic>
    </p:spTree>
    <p:extLst>
      <p:ext uri="{BB962C8B-B14F-4D97-AF65-F5344CB8AC3E}">
        <p14:creationId xmlns:p14="http://schemas.microsoft.com/office/powerpoint/2010/main" val="4040674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Manipulate Vectors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2" name="TextBox 11">
            <a:extLst>
              <a:ext uri="{FF2B5EF4-FFF2-40B4-BE49-F238E27FC236}">
                <a16:creationId xmlns:a16="http://schemas.microsoft.com/office/drawing/2014/main" id="{5CEF72C0-F849-4F34-869E-969C41E3E988}"/>
              </a:ext>
            </a:extLst>
          </p:cNvPr>
          <p:cNvSpPr txBox="1"/>
          <p:nvPr/>
        </p:nvSpPr>
        <p:spPr>
          <a:xfrm>
            <a:off x="516254" y="868447"/>
            <a:ext cx="11142345" cy="5184433"/>
          </a:xfrm>
          <a:prstGeom prst="rect">
            <a:avLst/>
          </a:prstGeom>
          <a:noFill/>
        </p:spPr>
        <p:txBody>
          <a:bodyPr wrap="square">
            <a:spAutoFit/>
          </a:bodyPr>
          <a:lstStyle/>
          <a:p>
            <a:pPr marL="0" marR="0">
              <a:lnSpc>
                <a:spcPct val="107000"/>
              </a:lnSpc>
              <a:spcBef>
                <a:spcPts val="0"/>
              </a:spcBef>
              <a:spcAft>
                <a:spcPts val="800"/>
              </a:spcAft>
            </a:pP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1. Vectors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vector</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is a fundamental data structure in R that holds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elements of the same data type</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(numeric, character, logical, etc.).</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It is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one-dimensional</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homogeneous</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(all elements must be of the same type).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Vectors are widely used in R for data manipulation, mathematical operations, and indexing.</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They support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arithmetic operations</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logical comparisons</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vectorized operations</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(element-wise operations).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Vectors can be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indexed</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using position numbers or logical conditions.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49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Manipulate Vectors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9" name="Picture 8">
            <a:extLst>
              <a:ext uri="{FF2B5EF4-FFF2-40B4-BE49-F238E27FC236}">
                <a16:creationId xmlns:a16="http://schemas.microsoft.com/office/drawing/2014/main" id="{9CFC3F84-EB5F-465D-BA55-A3945BA4ECF2}"/>
              </a:ext>
            </a:extLst>
          </p:cNvPr>
          <p:cNvPicPr>
            <a:picLocks noChangeAspect="1"/>
          </p:cNvPicPr>
          <p:nvPr/>
        </p:nvPicPr>
        <p:blipFill>
          <a:blip r:embed="rId2"/>
          <a:stretch>
            <a:fillRect/>
          </a:stretch>
        </p:blipFill>
        <p:spPr>
          <a:xfrm>
            <a:off x="663083" y="621255"/>
            <a:ext cx="10865833" cy="6224614"/>
          </a:xfrm>
          <a:prstGeom prst="rect">
            <a:avLst/>
          </a:prstGeom>
        </p:spPr>
      </p:pic>
    </p:spTree>
    <p:extLst>
      <p:ext uri="{BB962C8B-B14F-4D97-AF65-F5344CB8AC3E}">
        <p14:creationId xmlns:p14="http://schemas.microsoft.com/office/powerpoint/2010/main" val="252408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Manipulate Matrices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3" name="TextBox 12">
            <a:extLst>
              <a:ext uri="{FF2B5EF4-FFF2-40B4-BE49-F238E27FC236}">
                <a16:creationId xmlns:a16="http://schemas.microsoft.com/office/drawing/2014/main" id="{83386F29-3F9A-47E4-9E42-CFEEDC9A2311}"/>
              </a:ext>
            </a:extLst>
          </p:cNvPr>
          <p:cNvSpPr txBox="1"/>
          <p:nvPr/>
        </p:nvSpPr>
        <p:spPr>
          <a:xfrm>
            <a:off x="516254" y="845062"/>
            <a:ext cx="10620375" cy="4633000"/>
          </a:xfrm>
          <a:prstGeom prst="rect">
            <a:avLst/>
          </a:prstGeom>
          <a:noFill/>
        </p:spPr>
        <p:txBody>
          <a:bodyPr wrap="square">
            <a:spAutoFit/>
          </a:bodyPr>
          <a:lstStyle/>
          <a:p>
            <a:pPr marL="0" marR="0">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2. Matrices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matrix</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a two-dimensional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rectangular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array in R that contains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only one type of data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(numeric, character, etc.).</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It consists of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rows and columns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Matrices allow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arithmetic operations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element-wise operations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matrix multiplication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They are commonly used in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linear algebra, statistics, and data analysis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Rows and columns can be accessed using indices.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Operations like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transpose, addition, subtraction, and determinant calculation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can be performed on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matrices.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4533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Manipulate Matrices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11" name="Picture 10">
            <a:extLst>
              <a:ext uri="{FF2B5EF4-FFF2-40B4-BE49-F238E27FC236}">
                <a16:creationId xmlns:a16="http://schemas.microsoft.com/office/drawing/2014/main" id="{081DA6DF-69B4-4A88-A290-0811B38FD752}"/>
              </a:ext>
            </a:extLst>
          </p:cNvPr>
          <p:cNvPicPr>
            <a:picLocks noChangeAspect="1"/>
          </p:cNvPicPr>
          <p:nvPr/>
        </p:nvPicPr>
        <p:blipFill>
          <a:blip r:embed="rId2"/>
          <a:stretch>
            <a:fillRect/>
          </a:stretch>
        </p:blipFill>
        <p:spPr>
          <a:xfrm>
            <a:off x="516255" y="637786"/>
            <a:ext cx="10620375" cy="5582428"/>
          </a:xfrm>
          <a:prstGeom prst="rect">
            <a:avLst/>
          </a:prstGeom>
        </p:spPr>
      </p:pic>
    </p:spTree>
    <p:extLst>
      <p:ext uri="{BB962C8B-B14F-4D97-AF65-F5344CB8AC3E}">
        <p14:creationId xmlns:p14="http://schemas.microsoft.com/office/powerpoint/2010/main" val="2783665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2</a:t>
            </a:r>
            <a:r>
              <a:rPr dirty="0"/>
              <a:t>:</a:t>
            </a:r>
            <a:r>
              <a:rPr spc="-70" dirty="0"/>
              <a:t> </a:t>
            </a:r>
            <a:r>
              <a:rPr lang="en-US" spc="-70" dirty="0"/>
              <a:t>Create and Manipulate Lists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9" name="TextBox 8">
            <a:extLst>
              <a:ext uri="{FF2B5EF4-FFF2-40B4-BE49-F238E27FC236}">
                <a16:creationId xmlns:a16="http://schemas.microsoft.com/office/drawing/2014/main" id="{9D3A3C4B-0984-4FB2-8A53-B732D63EAC20}"/>
              </a:ext>
            </a:extLst>
          </p:cNvPr>
          <p:cNvSpPr txBox="1"/>
          <p:nvPr/>
        </p:nvSpPr>
        <p:spPr>
          <a:xfrm>
            <a:off x="516254" y="617037"/>
            <a:ext cx="10620375" cy="3759427"/>
          </a:xfrm>
          <a:prstGeom prst="rect">
            <a:avLst/>
          </a:prstGeom>
          <a:noFill/>
        </p:spPr>
        <p:txBody>
          <a:bodyPr wrap="square">
            <a:spAutoFit/>
          </a:bodyPr>
          <a:lstStyle/>
          <a:p>
            <a:pPr marL="0" marR="0">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3. Lists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list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in R is a flexible data structure that can contain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different types of data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(vectors, matrices, data frames, functions, etc.).</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Lists are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heterogeneous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meaning they can store elements of different data types.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They can contain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nested lists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allowing for complex data storage.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Lists are useful for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storing results from statistical models, organizing large datasets, and handling multiple data structures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Elements in a list can be accessed using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names, indices, or the </a:t>
            </a:r>
            <a:r>
              <a:rPr lang="en-US" sz="2400" b="1"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 operator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572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2</a:t>
            </a:r>
            <a:r>
              <a:rPr dirty="0"/>
              <a:t>:</a:t>
            </a:r>
            <a:r>
              <a:rPr spc="-70" dirty="0"/>
              <a:t> </a:t>
            </a:r>
            <a:r>
              <a:rPr lang="en-US" spc="-70" dirty="0"/>
              <a:t>Create and Manipulate Lists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8" name="Picture 7">
            <a:extLst>
              <a:ext uri="{FF2B5EF4-FFF2-40B4-BE49-F238E27FC236}">
                <a16:creationId xmlns:a16="http://schemas.microsoft.com/office/drawing/2014/main" id="{5771AC9D-BEF3-4621-B6C7-54A24C31589A}"/>
              </a:ext>
            </a:extLst>
          </p:cNvPr>
          <p:cNvPicPr>
            <a:picLocks noChangeAspect="1"/>
          </p:cNvPicPr>
          <p:nvPr/>
        </p:nvPicPr>
        <p:blipFill>
          <a:blip r:embed="rId2"/>
          <a:stretch>
            <a:fillRect/>
          </a:stretch>
        </p:blipFill>
        <p:spPr>
          <a:xfrm>
            <a:off x="481152" y="685800"/>
            <a:ext cx="10655478" cy="5004508"/>
          </a:xfrm>
          <a:prstGeom prst="rect">
            <a:avLst/>
          </a:prstGeom>
        </p:spPr>
      </p:pic>
    </p:spTree>
    <p:extLst>
      <p:ext uri="{BB962C8B-B14F-4D97-AF65-F5344CB8AC3E}">
        <p14:creationId xmlns:p14="http://schemas.microsoft.com/office/powerpoint/2010/main" val="3030401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Manipulating Data Frames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1" name="TextBox 10">
            <a:extLst>
              <a:ext uri="{FF2B5EF4-FFF2-40B4-BE49-F238E27FC236}">
                <a16:creationId xmlns:a16="http://schemas.microsoft.com/office/drawing/2014/main" id="{B25D756F-271C-47EC-B64B-59A8E76772E5}"/>
              </a:ext>
            </a:extLst>
          </p:cNvPr>
          <p:cNvSpPr txBox="1"/>
          <p:nvPr/>
        </p:nvSpPr>
        <p:spPr>
          <a:xfrm>
            <a:off x="516254" y="877865"/>
            <a:ext cx="10761345" cy="5259453"/>
          </a:xfrm>
          <a:prstGeom prst="rect">
            <a:avLst/>
          </a:prstGeom>
          <a:noFill/>
        </p:spPr>
        <p:txBody>
          <a:bodyPr wrap="square">
            <a:spAutoFit/>
          </a:bodyPr>
          <a:lstStyle/>
          <a:p>
            <a:pPr marL="0" marR="0"/>
            <a:r>
              <a:rPr lang="en-US" sz="2800" b="1" dirty="0">
                <a:effectLst/>
                <a:latin typeface="Times New Roman" panose="02020603050405020304" pitchFamily="18" charset="0"/>
                <a:ea typeface="Times New Roman" panose="02020603050405020304" pitchFamily="18" charset="0"/>
              </a:rPr>
              <a:t>1. What is a Data Frame?</a:t>
            </a:r>
          </a:p>
          <a:p>
            <a:pPr marL="0" marR="0"/>
            <a:r>
              <a:rPr lang="en-US" sz="2800" dirty="0">
                <a:effectLst/>
                <a:latin typeface="Times New Roman" panose="02020603050405020304" pitchFamily="18" charset="0"/>
                <a:ea typeface="Times New Roman" panose="02020603050405020304" pitchFamily="18" charset="0"/>
              </a:rPr>
              <a:t>A </a:t>
            </a:r>
            <a:r>
              <a:rPr lang="en-US" sz="2800" b="1" dirty="0">
                <a:effectLst/>
                <a:latin typeface="Times New Roman" panose="02020603050405020304" pitchFamily="18" charset="0"/>
                <a:ea typeface="Times New Roman" panose="02020603050405020304" pitchFamily="18" charset="0"/>
              </a:rPr>
              <a:t>data frame</a:t>
            </a:r>
            <a:r>
              <a:rPr lang="en-US" sz="2800" dirty="0">
                <a:effectLst/>
                <a:latin typeface="Times New Roman" panose="02020603050405020304" pitchFamily="18" charset="0"/>
                <a:ea typeface="Times New Roman" panose="02020603050405020304" pitchFamily="18" charset="0"/>
              </a:rPr>
              <a:t> is a two-dimensional table-like structure in R that stores </a:t>
            </a:r>
            <a:r>
              <a:rPr lang="en-US" sz="2800" b="1" dirty="0">
                <a:effectLst/>
                <a:latin typeface="Times New Roman" panose="02020603050405020304" pitchFamily="18" charset="0"/>
                <a:ea typeface="Times New Roman" panose="02020603050405020304" pitchFamily="18" charset="0"/>
              </a:rPr>
              <a:t>heterogeneous data types</a:t>
            </a:r>
            <a:r>
              <a:rPr lang="en-US" sz="2800" dirty="0">
                <a:effectLst/>
                <a:latin typeface="Times New Roman" panose="02020603050405020304" pitchFamily="18" charset="0"/>
                <a:ea typeface="Times New Roman" panose="02020603050405020304" pitchFamily="18" charset="0"/>
              </a:rPr>
              <a:t> (numeric, character, factor, etc.), similar to a spreadsheet or SQL table. It is one of the most commonly used data structures in R for data analysis.</a:t>
            </a:r>
          </a:p>
          <a:p>
            <a:pPr marL="0" marR="0"/>
            <a:r>
              <a:rPr lang="en-US" sz="2800" b="1" dirty="0">
                <a:effectLst/>
                <a:latin typeface="Times New Roman" panose="02020603050405020304" pitchFamily="18" charset="0"/>
                <a:ea typeface="Times New Roman" panose="02020603050405020304" pitchFamily="18" charset="0"/>
              </a:rPr>
              <a:t>2. Characteristics of a Data Frame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Consists of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rows and columns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Each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column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must contain the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same data type</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but different columns can have different types.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Rows represent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observations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and columns represent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variables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Supports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indexing, </a:t>
            </a:r>
            <a:r>
              <a:rPr lang="en-US" sz="2800" b="1" dirty="0" err="1">
                <a:effectLst/>
                <a:latin typeface="Times New Roman" panose="02020603050405020304" pitchFamily="18" charset="0"/>
                <a:ea typeface="Calibri" panose="020F0502020204030204" pitchFamily="34" charset="0"/>
                <a:cs typeface="Times New Roman" panose="02020603050405020304" pitchFamily="18" charset="0"/>
              </a:rPr>
              <a:t>subsetting</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filtering, and manipulation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765388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Creating and Manipulating Data Frames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sp>
        <p:nvSpPr>
          <p:cNvPr id="14" name="TextBox 13">
            <a:extLst>
              <a:ext uri="{FF2B5EF4-FFF2-40B4-BE49-F238E27FC236}">
                <a16:creationId xmlns:a16="http://schemas.microsoft.com/office/drawing/2014/main" id="{6BFC8BB2-FA4E-4DCE-8053-566B10EE5C79}"/>
              </a:ext>
            </a:extLst>
          </p:cNvPr>
          <p:cNvSpPr txBox="1"/>
          <p:nvPr/>
        </p:nvSpPr>
        <p:spPr>
          <a:xfrm>
            <a:off x="516255" y="990609"/>
            <a:ext cx="11142345" cy="5139869"/>
          </a:xfrm>
          <a:prstGeom prst="rect">
            <a:avLst/>
          </a:prstGeom>
          <a:noFill/>
        </p:spPr>
        <p:txBody>
          <a:bodyPr wrap="square">
            <a:spAutoFit/>
          </a:bodyPr>
          <a:lstStyle/>
          <a:p>
            <a:pPr marL="0" marR="0">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Common Operations on Data Frames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Checking Structure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Functions like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str()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summary()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head()</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tail()</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help inspect the data frame.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Accessing Data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You can extract columns using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notation.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Filtering and Subsetting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You can filter rows based on conditions (e.g., selecting all rows where age &gt; 30).</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Adding or Removing Columns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You can create new columns, rename them, or drop unnecessary ones.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Handling Missing Data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Missing values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NA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can be detected and handled using functions like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na.omit()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is.na()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Merging and Joining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Data frames can be combined using functions like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merge()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cbind()</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rbind()</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7075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324" y="6555130"/>
            <a:ext cx="465455" cy="164465"/>
          </a:xfrm>
          <a:prstGeom prst="rect">
            <a:avLst/>
          </a:prstGeom>
        </p:spPr>
        <p:txBody>
          <a:bodyPr vert="horz" wrap="square" lIns="0" tIns="13970" rIns="0" bIns="0" rtlCol="0">
            <a:spAutoFit/>
          </a:bodyPr>
          <a:lstStyle/>
          <a:p>
            <a:pPr marL="12700">
              <a:lnSpc>
                <a:spcPct val="100000"/>
              </a:lnSpc>
              <a:spcBef>
                <a:spcPts val="110"/>
              </a:spcBef>
            </a:pPr>
            <a:r>
              <a:rPr sz="900" spc="-10" dirty="0">
                <a:solidFill>
                  <a:srgbClr val="FFFFFF"/>
                </a:solidFill>
                <a:latin typeface="Calibri"/>
                <a:cs typeface="Calibri"/>
              </a:rPr>
              <a:t>2/8/2025</a:t>
            </a:r>
            <a:endParaRPr sz="900">
              <a:latin typeface="Calibri"/>
              <a:cs typeface="Calibri"/>
            </a:endParaRPr>
          </a:p>
        </p:txBody>
      </p:sp>
      <p:sp>
        <p:nvSpPr>
          <p:cNvPr id="3" name="object 3"/>
          <p:cNvSpPr txBox="1"/>
          <p:nvPr/>
        </p:nvSpPr>
        <p:spPr>
          <a:xfrm>
            <a:off x="4513579" y="6555130"/>
            <a:ext cx="3167380" cy="164465"/>
          </a:xfrm>
          <a:prstGeom prst="rect">
            <a:avLst/>
          </a:prstGeom>
        </p:spPr>
        <p:txBody>
          <a:bodyPr vert="horz" wrap="square" lIns="0" tIns="13970" rIns="0" bIns="0" rtlCol="0">
            <a:spAutoFit/>
          </a:bodyPr>
          <a:lstStyle/>
          <a:p>
            <a:pPr marL="12700">
              <a:lnSpc>
                <a:spcPct val="100000"/>
              </a:lnSpc>
              <a:spcBef>
                <a:spcPts val="110"/>
              </a:spcBef>
            </a:pPr>
            <a:r>
              <a:rPr sz="900" dirty="0">
                <a:solidFill>
                  <a:srgbClr val="FFFFFF"/>
                </a:solidFill>
                <a:latin typeface="Calibri"/>
                <a:cs typeface="Calibri"/>
              </a:rPr>
              <a:t>CENTER</a:t>
            </a:r>
            <a:r>
              <a:rPr sz="900" spc="-55" dirty="0">
                <a:solidFill>
                  <a:srgbClr val="FFFFFF"/>
                </a:solidFill>
                <a:latin typeface="Calibri"/>
                <a:cs typeface="Calibri"/>
              </a:rPr>
              <a:t> </a:t>
            </a:r>
            <a:r>
              <a:rPr sz="900" dirty="0">
                <a:solidFill>
                  <a:srgbClr val="FFFFFF"/>
                </a:solidFill>
                <a:latin typeface="Calibri"/>
                <a:cs typeface="Calibri"/>
              </a:rPr>
              <a:t>FOR</a:t>
            </a:r>
            <a:r>
              <a:rPr sz="900" spc="25" dirty="0">
                <a:solidFill>
                  <a:srgbClr val="FFFFFF"/>
                </a:solidFill>
                <a:latin typeface="Calibri"/>
                <a:cs typeface="Calibri"/>
              </a:rPr>
              <a:t> </a:t>
            </a:r>
            <a:r>
              <a:rPr sz="900" dirty="0">
                <a:solidFill>
                  <a:srgbClr val="FFFFFF"/>
                </a:solidFill>
                <a:latin typeface="Calibri"/>
                <a:cs typeface="Calibri"/>
              </a:rPr>
              <a:t>DATA</a:t>
            </a:r>
            <a:r>
              <a:rPr sz="900" spc="-15" dirty="0">
                <a:solidFill>
                  <a:srgbClr val="FFFFFF"/>
                </a:solidFill>
                <a:latin typeface="Calibri"/>
                <a:cs typeface="Calibri"/>
              </a:rPr>
              <a:t> </a:t>
            </a:r>
            <a:r>
              <a:rPr sz="900" dirty="0">
                <a:solidFill>
                  <a:srgbClr val="FFFFFF"/>
                </a:solidFill>
                <a:latin typeface="Calibri"/>
                <a:cs typeface="Calibri"/>
              </a:rPr>
              <a:t>ANALYTICS</a:t>
            </a:r>
            <a:r>
              <a:rPr sz="900" spc="-50" dirty="0">
                <a:solidFill>
                  <a:srgbClr val="FFFFFF"/>
                </a:solidFill>
                <a:latin typeface="Calibri"/>
                <a:cs typeface="Calibri"/>
              </a:rPr>
              <a:t> </a:t>
            </a:r>
            <a:r>
              <a:rPr sz="900" dirty="0">
                <a:solidFill>
                  <a:srgbClr val="FFFFFF"/>
                </a:solidFill>
                <a:latin typeface="Calibri"/>
                <a:cs typeface="Calibri"/>
              </a:rPr>
              <a:t>AND</a:t>
            </a:r>
            <a:r>
              <a:rPr sz="900" spc="-20" dirty="0">
                <a:solidFill>
                  <a:srgbClr val="FFFFFF"/>
                </a:solidFill>
                <a:latin typeface="Calibri"/>
                <a:cs typeface="Calibri"/>
              </a:rPr>
              <a:t> </a:t>
            </a:r>
            <a:r>
              <a:rPr sz="900" dirty="0">
                <a:solidFill>
                  <a:srgbClr val="FFFFFF"/>
                </a:solidFill>
                <a:latin typeface="Calibri"/>
                <a:cs typeface="Calibri"/>
              </a:rPr>
              <a:t>MODELING,</a:t>
            </a:r>
            <a:r>
              <a:rPr sz="900" spc="-80" dirty="0">
                <a:solidFill>
                  <a:srgbClr val="FFFFFF"/>
                </a:solidFill>
                <a:latin typeface="Calibri"/>
                <a:cs typeface="Calibri"/>
              </a:rPr>
              <a:t> </a:t>
            </a:r>
            <a:r>
              <a:rPr sz="900" dirty="0">
                <a:solidFill>
                  <a:srgbClr val="FFFFFF"/>
                </a:solidFill>
                <a:latin typeface="Calibri"/>
                <a:cs typeface="Calibri"/>
              </a:rPr>
              <a:t>CHUKA</a:t>
            </a:r>
            <a:r>
              <a:rPr sz="900" spc="-15" dirty="0">
                <a:solidFill>
                  <a:srgbClr val="FFFFFF"/>
                </a:solidFill>
                <a:latin typeface="Calibri"/>
                <a:cs typeface="Calibri"/>
              </a:rPr>
              <a:t> </a:t>
            </a:r>
            <a:r>
              <a:rPr sz="900" spc="-10" dirty="0">
                <a:solidFill>
                  <a:srgbClr val="FFFFFF"/>
                </a:solidFill>
                <a:latin typeface="Calibri"/>
                <a:cs typeface="Calibri"/>
              </a:rPr>
              <a:t>UNIVERSITY</a:t>
            </a:r>
            <a:endParaRPr sz="900">
              <a:latin typeface="Calibri"/>
              <a:cs typeface="Calibri"/>
            </a:endParaRPr>
          </a:p>
        </p:txBody>
      </p:sp>
      <p:sp>
        <p:nvSpPr>
          <p:cNvPr id="4" name="object 4"/>
          <p:cNvSpPr txBox="1"/>
          <p:nvPr/>
        </p:nvSpPr>
        <p:spPr>
          <a:xfrm>
            <a:off x="11042650" y="6543547"/>
            <a:ext cx="93980" cy="186690"/>
          </a:xfrm>
          <a:prstGeom prst="rect">
            <a:avLst/>
          </a:prstGeom>
        </p:spPr>
        <p:txBody>
          <a:bodyPr vert="horz" wrap="square" lIns="0" tIns="13335" rIns="0" bIns="0" rtlCol="0">
            <a:spAutoFit/>
          </a:bodyPr>
          <a:lstStyle/>
          <a:p>
            <a:pPr marL="12700">
              <a:lnSpc>
                <a:spcPct val="100000"/>
              </a:lnSpc>
              <a:spcBef>
                <a:spcPts val="105"/>
              </a:spcBef>
            </a:pPr>
            <a:r>
              <a:rPr sz="1050" spc="-50" dirty="0">
                <a:solidFill>
                  <a:srgbClr val="FFFFFF"/>
                </a:solidFill>
                <a:latin typeface="Calibri"/>
                <a:cs typeface="Calibri"/>
              </a:rPr>
              <a:t>2</a:t>
            </a:r>
            <a:endParaRPr sz="1050">
              <a:latin typeface="Calibri"/>
              <a:cs typeface="Calibri"/>
            </a:endParaRPr>
          </a:p>
        </p:txBody>
      </p:sp>
      <p:sp>
        <p:nvSpPr>
          <p:cNvPr id="5" name="object 5"/>
          <p:cNvSpPr txBox="1">
            <a:spLocks noGrp="1"/>
          </p:cNvSpPr>
          <p:nvPr>
            <p:ph type="title"/>
          </p:nvPr>
        </p:nvSpPr>
        <p:spPr>
          <a:xfrm>
            <a:off x="1210462" y="272033"/>
            <a:ext cx="9393529" cy="319318"/>
          </a:xfrm>
          <a:prstGeom prst="rect">
            <a:avLst/>
          </a:prstGeom>
        </p:spPr>
        <p:txBody>
          <a:bodyPr vert="horz" wrap="square" lIns="0" tIns="11430" rIns="0" bIns="0" rtlCol="0">
            <a:spAutoFit/>
          </a:bodyPr>
          <a:lstStyle/>
          <a:p>
            <a:pPr marL="12700">
              <a:lnSpc>
                <a:spcPct val="100000"/>
              </a:lnSpc>
              <a:spcBef>
                <a:spcPts val="90"/>
              </a:spcBef>
            </a:pPr>
            <a:r>
              <a:rPr dirty="0"/>
              <a:t>Session</a:t>
            </a:r>
            <a:r>
              <a:rPr spc="-40" dirty="0"/>
              <a:t> </a:t>
            </a:r>
            <a:r>
              <a:rPr lang="en-US" spc="-40" dirty="0"/>
              <a:t>1</a:t>
            </a:r>
            <a:r>
              <a:rPr dirty="0"/>
              <a:t>:</a:t>
            </a:r>
            <a:r>
              <a:rPr spc="-70" dirty="0"/>
              <a:t> </a:t>
            </a:r>
            <a:r>
              <a:rPr lang="en-US" spc="-70" dirty="0"/>
              <a:t>Create and Manipulate Data Frames</a:t>
            </a:r>
            <a:endParaRPr spc="-10" dirty="0"/>
          </a:p>
        </p:txBody>
      </p:sp>
      <p:sp>
        <p:nvSpPr>
          <p:cNvPr id="6" name="object 6"/>
          <p:cNvSpPr/>
          <p:nvPr/>
        </p:nvSpPr>
        <p:spPr>
          <a:xfrm>
            <a:off x="516255" y="558547"/>
            <a:ext cx="10620375" cy="0"/>
          </a:xfrm>
          <a:custGeom>
            <a:avLst/>
            <a:gdLst/>
            <a:ahLst/>
            <a:cxnLst/>
            <a:rect l="l" t="t" r="r" b="b"/>
            <a:pathLst>
              <a:path w="10620375">
                <a:moveTo>
                  <a:pt x="0" y="0"/>
                </a:moveTo>
                <a:lnTo>
                  <a:pt x="10620121" y="0"/>
                </a:lnTo>
              </a:path>
            </a:pathLst>
          </a:custGeom>
          <a:ln w="12192">
            <a:solidFill>
              <a:srgbClr val="FF0000"/>
            </a:solidFill>
          </a:ln>
        </p:spPr>
        <p:txBody>
          <a:bodyPr wrap="square" lIns="0" tIns="0" rIns="0" bIns="0" rtlCol="0"/>
          <a:lstStyle/>
          <a:p>
            <a:endParaRPr/>
          </a:p>
        </p:txBody>
      </p:sp>
      <p:pic>
        <p:nvPicPr>
          <p:cNvPr id="8" name="Picture 7">
            <a:extLst>
              <a:ext uri="{FF2B5EF4-FFF2-40B4-BE49-F238E27FC236}">
                <a16:creationId xmlns:a16="http://schemas.microsoft.com/office/drawing/2014/main" id="{CD1E6113-CA59-4478-9541-9B85F239D0AB}"/>
              </a:ext>
            </a:extLst>
          </p:cNvPr>
          <p:cNvPicPr>
            <a:picLocks noChangeAspect="1"/>
          </p:cNvPicPr>
          <p:nvPr/>
        </p:nvPicPr>
        <p:blipFill>
          <a:blip r:embed="rId2"/>
          <a:stretch>
            <a:fillRect/>
          </a:stretch>
        </p:blipFill>
        <p:spPr>
          <a:xfrm>
            <a:off x="488857" y="894988"/>
            <a:ext cx="11438983" cy="5404459"/>
          </a:xfrm>
          <a:prstGeom prst="rect">
            <a:avLst/>
          </a:prstGeom>
        </p:spPr>
      </p:pic>
    </p:spTree>
    <p:extLst>
      <p:ext uri="{BB962C8B-B14F-4D97-AF65-F5344CB8AC3E}">
        <p14:creationId xmlns:p14="http://schemas.microsoft.com/office/powerpoint/2010/main" val="1107246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4752" y="4275861"/>
            <a:ext cx="4221480" cy="1123950"/>
          </a:xfrm>
          <a:prstGeom prst="rect">
            <a:avLst/>
          </a:prstGeom>
        </p:spPr>
        <p:txBody>
          <a:bodyPr vert="horz" wrap="square" lIns="0" tIns="13335" rIns="0" bIns="0" rtlCol="0">
            <a:spAutoFit/>
          </a:bodyPr>
          <a:lstStyle/>
          <a:p>
            <a:pPr marL="12700">
              <a:lnSpc>
                <a:spcPct val="100000"/>
              </a:lnSpc>
              <a:spcBef>
                <a:spcPts val="105"/>
              </a:spcBef>
            </a:pPr>
            <a:r>
              <a:rPr sz="7200" b="1" dirty="0">
                <a:solidFill>
                  <a:srgbClr val="FF0000"/>
                </a:solidFill>
                <a:latin typeface="Times New Roman"/>
                <a:cs typeface="Times New Roman"/>
              </a:rPr>
              <a:t>Thank</a:t>
            </a:r>
            <a:r>
              <a:rPr sz="7200" b="1" spc="-315" dirty="0">
                <a:solidFill>
                  <a:srgbClr val="FF0000"/>
                </a:solidFill>
                <a:latin typeface="Times New Roman"/>
                <a:cs typeface="Times New Roman"/>
              </a:rPr>
              <a:t> </a:t>
            </a:r>
            <a:r>
              <a:rPr sz="7200" b="1" spc="-25" dirty="0">
                <a:solidFill>
                  <a:srgbClr val="FF0000"/>
                </a:solidFill>
                <a:latin typeface="Times New Roman"/>
                <a:cs typeface="Times New Roman"/>
              </a:rPr>
              <a:t>you</a:t>
            </a:r>
            <a:endParaRPr sz="7200">
              <a:latin typeface="Times New Roman"/>
              <a:cs typeface="Times New Roman"/>
            </a:endParaRPr>
          </a:p>
        </p:txBody>
      </p:sp>
      <p:pic>
        <p:nvPicPr>
          <p:cNvPr id="3" name="object 3"/>
          <p:cNvPicPr/>
          <p:nvPr/>
        </p:nvPicPr>
        <p:blipFill>
          <a:blip r:embed="rId2" cstate="print"/>
          <a:stretch>
            <a:fillRect/>
          </a:stretch>
        </p:blipFill>
        <p:spPr>
          <a:xfrm>
            <a:off x="2029967" y="304800"/>
            <a:ext cx="8433816" cy="3471672"/>
          </a:xfrm>
          <a:prstGeom prst="rect">
            <a:avLst/>
          </a:prstGeom>
        </p:spPr>
      </p:pic>
      <p:sp>
        <p:nvSpPr>
          <p:cNvPr id="4" name="object 4"/>
          <p:cNvSpPr txBox="1"/>
          <p:nvPr/>
        </p:nvSpPr>
        <p:spPr>
          <a:xfrm>
            <a:off x="4060952" y="3652215"/>
            <a:ext cx="4726940" cy="574675"/>
          </a:xfrm>
          <a:prstGeom prst="rect">
            <a:avLst/>
          </a:prstGeom>
        </p:spPr>
        <p:txBody>
          <a:bodyPr vert="horz" wrap="square" lIns="0" tIns="12700" rIns="0" bIns="0" rtlCol="0">
            <a:spAutoFit/>
          </a:bodyPr>
          <a:lstStyle/>
          <a:p>
            <a:pPr marL="12700">
              <a:lnSpc>
                <a:spcPct val="100000"/>
              </a:lnSpc>
              <a:spcBef>
                <a:spcPts val="100"/>
              </a:spcBef>
            </a:pPr>
            <a:r>
              <a:rPr sz="3600" i="1" u="sng" spc="-25" dirty="0">
                <a:solidFill>
                  <a:srgbClr val="6B9F24"/>
                </a:solidFill>
                <a:uFill>
                  <a:solidFill>
                    <a:srgbClr val="6B9F24"/>
                  </a:solidFill>
                </a:uFill>
                <a:latin typeface="Calibri"/>
                <a:cs typeface="Calibri"/>
                <a:hlinkClick r:id="rId3"/>
              </a:rPr>
              <a:t>https://cdam.chuka.ac.ke</a:t>
            </a:r>
            <a:endParaRPr sz="3600">
              <a:latin typeface="Calibri"/>
              <a:cs typeface="Calibri"/>
            </a:endParaRPr>
          </a:p>
        </p:txBody>
      </p:sp>
      <p:sp>
        <p:nvSpPr>
          <p:cNvPr id="5" name="object 5"/>
          <p:cNvSpPr txBox="1"/>
          <p:nvPr/>
        </p:nvSpPr>
        <p:spPr>
          <a:xfrm>
            <a:off x="3352546" y="6498421"/>
            <a:ext cx="5844540" cy="252095"/>
          </a:xfrm>
          <a:prstGeom prst="rect">
            <a:avLst/>
          </a:prstGeom>
        </p:spPr>
        <p:txBody>
          <a:bodyPr vert="horz" wrap="square" lIns="0" tIns="30480" rIns="0" bIns="0" rtlCol="0">
            <a:spAutoFit/>
          </a:bodyPr>
          <a:lstStyle/>
          <a:p>
            <a:pPr marL="12700">
              <a:lnSpc>
                <a:spcPct val="100000"/>
              </a:lnSpc>
              <a:spcBef>
                <a:spcPts val="240"/>
              </a:spcBef>
            </a:pPr>
            <a:r>
              <a:rPr sz="1250" b="1" i="1" spc="50" dirty="0">
                <a:solidFill>
                  <a:srgbClr val="FFC000"/>
                </a:solidFill>
                <a:latin typeface="Arial"/>
                <a:cs typeface="Arial"/>
              </a:rPr>
              <a:t>CENTER</a:t>
            </a:r>
            <a:r>
              <a:rPr sz="1250" b="1" i="1" spc="45" dirty="0">
                <a:solidFill>
                  <a:srgbClr val="FFC000"/>
                </a:solidFill>
                <a:latin typeface="Arial"/>
                <a:cs typeface="Arial"/>
              </a:rPr>
              <a:t> </a:t>
            </a:r>
            <a:r>
              <a:rPr sz="1250" b="1" i="1" dirty="0">
                <a:solidFill>
                  <a:srgbClr val="FFC000"/>
                </a:solidFill>
                <a:latin typeface="Arial"/>
                <a:cs typeface="Arial"/>
              </a:rPr>
              <a:t>FOR</a:t>
            </a:r>
            <a:r>
              <a:rPr sz="1250" b="1" i="1" spc="75" dirty="0">
                <a:solidFill>
                  <a:srgbClr val="FFC000"/>
                </a:solidFill>
                <a:latin typeface="Arial"/>
                <a:cs typeface="Arial"/>
              </a:rPr>
              <a:t> </a:t>
            </a:r>
            <a:r>
              <a:rPr sz="1250" b="1" i="1" dirty="0">
                <a:solidFill>
                  <a:srgbClr val="FFC000"/>
                </a:solidFill>
                <a:latin typeface="Arial"/>
                <a:cs typeface="Arial"/>
              </a:rPr>
              <a:t>DATA</a:t>
            </a:r>
            <a:r>
              <a:rPr sz="1250" b="1" i="1" spc="50" dirty="0">
                <a:solidFill>
                  <a:srgbClr val="FFC000"/>
                </a:solidFill>
                <a:latin typeface="Arial"/>
                <a:cs typeface="Arial"/>
              </a:rPr>
              <a:t> </a:t>
            </a:r>
            <a:r>
              <a:rPr sz="1250" b="1" i="1" spc="45" dirty="0">
                <a:solidFill>
                  <a:srgbClr val="FFC000"/>
                </a:solidFill>
                <a:latin typeface="Arial"/>
                <a:cs typeface="Arial"/>
              </a:rPr>
              <a:t>ANALYTICS</a:t>
            </a:r>
            <a:r>
              <a:rPr sz="1250" b="1" i="1" spc="70" dirty="0">
                <a:solidFill>
                  <a:srgbClr val="FFC000"/>
                </a:solidFill>
                <a:latin typeface="Arial"/>
                <a:cs typeface="Arial"/>
              </a:rPr>
              <a:t> </a:t>
            </a:r>
            <a:r>
              <a:rPr sz="1250" b="1" i="1" spc="50" dirty="0">
                <a:solidFill>
                  <a:srgbClr val="FFC000"/>
                </a:solidFill>
                <a:latin typeface="Arial"/>
                <a:cs typeface="Arial"/>
              </a:rPr>
              <a:t>AND </a:t>
            </a:r>
            <a:r>
              <a:rPr sz="1250" b="1" i="1" spc="55" dirty="0">
                <a:solidFill>
                  <a:srgbClr val="FFC000"/>
                </a:solidFill>
                <a:latin typeface="Arial"/>
                <a:cs typeface="Arial"/>
              </a:rPr>
              <a:t>MODELING,</a:t>
            </a:r>
            <a:r>
              <a:rPr sz="1250" b="1" i="1" spc="80" dirty="0">
                <a:solidFill>
                  <a:srgbClr val="FFC000"/>
                </a:solidFill>
                <a:latin typeface="Arial"/>
                <a:cs typeface="Arial"/>
              </a:rPr>
              <a:t> </a:t>
            </a:r>
            <a:r>
              <a:rPr sz="1250" b="1" i="1" spc="70" dirty="0">
                <a:solidFill>
                  <a:srgbClr val="FFC000"/>
                </a:solidFill>
                <a:latin typeface="Arial"/>
                <a:cs typeface="Arial"/>
              </a:rPr>
              <a:t>CHUKA</a:t>
            </a:r>
            <a:r>
              <a:rPr sz="1250" b="1" i="1" spc="55" dirty="0">
                <a:solidFill>
                  <a:srgbClr val="FFC000"/>
                </a:solidFill>
                <a:latin typeface="Arial"/>
                <a:cs typeface="Arial"/>
              </a:rPr>
              <a:t> </a:t>
            </a:r>
            <a:r>
              <a:rPr sz="1250" b="1" i="1" spc="65" dirty="0">
                <a:solidFill>
                  <a:srgbClr val="FFC000"/>
                </a:solidFill>
                <a:latin typeface="Arial"/>
                <a:cs typeface="Arial"/>
              </a:rPr>
              <a:t>UNIVERSITY</a:t>
            </a:r>
            <a:endParaRPr sz="1250">
              <a:latin typeface="Arial"/>
              <a:cs typeface="Arial"/>
            </a:endParaRPr>
          </a:p>
        </p:txBody>
      </p:sp>
      <p:sp>
        <p:nvSpPr>
          <p:cNvPr id="6" name="object 6"/>
          <p:cNvSpPr txBox="1"/>
          <p:nvPr/>
        </p:nvSpPr>
        <p:spPr>
          <a:xfrm>
            <a:off x="1176324" y="6584086"/>
            <a:ext cx="465455" cy="141605"/>
          </a:xfrm>
          <a:prstGeom prst="rect">
            <a:avLst/>
          </a:prstGeom>
        </p:spPr>
        <p:txBody>
          <a:bodyPr vert="horz" wrap="square" lIns="0" tIns="0" rIns="0" bIns="0" rtlCol="0">
            <a:spAutoFit/>
          </a:bodyPr>
          <a:lstStyle/>
          <a:p>
            <a:pPr marL="12700">
              <a:lnSpc>
                <a:spcPts val="965"/>
              </a:lnSpc>
            </a:pPr>
            <a:r>
              <a:rPr sz="900" spc="-10" dirty="0">
                <a:solidFill>
                  <a:srgbClr val="FFFFFF"/>
                </a:solidFill>
                <a:latin typeface="Calibri"/>
                <a:cs typeface="Calibri"/>
              </a:rPr>
              <a:t>2/8/2025</a:t>
            </a:r>
            <a:endParaRPr sz="9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spc="-50" dirty="0"/>
              <a:t>21</a:t>
            </a:fld>
            <a:endParaRPr spc="-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B9F2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329</TotalTime>
  <Words>1516</Words>
  <Application>Microsoft Office PowerPoint</Application>
  <PresentationFormat>Widescreen</PresentationFormat>
  <Paragraphs>142</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 Black</vt:lpstr>
      <vt:lpstr>Calibri</vt:lpstr>
      <vt:lpstr>Courier New</vt:lpstr>
      <vt:lpstr>Symbol</vt:lpstr>
      <vt:lpstr>Times New Roman</vt:lpstr>
      <vt:lpstr>Wingdings</vt:lpstr>
      <vt:lpstr>Office Theme</vt:lpstr>
      <vt:lpstr> INTRODUCTION TO STATISTICAL DATA ANALYSIS USING R &amp; RSTUDIO</vt:lpstr>
      <vt:lpstr>Session 1: Introduction to R, Rstudio, and Basic Data Types</vt:lpstr>
      <vt:lpstr>Session 1: Introduction to R, Rstudio, and Basic Data Types</vt:lpstr>
      <vt:lpstr>Session 1: Introduction to R, Rstudio, and Basic Data Types</vt:lpstr>
      <vt:lpstr>Session 1: Introduction to R, Rstudio, and Basic Data Types</vt:lpstr>
      <vt:lpstr>Session 1: Rstudio Environment</vt:lpstr>
      <vt:lpstr>Session 1: Rstudio Pane Layout</vt:lpstr>
      <vt:lpstr>Session 1: Introduction to R, Rstudio, and Basic Data Types</vt:lpstr>
      <vt:lpstr>Session 1: Introduction to R, Rstudio, and Basic Data Types</vt:lpstr>
      <vt:lpstr>Session 1: Introduction to R, Rstudio, and Basic Data Types</vt:lpstr>
      <vt:lpstr>Session 1: Introduction to R, Rstudio, and Basic Data Types</vt:lpstr>
      <vt:lpstr>Session 1: Create and Manipulate Vectors</vt:lpstr>
      <vt:lpstr>Session 1: Create and Manipulate Vectors</vt:lpstr>
      <vt:lpstr>Session 1: Create and Manipulate Matrices</vt:lpstr>
      <vt:lpstr>Session 1: Create and Manipulate Matrices</vt:lpstr>
      <vt:lpstr>Session 2: Create and Manipulate Lists</vt:lpstr>
      <vt:lpstr>Session 2: Create and Manipulate Lists</vt:lpstr>
      <vt:lpstr>Session 1: Create and Manipulating Data Frames</vt:lpstr>
      <vt:lpstr>Session 1: Creating and Manipulating Data Frames</vt:lpstr>
      <vt:lpstr>Session 1: Create and Manipulate Data Frames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QUALTRICS AS A TOOL FOR  BASIC STATISTICAL ANALYSIS</dc:title>
  <dc:creator>Scientist</dc:creator>
  <cp:lastModifiedBy>Victor Lumumba Wandera</cp:lastModifiedBy>
  <cp:revision>20</cp:revision>
  <dcterms:created xsi:type="dcterms:W3CDTF">2025-02-11T06:34:41Z</dcterms:created>
  <dcterms:modified xsi:type="dcterms:W3CDTF">2025-05-05T11:12:57Z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2025-02-08T00:00:00Z</vt:filetime>
  </property>
  <property fmtid="{D5CDD505-2E9C-101B-9397-08002B2CF9AE}" pid="3" name="Creator">
    <vt:lpwstr>Microsoft® PowerPoint® 2016</vt:lpwstr>
  </property>
  <property fmtid="{D5CDD505-2E9C-101B-9397-08002B2CF9AE}" pid="4" name="LastSaved">
    <vt:filetime>2025-02-11T00:00:00Z</vt:filetime>
  </property>
  <property fmtid="{D5CDD505-2E9C-101B-9397-08002B2CF9AE}" pid="5" name="Producer">
    <vt:lpwstr>Microsoft® PowerPoint® 2016</vt:lpwstr>
  </property>
</Properties>
</file>