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12" r:id="rId3"/>
    <p:sldId id="314" r:id="rId4"/>
    <p:sldId id="315" r:id="rId5"/>
    <p:sldId id="313" r:id="rId6"/>
    <p:sldId id="316" r:id="rId7"/>
    <p:sldId id="367" r:id="rId8"/>
    <p:sldId id="284" r:id="rId9"/>
    <p:sldId id="285" r:id="rId10"/>
    <p:sldId id="286" r:id="rId11"/>
    <p:sldId id="287" r:id="rId12"/>
    <p:sldId id="288" r:id="rId13"/>
    <p:sldId id="258" r:id="rId14"/>
    <p:sldId id="290" r:id="rId15"/>
    <p:sldId id="289" r:id="rId16"/>
    <p:sldId id="291" r:id="rId17"/>
    <p:sldId id="293" r:id="rId18"/>
    <p:sldId id="292" r:id="rId19"/>
    <p:sldId id="294" r:id="rId20"/>
    <p:sldId id="295" r:id="rId21"/>
    <p:sldId id="296" r:id="rId22"/>
    <p:sldId id="26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88"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46F3D-BF1C-1320-4CA4-760B40C409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1F56B7-333C-9B2B-8952-910D84747E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4791B2-9A93-166A-8F5F-FF2C1A958332}"/>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2BAFE7D8-6833-6501-A8E1-26216614A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06550F-B28A-FC9C-ACEB-24151D95F646}"/>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1483542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6629-511F-CB89-9BC2-1C4C072D07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3E2787-923F-658C-9D48-819B19908D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BC308-E866-6A5A-D547-60164FA0CFCF}"/>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2582921E-78B2-7CD8-1A61-ED7C2CE57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EBB7C-28A1-0DDA-3BCA-78CA65F3C464}"/>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2261253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9FC8-856A-5862-5B08-FB556F670F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C7F790-A532-9003-0251-B481FF307E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E0CA76-06CB-C927-47A5-716E3ABB0C97}"/>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3A484EEF-BE1A-9E51-4337-15C1FAA989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E7F0A-986B-D7EF-27DF-818835943947}"/>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234020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5945-3E40-9769-8D69-28E6E66A71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127F4B-5CAD-5903-A833-0D501A784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236FD1-D046-F75C-67FD-F2CC2D2D9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CDCBC3-9C98-D7AE-BD3F-C8BADCB78CE9}"/>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6" name="Footer Placeholder 5">
            <a:extLst>
              <a:ext uri="{FF2B5EF4-FFF2-40B4-BE49-F238E27FC236}">
                <a16:creationId xmlns:a16="http://schemas.microsoft.com/office/drawing/2014/main" id="{66CEF127-01C3-8105-C621-FEA377651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5DC70D-0E10-1AF0-28DA-F02C608A6DAD}"/>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406186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0F8B-BF5E-D67C-0A4F-D1EFC170A7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5912B7-1025-DDCF-1571-48E040156F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28512D-9332-4042-C599-D1062A7F19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F0D747-20BC-4E7E-5D51-BA226F6C8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381BF2-68EE-0276-5FB3-501FC580EA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7E1B5E-E42F-8E75-BDC0-45D93EEF3852}"/>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8" name="Footer Placeholder 7">
            <a:extLst>
              <a:ext uri="{FF2B5EF4-FFF2-40B4-BE49-F238E27FC236}">
                <a16:creationId xmlns:a16="http://schemas.microsoft.com/office/drawing/2014/main" id="{F5C9B4E4-593A-2987-44A3-751049F2C4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B4656A-0202-775E-2F2B-D7D4301D7A86}"/>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87045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6412-4BAF-3C8B-6DEA-C3A5FA3D5A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3A82F2-2B6C-2E39-28C0-A812C2E42FFA}"/>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4" name="Footer Placeholder 3">
            <a:extLst>
              <a:ext uri="{FF2B5EF4-FFF2-40B4-BE49-F238E27FC236}">
                <a16:creationId xmlns:a16="http://schemas.microsoft.com/office/drawing/2014/main" id="{7C449C80-EAB9-CAE8-79F5-CB0A5DAEF2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D3CB8C-E91B-4C34-7B39-3DBE86702EC0}"/>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417612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8A0988-EA92-E445-41E1-49A83D31B504}"/>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3" name="Footer Placeholder 2">
            <a:extLst>
              <a:ext uri="{FF2B5EF4-FFF2-40B4-BE49-F238E27FC236}">
                <a16:creationId xmlns:a16="http://schemas.microsoft.com/office/drawing/2014/main" id="{1472FBDB-9151-016C-51FF-B6C5EEF76E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F3EDB9-8D13-E758-57AC-9E3EA00222E7}"/>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419515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CEA59-91AD-135A-01FE-87A1178D1F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1C6A11-CAD6-8A24-5B6A-70CFB7B6E2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D34C3E-2A0E-2298-0249-70E52F69B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8D8B9B-5C32-9519-1236-70EFE5F1BC45}"/>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6" name="Footer Placeholder 5">
            <a:extLst>
              <a:ext uri="{FF2B5EF4-FFF2-40B4-BE49-F238E27FC236}">
                <a16:creationId xmlns:a16="http://schemas.microsoft.com/office/drawing/2014/main" id="{9B0E1B07-0AA8-A510-D83B-A96365BCF6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07F444-DF4D-915F-B767-1CA6F66EA729}"/>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232043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867A1-1FE0-57FB-EB85-4A7BB9C67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73A899-AEDA-00FD-6D1E-DBDDDEEE6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1DEBEF-D93E-44D2-AB30-F248BE195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3F1802-401E-0935-61C3-C503481D2065}"/>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6" name="Footer Placeholder 5">
            <a:extLst>
              <a:ext uri="{FF2B5EF4-FFF2-40B4-BE49-F238E27FC236}">
                <a16:creationId xmlns:a16="http://schemas.microsoft.com/office/drawing/2014/main" id="{B5727876-CFF2-E69E-8EA2-5F95D2926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E0027D-CEAF-08FF-AFC7-602B4AD966E3}"/>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347162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0407-9D62-1DCA-FE4B-DD7BD4A92B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3C2408-4FEA-ECE4-A403-D8564EA92D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71E720-CBA7-4727-5662-61E12A883996}"/>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E5DC6A97-C3D0-786B-298F-5F778DBC2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984D5-E115-AB8E-DE8E-38BBFFFD1B47}"/>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1408002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D158EC-F377-CCFB-A626-FA968DC762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CEB238-1B30-F0FF-5100-439852F726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BCA8C-2440-169E-E82B-04B21B8A595F}"/>
              </a:ext>
            </a:extLst>
          </p:cNvPr>
          <p:cNvSpPr>
            <a:spLocks noGrp="1"/>
          </p:cNvSpPr>
          <p:nvPr>
            <p:ph type="dt" sz="half" idx="10"/>
          </p:nvPr>
        </p:nvSpPr>
        <p:spPr/>
        <p:txBody>
          <a:body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CD9ED1DD-CE87-6BDD-BFE4-F1E393BAC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30C4C-4997-D79C-B234-F0EE2FAEF74F}"/>
              </a:ext>
            </a:extLst>
          </p:cNvPr>
          <p:cNvSpPr>
            <a:spLocks noGrp="1"/>
          </p:cNvSpPr>
          <p:nvPr>
            <p:ph type="sldNum" sz="quarter" idx="12"/>
          </p:nvPr>
        </p:nvSpPr>
        <p:spPr/>
        <p:txBody>
          <a:bodyPr/>
          <a:lstStyle/>
          <a:p>
            <a:fld id="{7F8033FF-0A98-478D-99B4-24BE7D52C9E0}" type="slidenum">
              <a:rPr lang="en-US" smtClean="0"/>
              <a:t>‹#›</a:t>
            </a:fld>
            <a:endParaRPr lang="en-US"/>
          </a:p>
        </p:txBody>
      </p:sp>
    </p:spTree>
    <p:extLst>
      <p:ext uri="{BB962C8B-B14F-4D97-AF65-F5344CB8AC3E}">
        <p14:creationId xmlns:p14="http://schemas.microsoft.com/office/powerpoint/2010/main" val="414952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711FE-1FBA-E5F4-9C0B-A7DCC01307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B5EB7F-59FF-3935-A408-E3154EC6B7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58F291-53ED-A7D0-FF15-E1D2E2673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CAD6B-74F4-4C56-BD96-3B833931C745}" type="datetimeFigureOut">
              <a:rPr lang="en-US" smtClean="0"/>
              <a:t>3/24/2026</a:t>
            </a:fld>
            <a:endParaRPr lang="en-US"/>
          </a:p>
        </p:txBody>
      </p:sp>
      <p:sp>
        <p:nvSpPr>
          <p:cNvPr id="5" name="Footer Placeholder 4">
            <a:extLst>
              <a:ext uri="{FF2B5EF4-FFF2-40B4-BE49-F238E27FC236}">
                <a16:creationId xmlns:a16="http://schemas.microsoft.com/office/drawing/2014/main" id="{A3578DB6-6CFC-5261-36B5-05EF88885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4CF938-7A24-BEFF-D421-E079B8227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033FF-0A98-478D-99B4-24BE7D52C9E0}" type="slidenum">
              <a:rPr lang="en-US" smtClean="0"/>
              <a:t>‹#›</a:t>
            </a:fld>
            <a:endParaRPr lang="en-US"/>
          </a:p>
        </p:txBody>
      </p:sp>
    </p:spTree>
    <p:extLst>
      <p:ext uri="{BB962C8B-B14F-4D97-AF65-F5344CB8AC3E}">
        <p14:creationId xmlns:p14="http://schemas.microsoft.com/office/powerpoint/2010/main" val="3453228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6FE-1877-43E7-BEED-0210132FEA4B}"/>
              </a:ext>
            </a:extLst>
          </p:cNvPr>
          <p:cNvSpPr>
            <a:spLocks noGrp="1"/>
          </p:cNvSpPr>
          <p:nvPr>
            <p:ph type="title"/>
          </p:nvPr>
        </p:nvSpPr>
        <p:spPr>
          <a:xfrm>
            <a:off x="276225" y="409574"/>
            <a:ext cx="11525250" cy="6143625"/>
          </a:xfrm>
        </p:spPr>
        <p:txBody>
          <a:bodyPr>
            <a:normAutofit/>
          </a:bodyPr>
          <a:lstStyle/>
          <a:p>
            <a:pPr algn="ctr"/>
            <a:r>
              <a:rPr lang="en-US" sz="4800" b="1" dirty="0">
                <a:solidFill>
                  <a:schemeClr val="accent6">
                    <a:lumMod val="50000"/>
                  </a:schemeClr>
                </a:solidFill>
                <a:latin typeface="Times New Roman" panose="02020603050405020304" pitchFamily="18" charset="0"/>
                <a:cs typeface="Times New Roman" panose="02020603050405020304" pitchFamily="18" charset="0"/>
              </a:rPr>
              <a:t>Introductory to Intermediate </a:t>
            </a:r>
            <a:r>
              <a:rPr lang="en-US" sz="4800" b="1">
                <a:solidFill>
                  <a:schemeClr val="accent6">
                    <a:lumMod val="50000"/>
                  </a:schemeClr>
                </a:solidFill>
                <a:latin typeface="Times New Roman" panose="02020603050405020304" pitchFamily="18" charset="0"/>
                <a:cs typeface="Times New Roman" panose="02020603050405020304" pitchFamily="18" charset="0"/>
              </a:rPr>
              <a:t>Machine Learning-From </a:t>
            </a:r>
            <a:r>
              <a:rPr lang="en-US" sz="4800" b="1" dirty="0">
                <a:solidFill>
                  <a:schemeClr val="accent6">
                    <a:lumMod val="50000"/>
                  </a:schemeClr>
                </a:solidFill>
                <a:latin typeface="Times New Roman" panose="02020603050405020304" pitchFamily="18" charset="0"/>
                <a:cs typeface="Times New Roman" panose="02020603050405020304" pitchFamily="18" charset="0"/>
              </a:rPr>
              <a:t>Theory to Practice</a:t>
            </a: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rgbClr val="7030A0"/>
                </a:solidFill>
                <a:latin typeface="Times New Roman" panose="02020603050405020304" pitchFamily="18" charset="0"/>
                <a:cs typeface="Times New Roman" panose="02020603050405020304" pitchFamily="18" charset="0"/>
              </a:rPr>
            </a:br>
            <a:r>
              <a:rPr lang="en-US" sz="4000" b="1" dirty="0">
                <a:solidFill>
                  <a:srgbClr val="7030A0"/>
                </a:solidFill>
                <a:latin typeface="Times New Roman" panose="02020603050405020304" pitchFamily="18" charset="0"/>
                <a:cs typeface="Times New Roman" panose="02020603050405020304" pitchFamily="18" charset="0"/>
              </a:rPr>
              <a:t>Prepared and Delivered:</a:t>
            </a:r>
            <a:br>
              <a:rPr lang="en-US" sz="4800" b="1" dirty="0">
                <a:solidFill>
                  <a:srgbClr val="FF0000"/>
                </a:solidFill>
                <a:latin typeface="Algerian" panose="04020705040A02060702" pitchFamily="82" charset="0"/>
                <a:cs typeface="Times New Roman" panose="02020603050405020304" pitchFamily="18" charset="0"/>
              </a:rPr>
            </a:br>
            <a:r>
              <a:rPr lang="en-US" sz="4400" b="1" dirty="0">
                <a:solidFill>
                  <a:srgbClr val="FF0000"/>
                </a:solidFill>
                <a:latin typeface="Bodoni MT Black" panose="02070A03080606020203" pitchFamily="18" charset="0"/>
                <a:cs typeface="Times New Roman" panose="02020603050405020304" pitchFamily="18" charset="0"/>
              </a:rPr>
              <a:t>Lumumba Wandera Victor</a:t>
            </a:r>
            <a:endParaRPr lang="en-US" dirty="0">
              <a:solidFill>
                <a:srgbClr val="FF0000"/>
              </a:solidFill>
              <a:latin typeface="Bodoni MT Black" panose="02070A03080606020203" pitchFamily="18" charset="0"/>
            </a:endParaRPr>
          </a:p>
        </p:txBody>
      </p:sp>
    </p:spTree>
    <p:extLst>
      <p:ext uri="{BB962C8B-B14F-4D97-AF65-F5344CB8AC3E}">
        <p14:creationId xmlns:p14="http://schemas.microsoft.com/office/powerpoint/2010/main" val="11234278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7105F-8B42-4135-8F1A-7FFE187E6D9A}"/>
              </a:ext>
            </a:extLst>
          </p:cNvPr>
          <p:cNvSpPr>
            <a:spLocks noGrp="1"/>
          </p:cNvSpPr>
          <p:nvPr>
            <p:ph type="title"/>
          </p:nvPr>
        </p:nvSpPr>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Introduction to Rstudio</a:t>
            </a:r>
          </a:p>
        </p:txBody>
      </p:sp>
      <p:sp>
        <p:nvSpPr>
          <p:cNvPr id="3" name="Content Placeholder 2">
            <a:extLst>
              <a:ext uri="{FF2B5EF4-FFF2-40B4-BE49-F238E27FC236}">
                <a16:creationId xmlns:a16="http://schemas.microsoft.com/office/drawing/2014/main" id="{A068D420-59AB-4EB1-81EA-75F5E96E9AF5}"/>
              </a:ext>
            </a:extLst>
          </p:cNvPr>
          <p:cNvSpPr>
            <a:spLocks noGrp="1"/>
          </p:cNvSpPr>
          <p:nvPr>
            <p:ph idx="1"/>
          </p:nvPr>
        </p:nvSpPr>
        <p:spPr>
          <a:xfrm>
            <a:off x="677333" y="1428751"/>
            <a:ext cx="10514541" cy="4612612"/>
          </a:xfrm>
        </p:spPr>
        <p:txBody>
          <a:bodyPr>
            <a:normAutofit/>
          </a:bodyPr>
          <a:lstStyle/>
          <a:p>
            <a:pPr marL="0" indent="0" algn="l">
              <a:buNone/>
            </a:pPr>
            <a:r>
              <a:rPr lang="en-US" sz="2800" b="1" i="0" u="none" strike="noStrike" baseline="0" dirty="0">
                <a:latin typeface="Times New Roman" panose="02020603050405020304" pitchFamily="18" charset="0"/>
                <a:cs typeface="Times New Roman" panose="02020603050405020304" pitchFamily="18" charset="0"/>
              </a:rPr>
              <a:t>What is R?</a:t>
            </a:r>
          </a:p>
          <a:p>
            <a:pPr algn="l"/>
            <a:r>
              <a:rPr lang="en-US" sz="2800" b="0" i="0" u="none" strike="noStrike" baseline="0" dirty="0">
                <a:latin typeface="Times New Roman" panose="02020603050405020304" pitchFamily="18" charset="0"/>
                <a:cs typeface="Times New Roman" panose="02020603050405020304" pitchFamily="18" charset="0"/>
              </a:rPr>
              <a:t>Although R is a programming language, it is unlike most others. It is designed to analyze data. It isn’t too difficult to learn, and is extremely popular. R has the advantage that it is free and open-source, and that thousands of users have contributed “add-on” packages that are readily downloadable by anyone.</a:t>
            </a:r>
          </a:p>
          <a:p>
            <a:pPr algn="l"/>
            <a:r>
              <a:rPr lang="en-US" sz="2800" b="0" i="0" u="none" strike="noStrike" baseline="0" dirty="0">
                <a:latin typeface="Times New Roman" panose="02020603050405020304" pitchFamily="18" charset="0"/>
                <a:cs typeface="Times New Roman" panose="02020603050405020304" pitchFamily="18" charset="0"/>
              </a:rPr>
              <a:t>R is found in all areas of academia that encounter data, and in many private and public organizations. R is great for any job or task that uses data.</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431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3373-63CA-4FDD-9277-5C0885F587B2}"/>
              </a:ext>
            </a:extLst>
          </p:cNvPr>
          <p:cNvSpPr>
            <a:spLocks noGrp="1"/>
          </p:cNvSpPr>
          <p:nvPr>
            <p:ph type="title"/>
          </p:nvPr>
        </p:nvSpPr>
        <p:spPr>
          <a:xfrm>
            <a:off x="677334" y="609600"/>
            <a:ext cx="8596668" cy="723900"/>
          </a:xfrm>
        </p:spPr>
        <p:txBody>
          <a:bodyPr/>
          <a:lstStyle/>
          <a:p>
            <a:pPr algn="ctr"/>
            <a:r>
              <a:rPr lang="en-US" sz="3600" b="1" i="0" u="none" strike="noStrike" baseline="0" dirty="0">
                <a:solidFill>
                  <a:srgbClr val="000000"/>
                </a:solidFill>
                <a:latin typeface="Times New Roman" panose="02020603050405020304" pitchFamily="18" charset="0"/>
                <a:cs typeface="Times New Roman" panose="02020603050405020304" pitchFamily="18" charset="0"/>
              </a:rPr>
              <a:t>Where to get R and Rstudio</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E00E1A-97CD-4101-8B6E-89546CC5DF95}"/>
              </a:ext>
            </a:extLst>
          </p:cNvPr>
          <p:cNvSpPr>
            <a:spLocks noGrp="1"/>
          </p:cNvSpPr>
          <p:nvPr>
            <p:ph idx="1"/>
          </p:nvPr>
        </p:nvSpPr>
        <p:spPr/>
        <p:txBody>
          <a:bodyPr>
            <a:normAutofit/>
          </a:bodyPr>
          <a:lstStyle/>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Both are free and open-source. Download and install R first: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https://cran.r-project.org/bin/windows/base/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(for Windows) or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https://cran.r-project.org/bin/macosx/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(for Mac). </a:t>
            </a:r>
          </a:p>
          <a:p>
            <a:pPr algn="l"/>
            <a:r>
              <a:rPr lang="en-US" sz="2800" b="0" i="0" u="none" strike="noStrike" baseline="0" dirty="0">
                <a:solidFill>
                  <a:srgbClr val="000000"/>
                </a:solidFill>
                <a:latin typeface="Times New Roman" panose="02020603050405020304" pitchFamily="18" charset="0"/>
                <a:cs typeface="Times New Roman" panose="02020603050405020304" pitchFamily="18" charset="0"/>
              </a:rPr>
              <a:t>Then, download and install RStudio from </a:t>
            </a:r>
            <a:r>
              <a:rPr lang="en-US" sz="2800" b="0" i="0" u="none" strike="noStrike" baseline="0" dirty="0">
                <a:solidFill>
                  <a:srgbClr val="0000CD"/>
                </a:solidFill>
                <a:latin typeface="Times New Roman" panose="02020603050405020304" pitchFamily="18" charset="0"/>
                <a:cs typeface="Times New Roman" panose="02020603050405020304" pitchFamily="18" charset="0"/>
              </a:rPr>
              <a:t>https://www.rstudio.com/products/rstudio/download/</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8344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0850-C639-4028-B1CF-4D26EA5DEFF0}"/>
              </a:ext>
            </a:extLst>
          </p:cNvPr>
          <p:cNvSpPr>
            <a:spLocks noGrp="1"/>
          </p:cNvSpPr>
          <p:nvPr>
            <p:ph type="title"/>
          </p:nvPr>
        </p:nvSpPr>
        <p:spPr/>
        <p:txBody>
          <a:bodyPr/>
          <a:lstStyle/>
          <a:p>
            <a:pPr algn="ctr"/>
            <a:r>
              <a:rPr lang="en-US" sz="3600" b="1" i="0" u="none" strike="noStrike" baseline="0" dirty="0">
                <a:solidFill>
                  <a:schemeClr val="tx1"/>
                </a:solidFill>
                <a:latin typeface="Times New Roman" panose="02020603050405020304" pitchFamily="18" charset="0"/>
                <a:cs typeface="Times New Roman" panose="02020603050405020304" pitchFamily="18" charset="0"/>
              </a:rPr>
              <a:t>Open RStudio</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4276E4-B2E5-4767-88B9-62BCB19E241A}"/>
              </a:ext>
            </a:extLst>
          </p:cNvPr>
          <p:cNvSpPr>
            <a:spLocks noGrp="1"/>
          </p:cNvSpPr>
          <p:nvPr>
            <p:ph idx="1"/>
          </p:nvPr>
        </p:nvSpPr>
        <p:spPr>
          <a:xfrm>
            <a:off x="677333" y="2160589"/>
            <a:ext cx="10933641" cy="3880773"/>
          </a:xfrm>
        </p:spPr>
        <p:txBody>
          <a:bodyPr>
            <a:normAutofit/>
          </a:bodyPr>
          <a:lstStyle/>
          <a:p>
            <a:pPr algn="l"/>
            <a:r>
              <a:rPr lang="en-US" sz="2800" b="0" i="0" u="none" strike="noStrike" baseline="0" dirty="0">
                <a:latin typeface="Times New Roman" panose="02020603050405020304" pitchFamily="18" charset="0"/>
                <a:cs typeface="Times New Roman" panose="02020603050405020304" pitchFamily="18" charset="0"/>
              </a:rPr>
              <a:t>Search your computer for RStudio.exe and open the application. It should look something like the image in the next slide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186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C63B-1B16-4D6B-9202-A643CD023DCA}"/>
              </a:ext>
            </a:extLst>
          </p:cNvPr>
          <p:cNvSpPr>
            <a:spLocks noGrp="1"/>
          </p:cNvSpPr>
          <p:nvPr>
            <p:ph type="title"/>
          </p:nvPr>
        </p:nvSpPr>
        <p:spPr>
          <a:xfrm>
            <a:off x="705909" y="161925"/>
            <a:ext cx="8596668" cy="80010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Rstudio Environment</a:t>
            </a:r>
          </a:p>
        </p:txBody>
      </p:sp>
      <p:pic>
        <p:nvPicPr>
          <p:cNvPr id="5" name="Content Placeholder 4">
            <a:extLst>
              <a:ext uri="{FF2B5EF4-FFF2-40B4-BE49-F238E27FC236}">
                <a16:creationId xmlns:a16="http://schemas.microsoft.com/office/drawing/2014/main" id="{B73B74AD-EA7B-401A-B662-F8565D1F9E7D}"/>
              </a:ext>
            </a:extLst>
          </p:cNvPr>
          <p:cNvPicPr>
            <a:picLocks noGrp="1" noChangeAspect="1"/>
          </p:cNvPicPr>
          <p:nvPr>
            <p:ph idx="1"/>
          </p:nvPr>
        </p:nvPicPr>
        <p:blipFill>
          <a:blip r:embed="rId2"/>
          <a:stretch>
            <a:fillRect/>
          </a:stretch>
        </p:blipFill>
        <p:spPr>
          <a:xfrm>
            <a:off x="457200" y="1162049"/>
            <a:ext cx="11144250" cy="5534025"/>
          </a:xfrm>
        </p:spPr>
      </p:pic>
    </p:spTree>
    <p:extLst>
      <p:ext uri="{BB962C8B-B14F-4D97-AF65-F5344CB8AC3E}">
        <p14:creationId xmlns:p14="http://schemas.microsoft.com/office/powerpoint/2010/main" val="28256733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18C8-0A83-4B06-B70E-E8F5567A0936}"/>
              </a:ext>
            </a:extLst>
          </p:cNvPr>
          <p:cNvSpPr>
            <a:spLocks noGrp="1"/>
          </p:cNvSpPr>
          <p:nvPr>
            <p:ph type="title"/>
          </p:nvPr>
        </p:nvSpPr>
        <p:spPr>
          <a:xfrm>
            <a:off x="582084" y="0"/>
            <a:ext cx="10333566" cy="78105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R Pane Layout</a:t>
            </a:r>
          </a:p>
        </p:txBody>
      </p:sp>
      <p:pic>
        <p:nvPicPr>
          <p:cNvPr id="5" name="Content Placeholder 4">
            <a:extLst>
              <a:ext uri="{FF2B5EF4-FFF2-40B4-BE49-F238E27FC236}">
                <a16:creationId xmlns:a16="http://schemas.microsoft.com/office/drawing/2014/main" id="{67612CF9-1BB2-4A54-8091-30633CA7757F}"/>
              </a:ext>
            </a:extLst>
          </p:cNvPr>
          <p:cNvPicPr>
            <a:picLocks noGrp="1" noChangeAspect="1"/>
          </p:cNvPicPr>
          <p:nvPr>
            <p:ph idx="1"/>
          </p:nvPr>
        </p:nvPicPr>
        <p:blipFill>
          <a:blip r:embed="rId2"/>
          <a:stretch>
            <a:fillRect/>
          </a:stretch>
        </p:blipFill>
        <p:spPr>
          <a:xfrm>
            <a:off x="971550" y="1038224"/>
            <a:ext cx="9944100" cy="5793903"/>
          </a:xfrm>
        </p:spPr>
      </p:pic>
    </p:spTree>
    <p:extLst>
      <p:ext uri="{BB962C8B-B14F-4D97-AF65-F5344CB8AC3E}">
        <p14:creationId xmlns:p14="http://schemas.microsoft.com/office/powerpoint/2010/main" val="1148166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FC88-FA1C-4B15-B8AB-9F7AF80A7BA4}"/>
              </a:ext>
            </a:extLst>
          </p:cNvPr>
          <p:cNvSpPr>
            <a:spLocks noGrp="1"/>
          </p:cNvSpPr>
          <p:nvPr>
            <p:ph type="ctrTitle"/>
          </p:nvPr>
        </p:nvSpPr>
        <p:spPr>
          <a:xfrm>
            <a:off x="133350" y="238125"/>
            <a:ext cx="11696700" cy="817789"/>
          </a:xfrm>
        </p:spPr>
        <p:txBody>
          <a:bodyPr>
            <a:normAutofit fontScale="90000"/>
          </a:bodyPr>
          <a:lstStyle/>
          <a:p>
            <a:pPr algn="l"/>
            <a:r>
              <a:rPr lang="en-US" b="1" dirty="0">
                <a:solidFill>
                  <a:schemeClr val="tx1"/>
                </a:solidFill>
                <a:latin typeface="Times New Roman" panose="02020603050405020304" pitchFamily="18" charset="0"/>
                <a:cs typeface="Times New Roman" panose="02020603050405020304" pitchFamily="18" charset="0"/>
              </a:rPr>
              <a:t>Introduction to Machine Learning</a:t>
            </a:r>
          </a:p>
        </p:txBody>
      </p:sp>
      <p:sp>
        <p:nvSpPr>
          <p:cNvPr id="4" name="Rectangle 1">
            <a:extLst>
              <a:ext uri="{FF2B5EF4-FFF2-40B4-BE49-F238E27FC236}">
                <a16:creationId xmlns:a16="http://schemas.microsoft.com/office/drawing/2014/main" id="{8F5E38E0-7D12-4105-BDC3-486ED279599D}"/>
              </a:ext>
            </a:extLst>
          </p:cNvPr>
          <p:cNvSpPr>
            <a:spLocks noGrp="1" noChangeArrowheads="1"/>
          </p:cNvSpPr>
          <p:nvPr>
            <p:ph type="subTitle" idx="1"/>
          </p:nvPr>
        </p:nvSpPr>
        <p:spPr bwMode="auto">
          <a:xfrm>
            <a:off x="133350" y="2205101"/>
            <a:ext cx="11772900"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Machine Learning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solidFill>
                  <a:schemeClr val="tx1"/>
                </a:solidFill>
                <a:latin typeface="Times New Roman" panose="02020603050405020304" pitchFamily="18" charset="0"/>
                <a:cs typeface="Times New Roman" panose="02020603050405020304" pitchFamily="18" charset="0"/>
              </a:rPr>
              <a:t>Machine Learning (ML) refers to </a:t>
            </a:r>
            <a:r>
              <a:rPr lang="en-US" sz="2400" b="1" dirty="0">
                <a:solidFill>
                  <a:schemeClr val="tx1"/>
                </a:solidFill>
                <a:latin typeface="Times New Roman" panose="02020603050405020304" pitchFamily="18" charset="0"/>
                <a:cs typeface="Times New Roman" panose="02020603050405020304" pitchFamily="18" charset="0"/>
              </a:rPr>
              <a:t>the ability of machines to learn from data and make decisions or predictions</a:t>
            </a:r>
            <a:r>
              <a:rPr lang="en-US" sz="2400" dirty="0">
                <a:solidFill>
                  <a:schemeClr val="tx1"/>
                </a:solidFill>
                <a:latin typeface="Times New Roman" panose="02020603050405020304" pitchFamily="18" charset="0"/>
                <a:cs typeface="Times New Roman" panose="02020603050405020304" pitchFamily="18" charset="0"/>
              </a:rPr>
              <a:t> based on that data without human intervention.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solidFill>
                  <a:schemeClr val="tx1"/>
                </a:solidFill>
                <a:latin typeface="Times New Roman" panose="02020603050405020304" pitchFamily="18" charset="0"/>
                <a:cs typeface="Times New Roman" panose="02020603050405020304" pitchFamily="18" charset="0"/>
              </a:rPr>
              <a:t>Instead of being explicitly programmed to perform specific tasks, machine learning models improve their performance by identifying patterns in large datasets and adapting their behavior accordingly.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solidFill>
                  <a:schemeClr val="tx1"/>
                </a:solidFill>
                <a:latin typeface="Times New Roman" panose="02020603050405020304" pitchFamily="18" charset="0"/>
                <a:cs typeface="Times New Roman" panose="02020603050405020304" pitchFamily="18" charset="0"/>
              </a:rPr>
              <a:t>These models can be used for tasks like classification, regression, clustering, and more.</a:t>
            </a:r>
            <a:endPar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0879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585D-6B80-431C-87C7-3E7AD51795E4}"/>
              </a:ext>
            </a:extLst>
          </p:cNvPr>
          <p:cNvSpPr>
            <a:spLocks noGrp="1"/>
          </p:cNvSpPr>
          <p:nvPr>
            <p:ph type="title"/>
          </p:nvPr>
        </p:nvSpPr>
        <p:spPr>
          <a:xfrm>
            <a:off x="838200" y="365125"/>
            <a:ext cx="10515600" cy="1806575"/>
          </a:xfrm>
        </p:spPr>
        <p:txBody>
          <a:bodyPr>
            <a:normAutofit/>
          </a:bodyPr>
          <a:lstStyle/>
          <a:p>
            <a:pPr algn="ctr"/>
            <a:r>
              <a:rPr lang="en-US" b="1" dirty="0">
                <a:solidFill>
                  <a:srgbClr val="FF0000"/>
                </a:solidFill>
                <a:latin typeface="Times New Roman" panose="02020603050405020304" pitchFamily="18" charset="0"/>
                <a:cs typeface="Times New Roman" panose="02020603050405020304" pitchFamily="18" charset="0"/>
              </a:rPr>
              <a:t>Differences Between AI, ML, and Deep Learning:</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04A1BF-62DC-4287-B4F8-1742C847A7F6}"/>
              </a:ext>
            </a:extLst>
          </p:cNvPr>
          <p:cNvSpPr>
            <a:spLocks noGrp="1"/>
          </p:cNvSpPr>
          <p:nvPr>
            <p:ph idx="1"/>
          </p:nvPr>
        </p:nvSpPr>
        <p:spPr>
          <a:xfrm>
            <a:off x="838200" y="2182586"/>
            <a:ext cx="10515600" cy="4686300"/>
          </a:xfrm>
        </p:spPr>
        <p:txBody>
          <a:bodyPr>
            <a:normAutofit fontScale="92500" lnSpcReduction="20000"/>
          </a:bodyPr>
          <a:lstStyle/>
          <a:p>
            <a:pP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1. Artificial Intelligence (AI):</a:t>
            </a:r>
            <a:endParaRPr lang="en-US" sz="29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Definition:</a:t>
            </a:r>
            <a:r>
              <a:rPr lang="en-US" sz="2900" dirty="0">
                <a:latin typeface="Times New Roman" panose="02020603050405020304" pitchFamily="18" charset="0"/>
                <a:cs typeface="Times New Roman" panose="02020603050405020304" pitchFamily="18" charset="0"/>
              </a:rPr>
              <a:t> AI is the broadest concept and refers to the simulation of human intelligence by machines. It involves the creation of systems capable of performing tasks that typically require human intelligence, such as visual perception, speech recognition, decision-making, and language translation.</a:t>
            </a:r>
          </a:p>
          <a:p>
            <a:pP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Scope:</a:t>
            </a:r>
            <a:r>
              <a:rPr lang="en-US" sz="2900" dirty="0">
                <a:latin typeface="Times New Roman" panose="02020603050405020304" pitchFamily="18" charset="0"/>
                <a:cs typeface="Times New Roman" panose="02020603050405020304" pitchFamily="18" charset="0"/>
              </a:rPr>
              <a:t> AI includes both rule-based systems (e.g., if-then logic) and learning systems (like machine learning and deep learning).</a:t>
            </a:r>
          </a:p>
          <a:p>
            <a:pP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Techniques Used:</a:t>
            </a:r>
            <a:r>
              <a:rPr lang="en-US" sz="2900" dirty="0">
                <a:latin typeface="Times New Roman" panose="02020603050405020304" pitchFamily="18" charset="0"/>
                <a:cs typeface="Times New Roman" panose="02020603050405020304" pitchFamily="18" charset="0"/>
              </a:rPr>
              <a:t> AI uses various techniques, including search algorithms, expert systems, and learning-based approaches like ML and DL.</a:t>
            </a:r>
          </a:p>
          <a:p>
            <a:pP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Example:</a:t>
            </a:r>
            <a:r>
              <a:rPr lang="en-US" sz="2900" dirty="0">
                <a:latin typeface="Times New Roman" panose="02020603050405020304" pitchFamily="18" charset="0"/>
                <a:cs typeface="Times New Roman" panose="02020603050405020304" pitchFamily="18" charset="0"/>
              </a:rPr>
              <a:t> A chatbot that can hold a conversation or an autonomous car that can drive itself.</a:t>
            </a:r>
          </a:p>
          <a:p>
            <a:pPr marL="0" indent="0">
              <a:buNone/>
            </a:pPr>
            <a:endParaRPr lang="en-US" dirty="0"/>
          </a:p>
        </p:txBody>
      </p:sp>
    </p:spTree>
    <p:extLst>
      <p:ext uri="{BB962C8B-B14F-4D97-AF65-F5344CB8AC3E}">
        <p14:creationId xmlns:p14="http://schemas.microsoft.com/office/powerpoint/2010/main" val="23346716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B179-963F-4ADF-8EB2-3955067D1E2F}"/>
              </a:ext>
            </a:extLst>
          </p:cNvPr>
          <p:cNvSpPr>
            <a:spLocks noGrp="1"/>
          </p:cNvSpPr>
          <p:nvPr>
            <p:ph type="title"/>
          </p:nvPr>
        </p:nvSpPr>
        <p:spPr>
          <a:xfrm>
            <a:off x="838200" y="365125"/>
            <a:ext cx="10515600" cy="777875"/>
          </a:xfrm>
        </p:spPr>
        <p:txBody>
          <a:bodyPr/>
          <a:lstStyle/>
          <a:p>
            <a:r>
              <a:rPr lang="en-US" b="1" dirty="0">
                <a:solidFill>
                  <a:srgbClr val="FF0000"/>
                </a:solidFill>
                <a:latin typeface="Times New Roman" panose="02020603050405020304" pitchFamily="18" charset="0"/>
                <a:cs typeface="Times New Roman" panose="02020603050405020304" pitchFamily="18" charset="0"/>
              </a:rPr>
              <a:t>Machine Learning (ML):</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90975C-A08E-40E2-B6E6-F6EDB07F14D2}"/>
              </a:ext>
            </a:extLst>
          </p:cNvPr>
          <p:cNvSpPr>
            <a:spLocks noGrp="1"/>
          </p:cNvSpPr>
          <p:nvPr>
            <p:ph idx="1"/>
          </p:nvPr>
        </p:nvSpPr>
        <p:spPr>
          <a:xfrm>
            <a:off x="676274" y="1219200"/>
            <a:ext cx="10591801" cy="4619625"/>
          </a:xfrm>
        </p:spPr>
        <p:txBody>
          <a:bodyPr>
            <a:normAutofit/>
          </a:bodyPr>
          <a:lstStyle/>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ML is a subset of AI that focuses specifically on systems that can learn from data. In ML, algorithms are trained on datasets to recognize patterns, make predictions, or improve their accuracy over time without being explicitly programmed for specific tasks.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Scope:</a:t>
            </a:r>
            <a:r>
              <a:rPr lang="en-US" sz="2400" dirty="0">
                <a:latin typeface="Times New Roman" panose="02020603050405020304" pitchFamily="18" charset="0"/>
                <a:cs typeface="Times New Roman" panose="02020603050405020304" pitchFamily="18" charset="0"/>
              </a:rPr>
              <a:t> ML is narrower than AI, as it deals solely with learning from data. It covers a range of techniques such as supervised learning, unsupervised learning, and reinforcement learning.</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Techniques Used:</a:t>
            </a:r>
            <a:r>
              <a:rPr lang="en-US" sz="2400" dirty="0">
                <a:latin typeface="Times New Roman" panose="02020603050405020304" pitchFamily="18" charset="0"/>
                <a:cs typeface="Times New Roman" panose="02020603050405020304" pitchFamily="18" charset="0"/>
              </a:rPr>
              <a:t> Popular algorithms include decision trees, support vector machines (SVM), k-nearest neighbors (k-NN), and neural networks.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A spam filter that learns to classify emails as spam or not spam based on previous examples.</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6684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0D1C-CD22-4D27-A69A-EECABD819BC6}"/>
              </a:ext>
            </a:extLst>
          </p:cNvPr>
          <p:cNvSpPr>
            <a:spLocks noGrp="1"/>
          </p:cNvSpPr>
          <p:nvPr>
            <p:ph type="title"/>
          </p:nvPr>
        </p:nvSpPr>
        <p:spPr>
          <a:xfrm>
            <a:off x="314325" y="365125"/>
            <a:ext cx="11039475"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Deep Learning (DL):</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FCC6C2-C958-4F13-A2EE-CFC6775465E8}"/>
              </a:ext>
            </a:extLst>
          </p:cNvPr>
          <p:cNvSpPr>
            <a:spLocks noGrp="1"/>
          </p:cNvSpPr>
          <p:nvPr>
            <p:ph idx="1"/>
          </p:nvPr>
        </p:nvSpPr>
        <p:spPr>
          <a:xfrm>
            <a:off x="314325" y="1449162"/>
            <a:ext cx="10744200" cy="4753334"/>
          </a:xfrm>
        </p:spPr>
        <p:txBody>
          <a:bodyPr>
            <a:normAutofit/>
          </a:bodyPr>
          <a:lstStyle/>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DL is a specialized subfield of ML, focusing on neural networks with many layers (hence "deep"). These networks are capable of learning complex representations from massive amounts of data and are particularly effective in tasks involving images, audio, and natural language.</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Scope:</a:t>
            </a:r>
            <a:r>
              <a:rPr lang="en-US" sz="2400" dirty="0">
                <a:latin typeface="Times New Roman" panose="02020603050405020304" pitchFamily="18" charset="0"/>
                <a:cs typeface="Times New Roman" panose="02020603050405020304" pitchFamily="18" charset="0"/>
              </a:rPr>
              <a:t> Deep learning is more specific than ML, as it deals with neural networks that have multiple hidden layers (hence the term "deep"). It is often applied in scenarios where large amounts of data and high computational power are available.</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Techniques Used:</a:t>
            </a:r>
            <a:r>
              <a:rPr lang="en-US" sz="2400" dirty="0">
                <a:latin typeface="Times New Roman" panose="02020603050405020304" pitchFamily="18" charset="0"/>
                <a:cs typeface="Times New Roman" panose="02020603050405020304" pitchFamily="18" charset="0"/>
              </a:rPr>
              <a:t> Deep learning uses architectures like Convolutional Neural Networks (CNNs) for image recognition, Recurrent Neural Networks (RNNs) for time-series data or language processing, and transformers for advanced NLP tasks.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A self-driving car’s vision system that processes camera inputs and recognizes objects, or an image recognition system classifying images of cats and dogs.</a:t>
            </a:r>
          </a:p>
          <a:p>
            <a:pPr marL="0" indent="0">
              <a:buNone/>
            </a:pPr>
            <a:endParaRPr lang="en-US" dirty="0"/>
          </a:p>
        </p:txBody>
      </p:sp>
    </p:spTree>
    <p:extLst>
      <p:ext uri="{BB962C8B-B14F-4D97-AF65-F5344CB8AC3E}">
        <p14:creationId xmlns:p14="http://schemas.microsoft.com/office/powerpoint/2010/main" val="26536515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AD03-509B-4611-8138-033575612C7C}"/>
              </a:ext>
            </a:extLst>
          </p:cNvPr>
          <p:cNvSpPr>
            <a:spLocks noGrp="1"/>
          </p:cNvSpPr>
          <p:nvPr>
            <p:ph type="title"/>
          </p:nvPr>
        </p:nvSpPr>
        <p:spPr>
          <a:xfrm>
            <a:off x="677333" y="95250"/>
            <a:ext cx="11086041" cy="1057275"/>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Diagrammatic Representation of AI, ML, and Deep Learning</a:t>
            </a:r>
          </a:p>
        </p:txBody>
      </p:sp>
      <p:pic>
        <p:nvPicPr>
          <p:cNvPr id="14" name="Content Placeholder 13">
            <a:extLst>
              <a:ext uri="{FF2B5EF4-FFF2-40B4-BE49-F238E27FC236}">
                <a16:creationId xmlns:a16="http://schemas.microsoft.com/office/drawing/2014/main" id="{4DA87FAF-8962-4737-9F8D-0C5DDDF9CF91}"/>
              </a:ext>
            </a:extLst>
          </p:cNvPr>
          <p:cNvPicPr>
            <a:picLocks noGrp="1" noChangeAspect="1"/>
          </p:cNvPicPr>
          <p:nvPr>
            <p:ph idx="1"/>
          </p:nvPr>
        </p:nvPicPr>
        <p:blipFill>
          <a:blip r:embed="rId2"/>
          <a:stretch>
            <a:fillRect/>
          </a:stretch>
        </p:blipFill>
        <p:spPr>
          <a:xfrm>
            <a:off x="798520" y="1243415"/>
            <a:ext cx="10075129" cy="5306396"/>
          </a:xfrm>
        </p:spPr>
      </p:pic>
    </p:spTree>
    <p:extLst>
      <p:ext uri="{BB962C8B-B14F-4D97-AF65-F5344CB8AC3E}">
        <p14:creationId xmlns:p14="http://schemas.microsoft.com/office/powerpoint/2010/main" val="2892645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DD747-B8B7-45D0-8E17-AC8F722AC9C4}"/>
              </a:ext>
            </a:extLst>
          </p:cNvPr>
          <p:cNvSpPr>
            <a:spLocks noGrp="1"/>
          </p:cNvSpPr>
          <p:nvPr>
            <p:ph type="title"/>
          </p:nvPr>
        </p:nvSpPr>
        <p:spPr>
          <a:xfrm>
            <a:off x="552449" y="365125"/>
            <a:ext cx="11296651" cy="1325563"/>
          </a:xfrm>
        </p:spPr>
        <p:txBody>
          <a:bodyPr>
            <a:normAutofit/>
          </a:bodyPr>
          <a:lstStyle/>
          <a:p>
            <a:pPr algn="ctr"/>
            <a:r>
              <a:rPr lang="en-US" b="1" dirty="0">
                <a:solidFill>
                  <a:srgbClr val="FF0000"/>
                </a:solidFill>
                <a:latin typeface="Times New Roman" panose="02020603050405020304" pitchFamily="18" charset="0"/>
                <a:cs typeface="Times New Roman" panose="02020603050405020304" pitchFamily="18" charset="0"/>
              </a:rPr>
              <a:t>Difference Between AI, ML and Deep Learning</a:t>
            </a:r>
          </a:p>
        </p:txBody>
      </p:sp>
      <p:graphicFrame>
        <p:nvGraphicFramePr>
          <p:cNvPr id="10" name="Content Placeholder 9">
            <a:extLst>
              <a:ext uri="{FF2B5EF4-FFF2-40B4-BE49-F238E27FC236}">
                <a16:creationId xmlns:a16="http://schemas.microsoft.com/office/drawing/2014/main" id="{53C4AC5E-9E96-48DA-90FA-945CEC58FCB7}"/>
              </a:ext>
            </a:extLst>
          </p:cNvPr>
          <p:cNvGraphicFramePr>
            <a:graphicFrameLocks noGrp="1"/>
          </p:cNvGraphicFramePr>
          <p:nvPr>
            <p:ph idx="1"/>
            <p:extLst>
              <p:ext uri="{D42A27DB-BD31-4B8C-83A1-F6EECF244321}">
                <p14:modId xmlns:p14="http://schemas.microsoft.com/office/powerpoint/2010/main" val="2261048082"/>
              </p:ext>
            </p:extLst>
          </p:nvPr>
        </p:nvGraphicFramePr>
        <p:xfrm>
          <a:off x="266697" y="1850833"/>
          <a:ext cx="11296652" cy="4730192"/>
        </p:xfrm>
        <a:graphic>
          <a:graphicData uri="http://schemas.openxmlformats.org/drawingml/2006/table">
            <a:tbl>
              <a:tblPr>
                <a:tableStyleId>{5C22544A-7EE6-4342-B048-85BDC9FD1C3A}</a:tableStyleId>
              </a:tblPr>
              <a:tblGrid>
                <a:gridCol w="2824163">
                  <a:extLst>
                    <a:ext uri="{9D8B030D-6E8A-4147-A177-3AD203B41FA5}">
                      <a16:colId xmlns:a16="http://schemas.microsoft.com/office/drawing/2014/main" val="1430748608"/>
                    </a:ext>
                  </a:extLst>
                </a:gridCol>
                <a:gridCol w="2824163">
                  <a:extLst>
                    <a:ext uri="{9D8B030D-6E8A-4147-A177-3AD203B41FA5}">
                      <a16:colId xmlns:a16="http://schemas.microsoft.com/office/drawing/2014/main" val="2709081875"/>
                    </a:ext>
                  </a:extLst>
                </a:gridCol>
                <a:gridCol w="2824163">
                  <a:extLst>
                    <a:ext uri="{9D8B030D-6E8A-4147-A177-3AD203B41FA5}">
                      <a16:colId xmlns:a16="http://schemas.microsoft.com/office/drawing/2014/main" val="3292957481"/>
                    </a:ext>
                  </a:extLst>
                </a:gridCol>
                <a:gridCol w="2824163">
                  <a:extLst>
                    <a:ext uri="{9D8B030D-6E8A-4147-A177-3AD203B41FA5}">
                      <a16:colId xmlns:a16="http://schemas.microsoft.com/office/drawing/2014/main" val="336696216"/>
                    </a:ext>
                  </a:extLst>
                </a:gridCol>
              </a:tblGrid>
              <a:tr h="289161">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Aspect</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ctr" fontAlgn="ctr"/>
                      <a:r>
                        <a:rPr lang="en-US" sz="2000" b="1" u="none" strike="noStrike" dirty="0">
                          <a:effectLst/>
                          <a:latin typeface="Times New Roman" panose="02020603050405020304" pitchFamily="18" charset="0"/>
                          <a:cs typeface="Times New Roman" panose="02020603050405020304" pitchFamily="18" charset="0"/>
                        </a:rPr>
                        <a:t>Artificial Intelligence (AI)</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ctr" fontAlgn="ctr"/>
                      <a:r>
                        <a:rPr lang="en-US" sz="2000" b="1" u="none" strike="noStrike">
                          <a:effectLst/>
                          <a:latin typeface="Times New Roman" panose="02020603050405020304" pitchFamily="18" charset="0"/>
                          <a:cs typeface="Times New Roman" panose="02020603050405020304" pitchFamily="18" charset="0"/>
                        </a:rPr>
                        <a:t>Machine Learning (ML)</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ctr" fontAlgn="ctr"/>
                      <a:r>
                        <a:rPr lang="en-US" sz="2000" b="1" u="none" strike="noStrike" dirty="0">
                          <a:effectLst/>
                          <a:latin typeface="Times New Roman" panose="02020603050405020304" pitchFamily="18" charset="0"/>
                          <a:cs typeface="Times New Roman" panose="02020603050405020304" pitchFamily="18" charset="0"/>
                        </a:rPr>
                        <a:t>Deep Learning (DL)</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4249725034"/>
                  </a:ext>
                </a:extLst>
              </a:tr>
              <a:tr h="834312">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Scope</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Broad: Encompasses any intelligent behavior</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Narrower: Focuses on data-driven learning systems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Narrowest: Specializes in multi-layered neural networks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1818922313"/>
                  </a:ext>
                </a:extLst>
              </a:tr>
              <a:tr h="834312">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Techniques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Rule-based, symbolic reasoning, ML included</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Supervised, unsupervised, and reinforcement learning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Neural networks with many layers (e.g., CNNs, RNNs)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87606394"/>
                  </a:ext>
                </a:extLst>
              </a:tr>
              <a:tr h="867480">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Complexity</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Handles simple and complex tasks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Solves data-driven problems with structured data</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Handles very complex tasks like image and language understanding</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1996031624"/>
                  </a:ext>
                </a:extLst>
              </a:tr>
              <a:tr h="833776">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Data Requirement</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Varies, may not need large datasets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Requires structured data for training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Requires massive amounts of data for training</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1484396319"/>
                  </a:ext>
                </a:extLst>
              </a:tr>
              <a:tr h="833776">
                <a:tc>
                  <a:txBody>
                    <a:bodyPr/>
                    <a:lstStyle/>
                    <a:p>
                      <a:pPr algn="l" fontAlgn="ctr"/>
                      <a:r>
                        <a:rPr lang="en-US" sz="2000" b="1" u="none" strike="noStrike" dirty="0">
                          <a:effectLst/>
                          <a:latin typeface="Times New Roman" panose="02020603050405020304" pitchFamily="18" charset="0"/>
                          <a:cs typeface="Times New Roman" panose="02020603050405020304" pitchFamily="18" charset="0"/>
                        </a:rPr>
                        <a:t>Examples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Chatbots, robotic process automation</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Email spam detection, recommendation engines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Autonomous vehicles, speech recognition systems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429950399"/>
                  </a:ext>
                </a:extLst>
              </a:tr>
            </a:tbl>
          </a:graphicData>
        </a:graphic>
      </p:graphicFrame>
    </p:spTree>
    <p:extLst>
      <p:ext uri="{BB962C8B-B14F-4D97-AF65-F5344CB8AC3E}">
        <p14:creationId xmlns:p14="http://schemas.microsoft.com/office/powerpoint/2010/main" val="23051398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992AF-FCE0-49D6-9FBF-57AA689FEFD2}"/>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Types of Machine Learning</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55D374-27FB-4885-A0CD-46DE18E9879E}"/>
              </a:ext>
            </a:extLst>
          </p:cNvPr>
          <p:cNvSpPr>
            <a:spLocks noGrp="1"/>
          </p:cNvSpPr>
          <p:nvPr>
            <p:ph idx="1"/>
          </p:nvPr>
        </p:nvSpPr>
        <p:spPr>
          <a:xfrm>
            <a:off x="677334" y="1581151"/>
            <a:ext cx="10124016" cy="4460212"/>
          </a:xfrm>
        </p:spPr>
        <p:txBody>
          <a:bodyPr>
            <a:normAutofit/>
          </a:bodyPr>
          <a:lstStyle/>
          <a:p>
            <a:pPr marL="0" indent="0">
              <a:buNone/>
            </a:pPr>
            <a:r>
              <a:rPr lang="en-US" sz="3200" b="1" dirty="0">
                <a:latin typeface="Times New Roman" panose="02020603050405020304" pitchFamily="18" charset="0"/>
                <a:cs typeface="Times New Roman" panose="02020603050405020304" pitchFamily="18" charset="0"/>
              </a:rPr>
              <a:t>Supervised Learning:</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Supervised learning involves training a model using labeled data, where both the input data and the corresponding output labels are provided.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model learns to map inputs to outputs based on these examples, allowing it to make predictions or classifications for new, unseen data. It can be applied to two main types of problems:</a:t>
            </a:r>
          </a:p>
        </p:txBody>
      </p:sp>
    </p:spTree>
    <p:extLst>
      <p:ext uri="{BB962C8B-B14F-4D97-AF65-F5344CB8AC3E}">
        <p14:creationId xmlns:p14="http://schemas.microsoft.com/office/powerpoint/2010/main" val="9085751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5486-58E1-47EC-824F-54D6A33F8197}"/>
              </a:ext>
            </a:extLst>
          </p:cNvPr>
          <p:cNvSpPr>
            <a:spLocks noGrp="1"/>
          </p:cNvSpPr>
          <p:nvPr>
            <p:ph type="title"/>
          </p:nvPr>
        </p:nvSpPr>
        <p:spPr/>
        <p:txBody>
          <a:bodyPr/>
          <a:lstStyle/>
          <a:p>
            <a:r>
              <a:rPr lang="en-US" sz="4400" b="1" dirty="0">
                <a:solidFill>
                  <a:srgbClr val="FF0000"/>
                </a:solidFill>
                <a:latin typeface="Times New Roman" panose="02020603050405020304" pitchFamily="18" charset="0"/>
                <a:cs typeface="Times New Roman" panose="02020603050405020304" pitchFamily="18" charset="0"/>
              </a:rPr>
              <a:t>Classification</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284C2D-35FE-483F-A50C-73A60E077B36}"/>
              </a:ext>
            </a:extLst>
          </p:cNvPr>
          <p:cNvSpPr>
            <a:spLocks noGrp="1"/>
          </p:cNvSpPr>
          <p:nvPr>
            <p:ph idx="1"/>
          </p:nvPr>
        </p:nvSpPr>
        <p:spPr>
          <a:xfrm>
            <a:off x="677334" y="1581151"/>
            <a:ext cx="10238316" cy="4460212"/>
          </a:xfrm>
        </p:spPr>
        <p:txBody>
          <a:bodyPr>
            <a:normAutofit fontScale="70000" lnSpcReduction="20000"/>
          </a:bodyPr>
          <a:lstStyle/>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Goal:</a:t>
            </a:r>
            <a:r>
              <a:rPr lang="en-US" sz="3400" dirty="0">
                <a:latin typeface="Times New Roman" panose="02020603050405020304" pitchFamily="18" charset="0"/>
                <a:cs typeface="Times New Roman" panose="02020603050405020304" pitchFamily="18" charset="0"/>
              </a:rPr>
              <a:t> To predict a categorical output (label) from input data. The output can belong to one of several predefined classes.</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How it Works:</a:t>
            </a:r>
            <a:r>
              <a:rPr lang="en-US" sz="3400" dirty="0">
                <a:latin typeface="Times New Roman" panose="02020603050405020304" pitchFamily="18" charset="0"/>
                <a:cs typeface="Times New Roman" panose="02020603050405020304" pitchFamily="18" charset="0"/>
              </a:rPr>
              <a:t> The algorithm learns from a labeled dataset where the categories are known. Once trained, the model can classify new data points into one of the classes.</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Examples:</a:t>
            </a:r>
            <a:endParaRPr lang="en-US" sz="3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Email Spam Detection:</a:t>
            </a:r>
            <a:r>
              <a:rPr lang="en-US" sz="3400" dirty="0">
                <a:latin typeface="Times New Roman" panose="02020603050405020304" pitchFamily="18" charset="0"/>
                <a:cs typeface="Times New Roman" panose="02020603050405020304" pitchFamily="18" charset="0"/>
              </a:rPr>
              <a:t> Classifying emails as "spam" or "not spam."</a:t>
            </a:r>
          </a:p>
          <a:p>
            <a:pPr lvl="1">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Image Classification:</a:t>
            </a:r>
            <a:r>
              <a:rPr lang="en-US" sz="3400" dirty="0">
                <a:latin typeface="Times New Roman" panose="02020603050405020304" pitchFamily="18" charset="0"/>
                <a:cs typeface="Times New Roman" panose="02020603050405020304" pitchFamily="18" charset="0"/>
              </a:rPr>
              <a:t> Identifying whether an image contains a dog, cat, or bird.</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Common Algorithms:</a:t>
            </a:r>
            <a:endParaRPr lang="en-US" sz="3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Logistic Regression</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Support Vector Machines (SVM)</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k-Nearest Neighbors (k-NN)</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Decision Trees, Random Forests</a:t>
            </a:r>
          </a:p>
          <a:p>
            <a:pPr marL="0" indent="0">
              <a:buNone/>
            </a:pPr>
            <a:endParaRPr lang="en-US" dirty="0"/>
          </a:p>
        </p:txBody>
      </p:sp>
    </p:spTree>
    <p:extLst>
      <p:ext uri="{BB962C8B-B14F-4D97-AF65-F5344CB8AC3E}">
        <p14:creationId xmlns:p14="http://schemas.microsoft.com/office/powerpoint/2010/main" val="12330087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8EFFB-C080-4327-A658-B62956ACDF2D}"/>
              </a:ext>
            </a:extLst>
          </p:cNvPr>
          <p:cNvSpPr>
            <a:spLocks noGrp="1"/>
          </p:cNvSpPr>
          <p:nvPr>
            <p:ph type="title"/>
          </p:nvPr>
        </p:nvSpPr>
        <p:spPr/>
        <p:txBody>
          <a:bodyPr/>
          <a:lstStyle/>
          <a:p>
            <a:r>
              <a:rPr lang="en-US" sz="4400" b="1" dirty="0">
                <a:solidFill>
                  <a:srgbClr val="FF0000"/>
                </a:solidFill>
                <a:latin typeface="Times New Roman" panose="02020603050405020304" pitchFamily="18" charset="0"/>
                <a:cs typeface="Times New Roman" panose="02020603050405020304" pitchFamily="18" charset="0"/>
              </a:rPr>
              <a:t>Regression</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AA4F79-FD68-4D7F-ACB1-CFDC037B8596}"/>
              </a:ext>
            </a:extLst>
          </p:cNvPr>
          <p:cNvSpPr>
            <a:spLocks noGrp="1"/>
          </p:cNvSpPr>
          <p:nvPr>
            <p:ph idx="1"/>
          </p:nvPr>
        </p:nvSpPr>
        <p:spPr>
          <a:xfrm>
            <a:off x="677334" y="1504951"/>
            <a:ext cx="10924116" cy="4536412"/>
          </a:xfrm>
        </p:spPr>
        <p:txBody>
          <a:bodyPr>
            <a:normAutofit fontScale="70000" lnSpcReduction="20000"/>
          </a:bodyPr>
          <a:lstStyle/>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Goal:</a:t>
            </a:r>
            <a:r>
              <a:rPr lang="en-US" sz="3400" dirty="0">
                <a:latin typeface="Times New Roman" panose="02020603050405020304" pitchFamily="18" charset="0"/>
                <a:cs typeface="Times New Roman" panose="02020603050405020304" pitchFamily="18" charset="0"/>
              </a:rPr>
              <a:t> To predict a continuous numerical output based on input data.</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How it Works:</a:t>
            </a:r>
            <a:r>
              <a:rPr lang="en-US" sz="3400" dirty="0">
                <a:latin typeface="Times New Roman" panose="02020603050405020304" pitchFamily="18" charset="0"/>
                <a:cs typeface="Times New Roman" panose="02020603050405020304" pitchFamily="18" charset="0"/>
              </a:rPr>
              <a:t> The model is trained on a dataset where the output is a real number (continuous variable). It learns to predict the value based on the input features.</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Examples:</a:t>
            </a:r>
            <a:endParaRPr lang="en-US" sz="3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House Price Prediction:</a:t>
            </a:r>
            <a:r>
              <a:rPr lang="en-US" sz="3400" dirty="0">
                <a:latin typeface="Times New Roman" panose="02020603050405020304" pitchFamily="18" charset="0"/>
                <a:cs typeface="Times New Roman" panose="02020603050405020304" pitchFamily="18" charset="0"/>
              </a:rPr>
              <a:t> Predicting the price of a house based on factors like size, location, and age.</a:t>
            </a:r>
          </a:p>
          <a:p>
            <a:pPr lvl="1">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Stock Price Forecasting:</a:t>
            </a:r>
            <a:r>
              <a:rPr lang="en-US" sz="3400" dirty="0">
                <a:latin typeface="Times New Roman" panose="02020603050405020304" pitchFamily="18" charset="0"/>
                <a:cs typeface="Times New Roman" panose="02020603050405020304" pitchFamily="18" charset="0"/>
              </a:rPr>
              <a:t> Predicting future stock prices based on historical data.</a:t>
            </a:r>
          </a:p>
          <a:p>
            <a:pPr>
              <a:buFont typeface="Wingdings" panose="05000000000000000000" pitchFamily="2" charset="2"/>
              <a:buChar char="Ø"/>
            </a:pPr>
            <a:r>
              <a:rPr lang="en-US" sz="3400" b="1" dirty="0">
                <a:latin typeface="Times New Roman" panose="02020603050405020304" pitchFamily="18" charset="0"/>
                <a:cs typeface="Times New Roman" panose="02020603050405020304" pitchFamily="18" charset="0"/>
              </a:rPr>
              <a:t>Common Algorithms:</a:t>
            </a:r>
            <a:endParaRPr lang="en-US" sz="3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Linear Regression</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Polynomial Regression</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Decision Trees, Random Forests (for regression tasks)</a:t>
            </a:r>
          </a:p>
          <a:p>
            <a:pPr lvl="1">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Support Vector Regression (SVR)</a:t>
            </a:r>
          </a:p>
          <a:p>
            <a:pPr marL="0" indent="0">
              <a:buNone/>
            </a:pPr>
            <a:endParaRPr lang="en-US" dirty="0"/>
          </a:p>
        </p:txBody>
      </p:sp>
    </p:spTree>
    <p:extLst>
      <p:ext uri="{BB962C8B-B14F-4D97-AF65-F5344CB8AC3E}">
        <p14:creationId xmlns:p14="http://schemas.microsoft.com/office/powerpoint/2010/main" val="40237972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F3D5-2651-4B4B-8055-18ACB14F05AB}"/>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Unsupervised Learning</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90F1FD-EBAA-4FC2-BDF5-CEA158D5993F}"/>
              </a:ext>
            </a:extLst>
          </p:cNvPr>
          <p:cNvSpPr>
            <a:spLocks noGrp="1"/>
          </p:cNvSpPr>
          <p:nvPr>
            <p:ph idx="1"/>
          </p:nvPr>
        </p:nvSpPr>
        <p:spPr>
          <a:xfrm>
            <a:off x="677333" y="2160589"/>
            <a:ext cx="10705041" cy="2649536"/>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Unsupervised learning is used when the data does not have labeled outputs. The algorithm tries to discover hidden patterns, structures, or relationships in the data without being explicitly guided.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is mainly used for the following tasks:</a:t>
            </a:r>
          </a:p>
        </p:txBody>
      </p:sp>
    </p:spTree>
    <p:extLst>
      <p:ext uri="{BB962C8B-B14F-4D97-AF65-F5344CB8AC3E}">
        <p14:creationId xmlns:p14="http://schemas.microsoft.com/office/powerpoint/2010/main" val="337779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17072-7887-4B83-A6C3-962A251A65C1}"/>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Clustering</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AA7C65-6387-48AD-B0AF-ADF9DE4263EC}"/>
              </a:ext>
            </a:extLst>
          </p:cNvPr>
          <p:cNvSpPr>
            <a:spLocks noGrp="1"/>
          </p:cNvSpPr>
          <p:nvPr>
            <p:ph idx="1"/>
          </p:nvPr>
        </p:nvSpPr>
        <p:spPr>
          <a:xfrm>
            <a:off x="677333" y="2160589"/>
            <a:ext cx="10419291" cy="4211636"/>
          </a:xfrm>
        </p:spPr>
        <p:txBody>
          <a:bodyPr>
            <a:normAutofit fontScale="92500"/>
          </a:bodyPr>
          <a:lstStyle/>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Goal:</a:t>
            </a:r>
            <a:r>
              <a:rPr lang="en-US" sz="2200" dirty="0">
                <a:latin typeface="Times New Roman" panose="02020603050405020304" pitchFamily="18" charset="0"/>
                <a:cs typeface="Times New Roman" panose="02020603050405020304" pitchFamily="18" charset="0"/>
              </a:rPr>
              <a:t> To group similar data points into clusters based on their features, with the aim of finding inherent patterns or structures.</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How it Works:</a:t>
            </a:r>
            <a:r>
              <a:rPr lang="en-US" sz="2200" dirty="0">
                <a:latin typeface="Times New Roman" panose="02020603050405020304" pitchFamily="18" charset="0"/>
                <a:cs typeface="Times New Roman" panose="02020603050405020304" pitchFamily="18" charset="0"/>
              </a:rPr>
              <a:t> The algorithm attempts to find groups in the data based on feature similarity. The data points within a cluster are more similar to each other than to those in other clusters.</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Examples:</a:t>
            </a:r>
            <a:endParaRPr lang="en-US"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Customer Segmentation:</a:t>
            </a:r>
            <a:r>
              <a:rPr lang="en-US" sz="1900" dirty="0">
                <a:latin typeface="Times New Roman" panose="02020603050405020304" pitchFamily="18" charset="0"/>
                <a:cs typeface="Times New Roman" panose="02020603050405020304" pitchFamily="18" charset="0"/>
              </a:rPr>
              <a:t> Grouping customers based on purchasing behavior to identify distinct market segments.</a:t>
            </a:r>
          </a:p>
          <a:p>
            <a:pPr lvl="1">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Image Segmentation:</a:t>
            </a:r>
            <a:r>
              <a:rPr lang="en-US" sz="1900" dirty="0">
                <a:latin typeface="Times New Roman" panose="02020603050405020304" pitchFamily="18" charset="0"/>
                <a:cs typeface="Times New Roman" panose="02020603050405020304" pitchFamily="18" charset="0"/>
              </a:rPr>
              <a:t> Clustering pixels in an image to distinguish between different regions or objects.</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Common Algorithms:</a:t>
            </a:r>
            <a:endParaRPr lang="en-US"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k-Means Clustering</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Hierarchical Clustering</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DBSCAN (Density-Based Spatial Clustering of Applications with Noise)</a:t>
            </a:r>
          </a:p>
          <a:p>
            <a:pPr marL="0" indent="0">
              <a:buNone/>
            </a:pPr>
            <a:endParaRPr lang="en-US" dirty="0"/>
          </a:p>
        </p:txBody>
      </p:sp>
    </p:spTree>
    <p:extLst>
      <p:ext uri="{BB962C8B-B14F-4D97-AF65-F5344CB8AC3E}">
        <p14:creationId xmlns:p14="http://schemas.microsoft.com/office/powerpoint/2010/main" val="1498151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8498-B43D-446D-9FC9-C08C9D2EFB83}"/>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Dimensionality Reduction</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8A31D5-8E3D-498C-80AA-81F7F7558FC0}"/>
              </a:ext>
            </a:extLst>
          </p:cNvPr>
          <p:cNvSpPr>
            <a:spLocks noGrp="1"/>
          </p:cNvSpPr>
          <p:nvPr>
            <p:ph idx="1"/>
          </p:nvPr>
        </p:nvSpPr>
        <p:spPr>
          <a:xfrm>
            <a:off x="677334" y="1495425"/>
            <a:ext cx="10790766" cy="4545937"/>
          </a:xfrm>
        </p:spPr>
        <p:txBody>
          <a:bodyPr>
            <a:normAutofit/>
          </a:bodyPr>
          <a:lstStyle/>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Goal:</a:t>
            </a:r>
            <a:r>
              <a:rPr lang="en-US" sz="1900" dirty="0">
                <a:latin typeface="Times New Roman" panose="02020603050405020304" pitchFamily="18" charset="0"/>
                <a:cs typeface="Times New Roman" panose="02020603050405020304" pitchFamily="18" charset="0"/>
              </a:rPr>
              <a:t> To reduce the number of features (dimensions) in a dataset while preserving as much relevant information as possible.</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How it Works:</a:t>
            </a:r>
            <a:r>
              <a:rPr lang="en-US" sz="1900" dirty="0">
                <a:latin typeface="Times New Roman" panose="02020603050405020304" pitchFamily="18" charset="0"/>
                <a:cs typeface="Times New Roman" panose="02020603050405020304" pitchFamily="18" charset="0"/>
              </a:rPr>
              <a:t> The algorithm transforms high-dimensional data into a lower-dimensional space, often for visualization or to improve the efficiency of other algorithms (like clustering or classification).</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Examples:</a:t>
            </a:r>
            <a:endParaRPr lang="en-US" sz="19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Principal Component Analysis (PCA):</a:t>
            </a:r>
            <a:r>
              <a:rPr lang="en-US" sz="1700" dirty="0">
                <a:latin typeface="Times New Roman" panose="02020603050405020304" pitchFamily="18" charset="0"/>
                <a:cs typeface="Times New Roman" panose="02020603050405020304" pitchFamily="18" charset="0"/>
              </a:rPr>
              <a:t> Used to reduce the number of variables while retaining most of the variance in the data.</a:t>
            </a:r>
          </a:p>
          <a:p>
            <a:pPr lvl="1">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t-Distributed Stochastic Neighbor Embedding (t-SNE):</a:t>
            </a:r>
            <a:r>
              <a:rPr lang="en-US" sz="1700" dirty="0">
                <a:latin typeface="Times New Roman" panose="02020603050405020304" pitchFamily="18" charset="0"/>
                <a:cs typeface="Times New Roman" panose="02020603050405020304" pitchFamily="18" charset="0"/>
              </a:rPr>
              <a:t> Often used for visualizing high-dimensional data in 2D or 3D.</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Common Algorithms:</a:t>
            </a:r>
            <a:endParaRPr lang="en-US" sz="19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Principal Component Analysis (PCA)</a:t>
            </a:r>
          </a:p>
          <a:p>
            <a:pPr lvl="1">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t-SNE</a:t>
            </a:r>
          </a:p>
          <a:p>
            <a:pPr lvl="1">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Autoencoders (in deep learning)</a:t>
            </a:r>
          </a:p>
          <a:p>
            <a:pPr marL="0" indent="0">
              <a:buNone/>
            </a:pPr>
            <a:endParaRPr lang="en-US" dirty="0"/>
          </a:p>
        </p:txBody>
      </p:sp>
    </p:spTree>
    <p:extLst>
      <p:ext uri="{BB962C8B-B14F-4D97-AF65-F5344CB8AC3E}">
        <p14:creationId xmlns:p14="http://schemas.microsoft.com/office/powerpoint/2010/main" val="40396830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EC01-F28A-4CE2-B6A1-5A2BB795962A}"/>
              </a:ext>
            </a:extLst>
          </p:cNvPr>
          <p:cNvSpPr>
            <a:spLocks noGrp="1"/>
          </p:cNvSpPr>
          <p:nvPr>
            <p:ph type="title"/>
          </p:nvPr>
        </p:nvSpPr>
        <p:spPr>
          <a:xfrm>
            <a:off x="677334" y="609600"/>
            <a:ext cx="11050840" cy="781878"/>
          </a:xfrm>
        </p:spPr>
        <p:txBody>
          <a:bodyPr/>
          <a:lstStyle/>
          <a:p>
            <a:pPr algn="ctr"/>
            <a:r>
              <a:rPr lang="en-US" b="1" dirty="0">
                <a:solidFill>
                  <a:schemeClr val="tx2"/>
                </a:solidFill>
                <a:latin typeface="Times New Roman" panose="02020603050405020304" pitchFamily="18" charset="0"/>
                <a:cs typeface="Times New Roman" panose="02020603050405020304" pitchFamily="18" charset="0"/>
              </a:rPr>
              <a:t>REINFORCEMENT LEARNING</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5FA701-09D6-4B8F-9518-B64D2B3BD3E9}"/>
              </a:ext>
            </a:extLst>
          </p:cNvPr>
          <p:cNvSpPr>
            <a:spLocks noGrp="1"/>
          </p:cNvSpPr>
          <p:nvPr>
            <p:ph idx="1"/>
          </p:nvPr>
        </p:nvSpPr>
        <p:spPr>
          <a:xfrm>
            <a:off x="677333" y="2160589"/>
            <a:ext cx="10876491" cy="4230686"/>
          </a:xfrm>
        </p:spPr>
        <p:txBody>
          <a:bodyPr>
            <a:normAutofit lnSpcReduction="10000"/>
          </a:bodyPr>
          <a:lstStyle/>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Goal:</a:t>
            </a:r>
            <a:r>
              <a:rPr lang="en-US" sz="2800" dirty="0">
                <a:latin typeface="Times New Roman" panose="02020603050405020304" pitchFamily="18" charset="0"/>
                <a:cs typeface="Times New Roman" panose="02020603050405020304" pitchFamily="18" charset="0"/>
              </a:rPr>
              <a:t> To train an agent to make a sequence of decisions by interacting with an environment to maximize cumulative rewards.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How it Works:</a:t>
            </a:r>
            <a:r>
              <a:rPr lang="en-US" sz="2800" dirty="0">
                <a:latin typeface="Times New Roman" panose="02020603050405020304" pitchFamily="18" charset="0"/>
                <a:cs typeface="Times New Roman" panose="02020603050405020304" pitchFamily="18" charset="0"/>
              </a:rPr>
              <a:t> The agent learns by trial and error, receiving feedback from its actions in the form of rewards or penalties. The goal is to maximize the total reward over time by learning an optimal policy for decision-making.</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Examples:</a:t>
            </a:r>
            <a:endParaRPr lang="en-US" sz="2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Game Playing:</a:t>
            </a:r>
            <a:r>
              <a:rPr lang="en-US" sz="2400" dirty="0">
                <a:latin typeface="Times New Roman" panose="02020603050405020304" pitchFamily="18" charset="0"/>
                <a:cs typeface="Times New Roman" panose="02020603050405020304" pitchFamily="18" charset="0"/>
              </a:rPr>
              <a:t> Reinforcement learning is used to train agents to play games like chess or Go (e.g., AlphaGo).</a:t>
            </a:r>
          </a:p>
          <a:p>
            <a:pPr marL="742950" lvl="1"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Robotics:</a:t>
            </a:r>
            <a:r>
              <a:rPr lang="en-US" sz="2400" dirty="0">
                <a:latin typeface="Times New Roman" panose="02020603050405020304" pitchFamily="18" charset="0"/>
                <a:cs typeface="Times New Roman" panose="02020603050405020304" pitchFamily="18" charset="0"/>
              </a:rPr>
              <a:t> Training robots to perform tasks by interacting with their environment and learning the best actions to take.</a:t>
            </a:r>
          </a:p>
          <a:p>
            <a:pPr marL="0" indent="0">
              <a:buNone/>
            </a:pPr>
            <a:endParaRPr lang="en-US" dirty="0"/>
          </a:p>
        </p:txBody>
      </p:sp>
    </p:spTree>
    <p:extLst>
      <p:ext uri="{BB962C8B-B14F-4D97-AF65-F5344CB8AC3E}">
        <p14:creationId xmlns:p14="http://schemas.microsoft.com/office/powerpoint/2010/main" val="41090087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F77F4-A60B-450F-97BC-21A04AC51536}"/>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Key Concepts</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69BEDC-C914-44A6-84F5-03CCC207058E}"/>
              </a:ext>
            </a:extLst>
          </p:cNvPr>
          <p:cNvSpPr>
            <a:spLocks noGrp="1"/>
          </p:cNvSpPr>
          <p:nvPr>
            <p:ph idx="1"/>
          </p:nvPr>
        </p:nvSpPr>
        <p:spPr>
          <a:xfrm>
            <a:off x="677333" y="1428750"/>
            <a:ext cx="11219391" cy="4962525"/>
          </a:xfrm>
        </p:spPr>
        <p:txBody>
          <a:bodyPr>
            <a:normAutofit/>
          </a:bodyPr>
          <a:lstStyle/>
          <a:p>
            <a:pPr lvl="1">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Agent:</a:t>
            </a:r>
            <a:r>
              <a:rPr lang="en-US" sz="2200" dirty="0">
                <a:latin typeface="Times New Roman" panose="02020603050405020304" pitchFamily="18" charset="0"/>
                <a:cs typeface="Times New Roman" panose="02020603050405020304" pitchFamily="18" charset="0"/>
              </a:rPr>
              <a:t> The learner or decision-maker.</a:t>
            </a:r>
          </a:p>
          <a:p>
            <a:pPr lvl="1">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Environment:</a:t>
            </a:r>
            <a:r>
              <a:rPr lang="en-US" sz="2200" dirty="0">
                <a:latin typeface="Times New Roman" panose="02020603050405020304" pitchFamily="18" charset="0"/>
                <a:cs typeface="Times New Roman" panose="02020603050405020304" pitchFamily="18" charset="0"/>
              </a:rPr>
              <a:t> The world with which the agent interacts.</a:t>
            </a:r>
          </a:p>
          <a:p>
            <a:pPr lvl="1">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Action:</a:t>
            </a:r>
            <a:r>
              <a:rPr lang="en-US" sz="2200" dirty="0">
                <a:latin typeface="Times New Roman" panose="02020603050405020304" pitchFamily="18" charset="0"/>
                <a:cs typeface="Times New Roman" panose="02020603050405020304" pitchFamily="18" charset="0"/>
              </a:rPr>
              <a:t> A move the agent makes within the environment.</a:t>
            </a:r>
          </a:p>
          <a:p>
            <a:pPr lvl="1">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Reward:</a:t>
            </a:r>
            <a:r>
              <a:rPr lang="en-US" sz="2200" dirty="0">
                <a:latin typeface="Times New Roman" panose="02020603050405020304" pitchFamily="18" charset="0"/>
                <a:cs typeface="Times New Roman" panose="02020603050405020304" pitchFamily="18" charset="0"/>
              </a:rPr>
              <a:t> The feedback the agent receives after performing an action, which could be positive or negative.</a:t>
            </a:r>
          </a:p>
          <a:p>
            <a:pPr lvl="1">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Policy:</a:t>
            </a:r>
            <a:r>
              <a:rPr lang="en-US" sz="2200" dirty="0">
                <a:latin typeface="Times New Roman" panose="02020603050405020304" pitchFamily="18" charset="0"/>
                <a:cs typeface="Times New Roman" panose="02020603050405020304" pitchFamily="18" charset="0"/>
              </a:rPr>
              <a:t> The strategy the agent uses to decide its next action based on the current state.</a:t>
            </a:r>
          </a:p>
          <a:p>
            <a:pPr>
              <a:buFont typeface="Wingdings" panose="05000000000000000000" pitchFamily="2" charset="2"/>
              <a:buChar char="Ø"/>
            </a:pPr>
            <a:r>
              <a:rPr lang="en-US" sz="2600" b="1" dirty="0">
                <a:solidFill>
                  <a:srgbClr val="FF0000"/>
                </a:solidFill>
                <a:latin typeface="Times New Roman" panose="02020603050405020304" pitchFamily="18" charset="0"/>
                <a:cs typeface="Times New Roman" panose="02020603050405020304" pitchFamily="18" charset="0"/>
              </a:rPr>
              <a:t>Common Algorithms:</a:t>
            </a:r>
            <a:endParaRPr lang="en-US" sz="2600"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Q-Learning</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Deep Q-Networks (DQN)</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Proximal Policy Optimization (PPO)</a:t>
            </a:r>
          </a:p>
          <a:p>
            <a:pPr marL="0" indent="0">
              <a:buNone/>
            </a:pPr>
            <a:endParaRPr lang="en-US" dirty="0"/>
          </a:p>
        </p:txBody>
      </p:sp>
    </p:spTree>
    <p:extLst>
      <p:ext uri="{BB962C8B-B14F-4D97-AF65-F5344CB8AC3E}">
        <p14:creationId xmlns:p14="http://schemas.microsoft.com/office/powerpoint/2010/main" val="10744592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D812-475D-4323-AFC9-49BCAFABE118}"/>
              </a:ext>
            </a:extLst>
          </p:cNvPr>
          <p:cNvSpPr>
            <a:spLocks noGrp="1"/>
          </p:cNvSpPr>
          <p:nvPr>
            <p:ph type="title"/>
          </p:nvPr>
        </p:nvSpPr>
        <p:spPr>
          <a:xfrm>
            <a:off x="838200" y="647699"/>
            <a:ext cx="10515600" cy="885826"/>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Tabular Differences</a:t>
            </a:r>
          </a:p>
        </p:txBody>
      </p:sp>
      <p:graphicFrame>
        <p:nvGraphicFramePr>
          <p:cNvPr id="4" name="Content Placeholder 3">
            <a:extLst>
              <a:ext uri="{FF2B5EF4-FFF2-40B4-BE49-F238E27FC236}">
                <a16:creationId xmlns:a16="http://schemas.microsoft.com/office/drawing/2014/main" id="{F4E6D09B-3F05-4D84-90D1-80897C87DC22}"/>
              </a:ext>
            </a:extLst>
          </p:cNvPr>
          <p:cNvGraphicFramePr>
            <a:graphicFrameLocks noGrp="1"/>
          </p:cNvGraphicFramePr>
          <p:nvPr>
            <p:ph idx="1"/>
          </p:nvPr>
        </p:nvGraphicFramePr>
        <p:xfrm>
          <a:off x="200025" y="1491750"/>
          <a:ext cx="11601450" cy="5118602"/>
        </p:xfrm>
        <a:graphic>
          <a:graphicData uri="http://schemas.openxmlformats.org/drawingml/2006/table">
            <a:tbl>
              <a:tblPr>
                <a:tableStyleId>{5C22544A-7EE6-4342-B048-85BDC9FD1C3A}</a:tableStyleId>
              </a:tblPr>
              <a:tblGrid>
                <a:gridCol w="2320290">
                  <a:extLst>
                    <a:ext uri="{9D8B030D-6E8A-4147-A177-3AD203B41FA5}">
                      <a16:colId xmlns:a16="http://schemas.microsoft.com/office/drawing/2014/main" val="3747288656"/>
                    </a:ext>
                  </a:extLst>
                </a:gridCol>
                <a:gridCol w="2320290">
                  <a:extLst>
                    <a:ext uri="{9D8B030D-6E8A-4147-A177-3AD203B41FA5}">
                      <a16:colId xmlns:a16="http://schemas.microsoft.com/office/drawing/2014/main" val="88158218"/>
                    </a:ext>
                  </a:extLst>
                </a:gridCol>
                <a:gridCol w="2320290">
                  <a:extLst>
                    <a:ext uri="{9D8B030D-6E8A-4147-A177-3AD203B41FA5}">
                      <a16:colId xmlns:a16="http://schemas.microsoft.com/office/drawing/2014/main" val="3693983218"/>
                    </a:ext>
                  </a:extLst>
                </a:gridCol>
                <a:gridCol w="2320290">
                  <a:extLst>
                    <a:ext uri="{9D8B030D-6E8A-4147-A177-3AD203B41FA5}">
                      <a16:colId xmlns:a16="http://schemas.microsoft.com/office/drawing/2014/main" val="805500591"/>
                    </a:ext>
                  </a:extLst>
                </a:gridCol>
                <a:gridCol w="2320290">
                  <a:extLst>
                    <a:ext uri="{9D8B030D-6E8A-4147-A177-3AD203B41FA5}">
                      <a16:colId xmlns:a16="http://schemas.microsoft.com/office/drawing/2014/main" val="67038628"/>
                    </a:ext>
                  </a:extLst>
                </a:gridCol>
              </a:tblGrid>
              <a:tr h="524740">
                <a:tc>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Learning Type</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Goal</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Common Tasks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Key Algorithms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ctr" fontAlgn="ctr"/>
                      <a:r>
                        <a:rPr lang="en-US" sz="1800" b="1" u="none" strike="noStrike" dirty="0">
                          <a:effectLst/>
                          <a:latin typeface="Times New Roman" panose="02020603050405020304" pitchFamily="18" charset="0"/>
                          <a:cs typeface="Times New Roman" panose="02020603050405020304" pitchFamily="18" charset="0"/>
                        </a:rPr>
                        <a:t>Example Applications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71276965"/>
                  </a:ext>
                </a:extLst>
              </a:tr>
              <a:tr h="599870">
                <a:tc rowSpan="3">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Supervised Learning</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rowSpan="3">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Learn from labeled data to make predictions or classifications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Classification (spam detection)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Logistic Regression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Fraud detection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1250086972"/>
                  </a:ext>
                </a:extLst>
              </a:tr>
              <a:tr h="599870">
                <a:tc vMerge="1">
                  <a:txBody>
                    <a:bodyPr/>
                    <a:lstStyle/>
                    <a:p>
                      <a:endParaRPr lang="en-US"/>
                    </a:p>
                  </a:txBody>
                  <a:tcPr/>
                </a:tc>
                <a:tc vMerge="1">
                  <a:txBody>
                    <a:bodyPr/>
                    <a:lstStyle/>
                    <a:p>
                      <a:endParaRPr lang="en-US"/>
                    </a:p>
                  </a:txBody>
                  <a:tcP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Regression (price prediction)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Random Forest</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House price prediction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3914269448"/>
                  </a:ext>
                </a:extLst>
              </a:tr>
              <a:tr h="301923">
                <a:tc vMerge="1">
                  <a:txBody>
                    <a:bodyPr/>
                    <a:lstStyle/>
                    <a:p>
                      <a:endParaRPr lang="en-US"/>
                    </a:p>
                  </a:txBody>
                  <a:tcPr/>
                </a:tc>
                <a:tc vMerge="1">
                  <a:txBody>
                    <a:bodyPr/>
                    <a:lstStyle/>
                    <a:p>
                      <a:endParaRPr lang="en-US"/>
                    </a:p>
                  </a:txBody>
                  <a:tcPr/>
                </a:tc>
                <a:tc>
                  <a:txBody>
                    <a:bodyPr/>
                    <a:lstStyle/>
                    <a:p>
                      <a:pPr algn="l" fontAlgn="ct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SVM</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2310542337"/>
                  </a:ext>
                </a:extLst>
              </a:tr>
              <a:tr h="599870">
                <a:tc rowSpan="3">
                  <a:txBody>
                    <a:bodyPr/>
                    <a:lstStyle/>
                    <a:p>
                      <a:pPr algn="l" fontAlgn="ctr"/>
                      <a:r>
                        <a:rPr lang="en-US" sz="1800" b="1" u="none" strike="noStrike">
                          <a:effectLst/>
                          <a:latin typeface="Times New Roman" panose="02020603050405020304" pitchFamily="18" charset="0"/>
                          <a:cs typeface="Times New Roman" panose="02020603050405020304" pitchFamily="18" charset="0"/>
                        </a:rPr>
                        <a:t>Unsupervised Learning</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rowSpan="3">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Discover hidden patterns in unlabeled data</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Clustering (customer segmentation)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k-Means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Market segmentation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2940396597"/>
                  </a:ext>
                </a:extLst>
              </a:tr>
              <a:tr h="599870">
                <a:tc vMerge="1">
                  <a:txBody>
                    <a:bodyPr/>
                    <a:lstStyle/>
                    <a:p>
                      <a:endParaRPr lang="en-US"/>
                    </a:p>
                  </a:txBody>
                  <a:tcPr/>
                </a:tc>
                <a:tc vMerge="1">
                  <a:txBody>
                    <a:bodyPr/>
                    <a:lstStyle/>
                    <a:p>
                      <a:endParaRPr lang="en-US"/>
                    </a:p>
                  </a:txBody>
                  <a:tcP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Dimensionality reduction (PCA)</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Hierarchical Clustering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Data visualization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809568107"/>
                  </a:ext>
                </a:extLst>
              </a:tr>
              <a:tr h="301923">
                <a:tc vMerge="1">
                  <a:txBody>
                    <a:bodyPr/>
                    <a:lstStyle/>
                    <a:p>
                      <a:endParaRPr lang="en-US"/>
                    </a:p>
                  </a:txBody>
                  <a:tcPr/>
                </a:tc>
                <a:tc vMerge="1">
                  <a:txBody>
                    <a:bodyPr/>
                    <a:lstStyle/>
                    <a:p>
                      <a:endParaRPr lang="en-US"/>
                    </a:p>
                  </a:txBody>
                  <a:tcPr/>
                </a:tc>
                <a:tc>
                  <a:txBody>
                    <a:bodyPr/>
                    <a:lstStyle/>
                    <a:p>
                      <a:pPr algn="l" fontAlgn="ct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PCA</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591693088"/>
                  </a:ext>
                </a:extLst>
              </a:tr>
              <a:tr h="390796">
                <a:tc rowSpan="3">
                  <a:txBody>
                    <a:bodyPr/>
                    <a:lstStyle/>
                    <a:p>
                      <a:pPr algn="l" fontAlgn="ctr"/>
                      <a:r>
                        <a:rPr lang="en-US" sz="1800" b="1" u="none" strike="noStrike" dirty="0">
                          <a:effectLst/>
                          <a:latin typeface="Times New Roman" panose="02020603050405020304" pitchFamily="18" charset="0"/>
                          <a:cs typeface="Times New Roman" panose="02020603050405020304" pitchFamily="18" charset="0"/>
                        </a:rPr>
                        <a:t>Reinforcement Learning</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rowSpan="3">
                  <a:txBody>
                    <a:bodyPr/>
                    <a:lstStyle/>
                    <a:p>
                      <a:pPr algn="l" fontAlgn="ctr"/>
                      <a:r>
                        <a:rPr lang="en-US" sz="1800" u="none" strike="noStrike">
                          <a:effectLst/>
                          <a:latin typeface="Times New Roman" panose="02020603050405020304" pitchFamily="18" charset="0"/>
                          <a:cs typeface="Times New Roman" panose="02020603050405020304" pitchFamily="18" charset="0"/>
                        </a:rPr>
                        <a:t>Learn optimal actions through trial and error to maximize reward</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rowSpan="3">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Decision-making (games, robotics)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Q-Learning</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Autonomous driving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3444983129"/>
                  </a:ext>
                </a:extLst>
              </a:tr>
              <a:tr h="59987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Deep Q-Networks (DQN)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Game AI</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1810057699"/>
                  </a:ext>
                </a:extLst>
              </a:tr>
              <a:tr h="59987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Proximal Policy Optimization (PPO)</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tc>
                  <a:txBody>
                    <a:bodyPr/>
                    <a:lstStyle/>
                    <a:p>
                      <a:pPr algn="l" fontAlgn="ct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60" marR="3660" marT="3660" marB="0" anchor="ctr"/>
                </a:tc>
                <a:extLst>
                  <a:ext uri="{0D108BD9-81ED-4DB2-BD59-A6C34878D82A}">
                    <a16:rowId xmlns:a16="http://schemas.microsoft.com/office/drawing/2014/main" val="492391807"/>
                  </a:ext>
                </a:extLst>
              </a:tr>
            </a:tbl>
          </a:graphicData>
        </a:graphic>
      </p:graphicFrame>
    </p:spTree>
    <p:extLst>
      <p:ext uri="{BB962C8B-B14F-4D97-AF65-F5344CB8AC3E}">
        <p14:creationId xmlns:p14="http://schemas.microsoft.com/office/powerpoint/2010/main" val="42701294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5CC60-097F-4DFE-AF2B-3A84CEC6120E}"/>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Supervised Learning Workflow</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4DE125-EED5-4C9F-A0B6-803A5907DF7B}"/>
              </a:ext>
            </a:extLst>
          </p:cNvPr>
          <p:cNvSpPr>
            <a:spLocks noGrp="1"/>
          </p:cNvSpPr>
          <p:nvPr>
            <p:ph idx="1"/>
          </p:nvPr>
        </p:nvSpPr>
        <p:spPr/>
        <p:txBody>
          <a:bodyPr/>
          <a:lstStyle/>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Problem Formulation</a:t>
            </a: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Data collection and preparation.</a:t>
            </a: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Train-Test split.</a:t>
            </a: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Model training and evaluation.</a:t>
            </a: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Model tuning and deployment.</a:t>
            </a:r>
          </a:p>
          <a:p>
            <a:pPr marL="0" indent="0">
              <a:buNone/>
            </a:pPr>
            <a:endParaRPr lang="en-US" dirty="0"/>
          </a:p>
        </p:txBody>
      </p:sp>
    </p:spTree>
    <p:extLst>
      <p:ext uri="{BB962C8B-B14F-4D97-AF65-F5344CB8AC3E}">
        <p14:creationId xmlns:p14="http://schemas.microsoft.com/office/powerpoint/2010/main" val="19292864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1776</Words>
  <Application>Microsoft Office PowerPoint</Application>
  <PresentationFormat>Widescreen</PresentationFormat>
  <Paragraphs>162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Algerian</vt:lpstr>
      <vt:lpstr>Arial</vt:lpstr>
      <vt:lpstr>Bodoni MT Black</vt:lpstr>
      <vt:lpstr>Calibri</vt:lpstr>
      <vt:lpstr>Calibri Light</vt:lpstr>
      <vt:lpstr>Times New Roman</vt:lpstr>
      <vt:lpstr>Wingdings</vt:lpstr>
      <vt:lpstr>Office Theme</vt:lpstr>
      <vt:lpstr>Introductory to Intermediate Machine Learning-From Theory to Practice   Prepared and Delivered: Lumumba Wandera Victor</vt:lpstr>
      <vt:lpstr>Introduction to Rstudio</vt:lpstr>
      <vt:lpstr>Where to get R and Rstudio</vt:lpstr>
      <vt:lpstr>Open RStudio</vt:lpstr>
      <vt:lpstr>Rstudio Environment</vt:lpstr>
      <vt:lpstr>R Pane Layout</vt:lpstr>
      <vt:lpstr>Introduction to Machine Learning</vt:lpstr>
      <vt:lpstr>Differences Between AI, ML, and Deep Learning:</vt:lpstr>
      <vt:lpstr>Machine Learning (ML):</vt:lpstr>
      <vt:lpstr>Deep Learning (DL):</vt:lpstr>
      <vt:lpstr>Diagrammatic Representation of AI, ML, and Deep Learning</vt:lpstr>
      <vt:lpstr>Difference Between AI, ML and Deep Learning</vt:lpstr>
      <vt:lpstr>Types of Machine Learning</vt:lpstr>
      <vt:lpstr>Classification</vt:lpstr>
      <vt:lpstr>Regression</vt:lpstr>
      <vt:lpstr>Unsupervised Learning</vt:lpstr>
      <vt:lpstr>Clustering</vt:lpstr>
      <vt:lpstr>Dimensionality Reduction</vt:lpstr>
      <vt:lpstr>REINFORCEMENT LEARNING</vt:lpstr>
      <vt:lpstr>Key Concepts</vt:lpstr>
      <vt:lpstr>Tabular Differences</vt:lpstr>
      <vt:lpstr>Supervised Learning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to Intermediate Machine Learning: From Theory to Practice with KNN, SVM, Decision Trees, Random Forests and Extreme Gradient Boosting   Prepared and Delivered: Lumumba Wandera Victor</dc:title>
  <dc:creator>Victor Lumumba Wandera</dc:creator>
  <cp:lastModifiedBy>Victor Lumumba Wandera</cp:lastModifiedBy>
  <cp:revision>2</cp:revision>
  <dcterms:created xsi:type="dcterms:W3CDTF">2026-03-24T08:25:00Z</dcterms:created>
  <dcterms:modified xsi:type="dcterms:W3CDTF">2026-03-24T08:28:08Z</dcterms:modified>
</cp:coreProperties>
</file>