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7" r:id="rId2"/>
    <p:sldId id="274" r:id="rId3"/>
    <p:sldId id="258" r:id="rId4"/>
    <p:sldId id="259" r:id="rId5"/>
    <p:sldId id="269" r:id="rId6"/>
    <p:sldId id="270" r:id="rId7"/>
    <p:sldId id="271" r:id="rId8"/>
    <p:sldId id="272" r:id="rId9"/>
    <p:sldId id="273" r:id="rId10"/>
    <p:sldId id="260" r:id="rId11"/>
    <p:sldId id="265" r:id="rId12"/>
    <p:sldId id="267" r:id="rId13"/>
    <p:sldId id="268" r:id="rId14"/>
    <p:sldId id="261" r:id="rId15"/>
    <p:sldId id="264" r:id="rId16"/>
    <p:sldId id="266" r:id="rId17"/>
    <p:sldId id="262" r:id="rId18"/>
    <p:sldId id="263" r:id="rId19"/>
    <p:sldId id="276" r:id="rId20"/>
    <p:sldId id="277" r:id="rId21"/>
    <p:sldId id="278" r:id="rId22"/>
    <p:sldId id="275" r:id="rId23"/>
    <p:sldId id="279" r:id="rId24"/>
    <p:sldId id="280" r:id="rId25"/>
    <p:sldId id="281" r:id="rId26"/>
    <p:sldId id="282" r:id="rId27"/>
    <p:sldId id="283" r:id="rId28"/>
    <p:sldId id="284" r:id="rId29"/>
    <p:sldId id="303" r:id="rId30"/>
    <p:sldId id="304" r:id="rId31"/>
    <p:sldId id="310" r:id="rId32"/>
    <p:sldId id="305" r:id="rId33"/>
    <p:sldId id="306" r:id="rId34"/>
    <p:sldId id="307" r:id="rId35"/>
    <p:sldId id="308" r:id="rId36"/>
    <p:sldId id="309" r:id="rId37"/>
    <p:sldId id="285" r:id="rId38"/>
    <p:sldId id="311" r:id="rId39"/>
    <p:sldId id="312" r:id="rId40"/>
    <p:sldId id="315" r:id="rId41"/>
    <p:sldId id="316" r:id="rId42"/>
    <p:sldId id="317" r:id="rId43"/>
    <p:sldId id="314" r:id="rId44"/>
    <p:sldId id="313"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E9CCF-F16C-4889-823F-C40A18309AD7}"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66859-361C-4C15-B4DC-A0672BD4A5A3}" type="slidenum">
              <a:rPr lang="en-US" smtClean="0"/>
              <a:t>‹#›</a:t>
            </a:fld>
            <a:endParaRPr lang="en-US"/>
          </a:p>
        </p:txBody>
      </p:sp>
    </p:spTree>
    <p:extLst>
      <p:ext uri="{BB962C8B-B14F-4D97-AF65-F5344CB8AC3E}">
        <p14:creationId xmlns:p14="http://schemas.microsoft.com/office/powerpoint/2010/main" val="204760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6859-361C-4C15-B4DC-A0672BD4A5A3}" type="slidenum">
              <a:rPr lang="en-US" smtClean="0"/>
              <a:t>33</a:t>
            </a:fld>
            <a:endParaRPr lang="en-US"/>
          </a:p>
        </p:txBody>
      </p:sp>
    </p:spTree>
    <p:extLst>
      <p:ext uri="{BB962C8B-B14F-4D97-AF65-F5344CB8AC3E}">
        <p14:creationId xmlns:p14="http://schemas.microsoft.com/office/powerpoint/2010/main" val="1137721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553666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438706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085738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316639-A31E-4027-A36A-AFFA922D2A8B}"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322789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316639-A31E-4027-A36A-AFFA922D2A8B}"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407024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316639-A31E-4027-A36A-AFFA922D2A8B}"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596949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316639-A31E-4027-A36A-AFFA922D2A8B}"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308553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316639-A31E-4027-A36A-AFFA922D2A8B}"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2787005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316639-A31E-4027-A36A-AFFA922D2A8B}"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98149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972129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89707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571257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47959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146563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315761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316639-A31E-4027-A36A-AFFA922D2A8B}"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6895C5-6163-47DE-AA09-DF0791F06D42}" type="slidenum">
              <a:rPr lang="en-US" smtClean="0"/>
              <a:t>‹#›</a:t>
            </a:fld>
            <a:endParaRPr lang="en-US"/>
          </a:p>
        </p:txBody>
      </p:sp>
    </p:spTree>
    <p:extLst>
      <p:ext uri="{BB962C8B-B14F-4D97-AF65-F5344CB8AC3E}">
        <p14:creationId xmlns:p14="http://schemas.microsoft.com/office/powerpoint/2010/main" val="3208180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9316639-A31E-4027-A36A-AFFA922D2A8B}" type="datetimeFigureOut">
              <a:rPr lang="en-US" smtClean="0"/>
              <a:t>2/23/2026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16895C5-6163-47DE-AA09-DF0791F06D42}" type="slidenum">
              <a:rPr lang="en-US" smtClean="0"/>
              <a:t>‹#›</a:t>
            </a:fld>
            <a:endParaRPr lang="en-US"/>
          </a:p>
        </p:txBody>
      </p:sp>
    </p:spTree>
    <p:extLst>
      <p:ext uri="{BB962C8B-B14F-4D97-AF65-F5344CB8AC3E}">
        <p14:creationId xmlns:p14="http://schemas.microsoft.com/office/powerpoint/2010/main" val="1163147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kaggle.com/datasets" TargetMode="External"/><Relationship Id="rId2" Type="http://schemas.openxmlformats.org/officeDocument/2006/relationships/hyperlink" Target="https://archive.ics.uci.edu/"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6FE-1877-43E7-BEED-0210132FEA4B}"/>
              </a:ext>
            </a:extLst>
          </p:cNvPr>
          <p:cNvSpPr>
            <a:spLocks noGrp="1"/>
          </p:cNvSpPr>
          <p:nvPr>
            <p:ph type="title"/>
          </p:nvPr>
        </p:nvSpPr>
        <p:spPr>
          <a:xfrm>
            <a:off x="276225" y="409574"/>
            <a:ext cx="11525250" cy="6143625"/>
          </a:xfrm>
        </p:spPr>
        <p:txBody>
          <a:bodyPr>
            <a:normAutofit/>
          </a:bodyPr>
          <a:lstStyle/>
          <a:p>
            <a:pPr algn="ctr"/>
            <a:r>
              <a:rPr lang="en-US" sz="4800" b="1" dirty="0">
                <a:solidFill>
                  <a:schemeClr val="accent6">
                    <a:lumMod val="50000"/>
                  </a:schemeClr>
                </a:solidFill>
                <a:latin typeface="Times New Roman" panose="02020603050405020304" pitchFamily="18" charset="0"/>
                <a:cs typeface="Times New Roman" panose="02020603050405020304" pitchFamily="18" charset="0"/>
              </a:rPr>
              <a:t>Introduction to Intermediate Machine Learning: From Theory to Practice with Random Forests, Extreme Gradient Boosting and Adaptive Boosting</a:t>
            </a:r>
            <a:br>
              <a:rPr lang="en-US" b="1" dirty="0">
                <a:solidFill>
                  <a:schemeClr val="accent1">
                    <a:lumMod val="75000"/>
                  </a:schemeClr>
                </a:solidFill>
                <a:latin typeface="Times New Roman" panose="02020603050405020304" pitchFamily="18" charset="0"/>
                <a:cs typeface="Times New Roman" panose="02020603050405020304" pitchFamily="18" charset="0"/>
              </a:rPr>
            </a:br>
            <a:br>
              <a:rPr lang="en-US" b="1" dirty="0">
                <a:solidFill>
                  <a:schemeClr val="accent1">
                    <a:lumMod val="75000"/>
                  </a:schemeClr>
                </a:solidFill>
                <a:latin typeface="Times New Roman" panose="02020603050405020304" pitchFamily="18" charset="0"/>
                <a:cs typeface="Times New Roman" panose="02020603050405020304" pitchFamily="18" charset="0"/>
              </a:rPr>
            </a:br>
            <a:br>
              <a:rPr lang="en-US" b="1" dirty="0">
                <a:solidFill>
                  <a:srgbClr val="7030A0"/>
                </a:solidFill>
                <a:latin typeface="Times New Roman" panose="02020603050405020304" pitchFamily="18" charset="0"/>
                <a:cs typeface="Times New Roman" panose="02020603050405020304" pitchFamily="18" charset="0"/>
              </a:rPr>
            </a:br>
            <a:r>
              <a:rPr lang="en-US" sz="4000" b="1" dirty="0">
                <a:solidFill>
                  <a:srgbClr val="7030A0"/>
                </a:solidFill>
                <a:latin typeface="Times New Roman" panose="02020603050405020304" pitchFamily="18" charset="0"/>
                <a:cs typeface="Times New Roman" panose="02020603050405020304" pitchFamily="18" charset="0"/>
              </a:rPr>
              <a:t>Prepared and Delivered:</a:t>
            </a:r>
            <a:br>
              <a:rPr lang="en-US" sz="4800" b="1" dirty="0">
                <a:solidFill>
                  <a:srgbClr val="FF0000"/>
                </a:solidFill>
                <a:latin typeface="Algerian" panose="04020705040A02060702" pitchFamily="82" charset="0"/>
                <a:cs typeface="Times New Roman" panose="02020603050405020304" pitchFamily="18" charset="0"/>
              </a:rPr>
            </a:br>
            <a:r>
              <a:rPr lang="en-US" sz="4400" b="1" dirty="0">
                <a:solidFill>
                  <a:srgbClr val="FF0000"/>
                </a:solidFill>
                <a:latin typeface="Bodoni MT Black" panose="02070A03080606020203" pitchFamily="18" charset="0"/>
                <a:cs typeface="Times New Roman" panose="02020603050405020304" pitchFamily="18" charset="0"/>
              </a:rPr>
              <a:t>Lumumba Wandera Victor</a:t>
            </a:r>
            <a:endParaRPr lang="en-US" dirty="0">
              <a:solidFill>
                <a:srgbClr val="FF0000"/>
              </a:solidFill>
              <a:latin typeface="Bodoni MT Black" panose="02070A03080606020203" pitchFamily="18" charset="0"/>
            </a:endParaRPr>
          </a:p>
        </p:txBody>
      </p:sp>
    </p:spTree>
    <p:extLst>
      <p:ext uri="{BB962C8B-B14F-4D97-AF65-F5344CB8AC3E}">
        <p14:creationId xmlns:p14="http://schemas.microsoft.com/office/powerpoint/2010/main" val="11234278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06A0-48E2-FC52-F0FF-0930E9744373}"/>
              </a:ext>
            </a:extLst>
          </p:cNvPr>
          <p:cNvSpPr>
            <a:spLocks noGrp="1"/>
          </p:cNvSpPr>
          <p:nvPr>
            <p:ph type="title"/>
          </p:nvPr>
        </p:nvSpPr>
        <p:spPr>
          <a:xfrm>
            <a:off x="847455" y="107801"/>
            <a:ext cx="11103540" cy="1646571"/>
          </a:xfrm>
        </p:spPr>
        <p:txBody>
          <a:bodyPr>
            <a:normAutofit/>
          </a:bodyPr>
          <a:lstStyle/>
          <a:p>
            <a:pPr algn="ctr"/>
            <a:r>
              <a:rPr lang="en-US" sz="8800" b="1" dirty="0">
                <a:solidFill>
                  <a:schemeClr val="tx1"/>
                </a:solidFill>
                <a:latin typeface="Times New Roman" panose="02020603050405020304" pitchFamily="18" charset="0"/>
                <a:cs typeface="Times New Roman" panose="02020603050405020304" pitchFamily="18" charset="0"/>
              </a:rPr>
              <a:t>SESSION ONE</a:t>
            </a:r>
          </a:p>
        </p:txBody>
      </p:sp>
      <p:sp>
        <p:nvSpPr>
          <p:cNvPr id="3" name="Content Placeholder 2">
            <a:extLst>
              <a:ext uri="{FF2B5EF4-FFF2-40B4-BE49-F238E27FC236}">
                <a16:creationId xmlns:a16="http://schemas.microsoft.com/office/drawing/2014/main" id="{5C91A59E-8D47-5898-C908-FB40B1C52E64}"/>
              </a:ext>
            </a:extLst>
          </p:cNvPr>
          <p:cNvSpPr>
            <a:spLocks noGrp="1"/>
          </p:cNvSpPr>
          <p:nvPr>
            <p:ph idx="1"/>
          </p:nvPr>
        </p:nvSpPr>
        <p:spPr>
          <a:xfrm>
            <a:off x="847455" y="3006946"/>
            <a:ext cx="11103540" cy="1533156"/>
          </a:xfrm>
        </p:spPr>
        <p:txBody>
          <a:bodyPr>
            <a:normAutofit lnSpcReduction="10000"/>
          </a:bodyPr>
          <a:lstStyle/>
          <a:p>
            <a:pPr marL="0" indent="0" algn="ctr">
              <a:buNone/>
            </a:pPr>
            <a:r>
              <a:rPr lang="en-US" sz="4800" dirty="0">
                <a:latin typeface="Times New Roman" panose="02020603050405020304" pitchFamily="18" charset="0"/>
                <a:cs typeface="Times New Roman" panose="02020603050405020304" pitchFamily="18" charset="0"/>
              </a:rPr>
              <a:t>THEORETICAL FOUNDATION OF BAGGING, BOOSTING AND STACKING</a:t>
            </a:r>
          </a:p>
        </p:txBody>
      </p:sp>
    </p:spTree>
    <p:extLst>
      <p:ext uri="{BB962C8B-B14F-4D97-AF65-F5344CB8AC3E}">
        <p14:creationId xmlns:p14="http://schemas.microsoft.com/office/powerpoint/2010/main" val="3094426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CE18E-1A3D-26C8-3903-ABD76A4D9548}"/>
              </a:ext>
            </a:extLst>
          </p:cNvPr>
          <p:cNvSpPr>
            <a:spLocks noGrp="1"/>
          </p:cNvSpPr>
          <p:nvPr>
            <p:ph type="title"/>
          </p:nvPr>
        </p:nvSpPr>
        <p:spPr>
          <a:xfrm>
            <a:off x="677334" y="226828"/>
            <a:ext cx="10965317" cy="751367"/>
          </a:xfrm>
        </p:spPr>
        <p:txBody>
          <a:bodyPr/>
          <a:lstStyle/>
          <a:p>
            <a:r>
              <a:rPr lang="en-US" b="1" dirty="0">
                <a:solidFill>
                  <a:schemeClr val="tx1"/>
                </a:solidFill>
                <a:latin typeface="Times New Roman" panose="02020603050405020304" pitchFamily="18" charset="0"/>
                <a:cs typeface="Times New Roman" panose="02020603050405020304" pitchFamily="18" charset="0"/>
              </a:rPr>
              <a:t>INTRODUCTION TO ENSEMBLE LEARNING</a:t>
            </a:r>
          </a:p>
        </p:txBody>
      </p:sp>
      <p:sp>
        <p:nvSpPr>
          <p:cNvPr id="3" name="Content Placeholder 2">
            <a:extLst>
              <a:ext uri="{FF2B5EF4-FFF2-40B4-BE49-F238E27FC236}">
                <a16:creationId xmlns:a16="http://schemas.microsoft.com/office/drawing/2014/main" id="{2212A1AD-D1C7-2D5E-E587-C56B50D1627A}"/>
              </a:ext>
            </a:extLst>
          </p:cNvPr>
          <p:cNvSpPr>
            <a:spLocks noGrp="1"/>
          </p:cNvSpPr>
          <p:nvPr>
            <p:ph idx="1"/>
          </p:nvPr>
        </p:nvSpPr>
        <p:spPr>
          <a:xfrm>
            <a:off x="0" y="978195"/>
            <a:ext cx="12192000" cy="5741582"/>
          </a:xfrm>
        </p:spPr>
        <p:txBody>
          <a:bodyPr/>
          <a:lstStyle/>
          <a:p>
            <a:r>
              <a:rPr lang="en-US" sz="2800" b="1" dirty="0"/>
              <a:t>What is Ensemble Learning?</a:t>
            </a:r>
          </a:p>
          <a:p>
            <a:r>
              <a:rPr lang="en-US" sz="2800" b="1" dirty="0"/>
              <a:t>Ensemble Learning</a:t>
            </a:r>
            <a:r>
              <a:rPr lang="en-US" sz="2800" dirty="0"/>
              <a:t> is a powerful machine learning paradigm where multiple models, often called </a:t>
            </a:r>
            <a:r>
              <a:rPr lang="en-US" sz="2800" b="1" dirty="0"/>
              <a:t>base learners</a:t>
            </a:r>
            <a:r>
              <a:rPr lang="en-US" sz="2800" dirty="0"/>
              <a:t> or </a:t>
            </a:r>
            <a:r>
              <a:rPr lang="en-US" sz="2800" b="1" dirty="0"/>
              <a:t>weak learners</a:t>
            </a:r>
            <a:r>
              <a:rPr lang="en-US" sz="2800" dirty="0"/>
              <a:t>, are trained and combined to solve the same problem. The core idea is that a group of models working together can produce more accurate, robust, and generalizable predictions than a single model acting alone.</a:t>
            </a:r>
          </a:p>
          <a:p>
            <a:r>
              <a:rPr lang="en-US" sz="2800" dirty="0"/>
              <a:t>The ensemble approach is inspired by the concept of the “wisdom of the crowd” — combining multiple opinions can lead to better decisions, especially when the individuals have diverse perspectives.</a:t>
            </a:r>
          </a:p>
          <a:p>
            <a:pPr marL="0" indent="0">
              <a:buNone/>
            </a:pPr>
            <a:endParaRPr lang="en-US" dirty="0"/>
          </a:p>
        </p:txBody>
      </p:sp>
    </p:spTree>
    <p:extLst>
      <p:ext uri="{BB962C8B-B14F-4D97-AF65-F5344CB8AC3E}">
        <p14:creationId xmlns:p14="http://schemas.microsoft.com/office/powerpoint/2010/main" val="3566618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C2E8C-16E0-C36E-F8BB-0BFBFF4870AB}"/>
              </a:ext>
            </a:extLst>
          </p:cNvPr>
          <p:cNvSpPr>
            <a:spLocks noGrp="1"/>
          </p:cNvSpPr>
          <p:nvPr>
            <p:ph type="title"/>
          </p:nvPr>
        </p:nvSpPr>
        <p:spPr>
          <a:xfrm>
            <a:off x="762393" y="237460"/>
            <a:ext cx="10688871" cy="666307"/>
          </a:xfrm>
        </p:spPr>
        <p:txBody>
          <a:bodyPr/>
          <a:lstStyle/>
          <a:p>
            <a:r>
              <a:rPr lang="en-US" b="1" dirty="0">
                <a:solidFill>
                  <a:schemeClr val="tx1"/>
                </a:solidFill>
                <a:latin typeface="Times New Roman" panose="02020603050405020304" pitchFamily="18" charset="0"/>
                <a:cs typeface="Times New Roman" panose="02020603050405020304" pitchFamily="18" charset="0"/>
              </a:rPr>
              <a:t>Why Use Ensemble Learning?</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80761A-A17D-E626-9BB9-9AA10B7FDC5A}"/>
              </a:ext>
            </a:extLst>
          </p:cNvPr>
          <p:cNvSpPr>
            <a:spLocks noGrp="1"/>
          </p:cNvSpPr>
          <p:nvPr>
            <p:ph idx="1"/>
          </p:nvPr>
        </p:nvSpPr>
        <p:spPr>
          <a:xfrm>
            <a:off x="531628" y="1052623"/>
            <a:ext cx="11568223" cy="4988739"/>
          </a:xfrm>
        </p:spPr>
        <p:txBody>
          <a:bodyPr>
            <a:normAutofit/>
          </a:bodyPr>
          <a:lstStyle/>
          <a:p>
            <a:pPr marL="0" indent="0">
              <a:buNone/>
            </a:pPr>
            <a:r>
              <a:rPr lang="en-US" sz="2800" dirty="0"/>
              <a:t>Ensemble methods are popular in machine learning because they:</a:t>
            </a:r>
          </a:p>
          <a:p>
            <a:pPr>
              <a:buFont typeface="Wingdings" panose="05000000000000000000" pitchFamily="2" charset="2"/>
              <a:buChar char="v"/>
            </a:pPr>
            <a:r>
              <a:rPr lang="en-US" sz="2800" b="1" dirty="0"/>
              <a:t>Improve accuracy</a:t>
            </a:r>
            <a:r>
              <a:rPr lang="en-US" sz="2800" dirty="0"/>
              <a:t>: They often outperform individual models in both classification and regression tasks.</a:t>
            </a:r>
          </a:p>
          <a:p>
            <a:pPr>
              <a:buFont typeface="Wingdings" panose="05000000000000000000" pitchFamily="2" charset="2"/>
              <a:buChar char="v"/>
            </a:pPr>
            <a:r>
              <a:rPr lang="en-US" sz="2800" b="1" dirty="0"/>
              <a:t>Reduce overfitting</a:t>
            </a:r>
            <a:r>
              <a:rPr lang="en-US" sz="2800" dirty="0"/>
              <a:t>: By averaging or voting over multiple models, they can reduce the risk of overfitting, especially in high-variance models.</a:t>
            </a:r>
          </a:p>
          <a:p>
            <a:pPr>
              <a:buFont typeface="Wingdings" panose="05000000000000000000" pitchFamily="2" charset="2"/>
              <a:buChar char="v"/>
            </a:pPr>
            <a:r>
              <a:rPr lang="en-US" sz="2800" b="1" dirty="0"/>
              <a:t>Enhance generalization</a:t>
            </a:r>
            <a:r>
              <a:rPr lang="en-US" sz="2800" dirty="0"/>
              <a:t>: Ensembles often generalize better to unseen data.</a:t>
            </a:r>
          </a:p>
          <a:p>
            <a:pPr>
              <a:buFont typeface="Wingdings" panose="05000000000000000000" pitchFamily="2" charset="2"/>
              <a:buChar char="v"/>
            </a:pPr>
            <a:r>
              <a:rPr lang="en-US" sz="2800" b="1" dirty="0"/>
              <a:t>Stabilize predictions</a:t>
            </a:r>
            <a:r>
              <a:rPr lang="en-US" sz="2800" dirty="0"/>
              <a:t>: They reduce the influence of noise or outliers in the dataset.</a:t>
            </a:r>
          </a:p>
          <a:p>
            <a:endParaRPr lang="en-US" dirty="0"/>
          </a:p>
        </p:txBody>
      </p:sp>
    </p:spTree>
    <p:extLst>
      <p:ext uri="{BB962C8B-B14F-4D97-AF65-F5344CB8AC3E}">
        <p14:creationId xmlns:p14="http://schemas.microsoft.com/office/powerpoint/2010/main" val="1779998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E4314-673C-23AF-E3A8-B9641F5CCAEA}"/>
              </a:ext>
            </a:extLst>
          </p:cNvPr>
          <p:cNvSpPr>
            <a:spLocks noGrp="1"/>
          </p:cNvSpPr>
          <p:nvPr>
            <p:ph type="title"/>
          </p:nvPr>
        </p:nvSpPr>
        <p:spPr>
          <a:xfrm>
            <a:off x="677334" y="226828"/>
            <a:ext cx="11114173" cy="762000"/>
          </a:xfrm>
        </p:spPr>
        <p:txBody>
          <a:bodyPr/>
          <a:lstStyle/>
          <a:p>
            <a:r>
              <a:rPr lang="en-US" b="1" dirty="0">
                <a:solidFill>
                  <a:schemeClr val="tx1"/>
                </a:solidFill>
                <a:latin typeface="Times New Roman" panose="02020603050405020304" pitchFamily="18" charset="0"/>
                <a:cs typeface="Times New Roman" panose="02020603050405020304" pitchFamily="18" charset="0"/>
              </a:rPr>
              <a:t>The Concepts of Ensemble Learning</a:t>
            </a:r>
          </a:p>
        </p:txBody>
      </p:sp>
      <p:sp>
        <p:nvSpPr>
          <p:cNvPr id="3" name="Content Placeholder 2">
            <a:extLst>
              <a:ext uri="{FF2B5EF4-FFF2-40B4-BE49-F238E27FC236}">
                <a16:creationId xmlns:a16="http://schemas.microsoft.com/office/drawing/2014/main" id="{CC2314BE-987C-D610-7374-EB9A81253D51}"/>
              </a:ext>
            </a:extLst>
          </p:cNvPr>
          <p:cNvSpPr>
            <a:spLocks noGrp="1"/>
          </p:cNvSpPr>
          <p:nvPr>
            <p:ph idx="1"/>
          </p:nvPr>
        </p:nvSpPr>
        <p:spPr>
          <a:xfrm>
            <a:off x="677333" y="988829"/>
            <a:ext cx="11305559" cy="5103627"/>
          </a:xfrm>
        </p:spPr>
        <p:txBody>
          <a:bodyPr>
            <a:normAutofit/>
          </a:bodyPr>
          <a:lstStyle/>
          <a:p>
            <a:pPr algn="just"/>
            <a:r>
              <a:rPr lang="en-US" sz="2600" b="0" i="0" dirty="0">
                <a:solidFill>
                  <a:srgbClr val="242424"/>
                </a:solidFill>
                <a:effectLst/>
                <a:highlight>
                  <a:srgbClr val="FFFFFF"/>
                </a:highlight>
                <a:latin typeface="source-serif-pro"/>
              </a:rPr>
              <a:t>In the machine learning paradigm known as “</a:t>
            </a:r>
            <a:r>
              <a:rPr lang="en-US" sz="2600" b="0" i="1" dirty="0">
                <a:solidFill>
                  <a:srgbClr val="242424"/>
                </a:solidFill>
                <a:effectLst/>
                <a:highlight>
                  <a:srgbClr val="FFFFFF"/>
                </a:highlight>
                <a:latin typeface="source-serif-pro"/>
              </a:rPr>
              <a:t>ensemble learning</a:t>
            </a:r>
            <a:r>
              <a:rPr lang="en-US" sz="2600" b="0" i="0" dirty="0">
                <a:solidFill>
                  <a:srgbClr val="242424"/>
                </a:solidFill>
                <a:effectLst/>
                <a:highlight>
                  <a:srgbClr val="FFFFFF"/>
                </a:highlight>
                <a:latin typeface="source-serif-pro"/>
              </a:rPr>
              <a:t>,” several models — often referred to as “weak learners” — are taught to tackle a single problem and then integrated to produce better outcomes. The fundamental idea of ensemble learning is that a collection of incompetent learners might combine to become a strong learner, improving prediction accuracy. When compared to single-model approaches, ensemble methods can be particularly effective at lowering variance, bias, or improving predictions.</a:t>
            </a:r>
          </a:p>
          <a:p>
            <a:pPr algn="just"/>
            <a:r>
              <a:rPr lang="en-US" sz="2600" b="0" i="0" dirty="0">
                <a:solidFill>
                  <a:srgbClr val="242424"/>
                </a:solidFill>
                <a:effectLst/>
                <a:highlight>
                  <a:srgbClr val="FFFFFF"/>
                </a:highlight>
                <a:latin typeface="source-serif-pro"/>
              </a:rPr>
              <a:t>There are various ensemble approaches, and each combines models in a different way. The most typical kinds consist of:</a:t>
            </a:r>
          </a:p>
        </p:txBody>
      </p:sp>
    </p:spTree>
    <p:extLst>
      <p:ext uri="{BB962C8B-B14F-4D97-AF65-F5344CB8AC3E}">
        <p14:creationId xmlns:p14="http://schemas.microsoft.com/office/powerpoint/2010/main" val="3229100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BDB8D-7EFA-A638-32EA-15354152063F}"/>
              </a:ext>
            </a:extLst>
          </p:cNvPr>
          <p:cNvSpPr>
            <a:spLocks noGrp="1"/>
          </p:cNvSpPr>
          <p:nvPr>
            <p:ph type="title"/>
          </p:nvPr>
        </p:nvSpPr>
        <p:spPr>
          <a:xfrm>
            <a:off x="698598" y="216196"/>
            <a:ext cx="10954685" cy="793898"/>
          </a:xfrm>
        </p:spPr>
        <p:txBody>
          <a:bodyPr/>
          <a:lstStyle/>
          <a:p>
            <a:r>
              <a:rPr lang="en-US" b="1" dirty="0">
                <a:solidFill>
                  <a:schemeClr val="tx1"/>
                </a:solidFill>
                <a:latin typeface="Times New Roman" panose="02020603050405020304" pitchFamily="18" charset="0"/>
                <a:cs typeface="Times New Roman" panose="02020603050405020304" pitchFamily="18" charset="0"/>
              </a:rPr>
              <a:t>Bagging (e.g. Random Forest)</a:t>
            </a:r>
          </a:p>
        </p:txBody>
      </p:sp>
      <p:pic>
        <p:nvPicPr>
          <p:cNvPr id="3074" name="Picture 2">
            <a:extLst>
              <a:ext uri="{FF2B5EF4-FFF2-40B4-BE49-F238E27FC236}">
                <a16:creationId xmlns:a16="http://schemas.microsoft.com/office/drawing/2014/main" id="{3C7F9991-632F-1745-5148-6794776FB0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386" y="1015799"/>
            <a:ext cx="11600121" cy="5703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721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49FFA-D160-289D-503C-89FB457655F6}"/>
              </a:ext>
            </a:extLst>
          </p:cNvPr>
          <p:cNvSpPr>
            <a:spLocks noGrp="1"/>
          </p:cNvSpPr>
          <p:nvPr>
            <p:ph type="title"/>
          </p:nvPr>
        </p:nvSpPr>
        <p:spPr>
          <a:xfrm>
            <a:off x="677334" y="248093"/>
            <a:ext cx="11018480" cy="793898"/>
          </a:xfrm>
        </p:spPr>
        <p:txBody>
          <a:bodyPr/>
          <a:lstStyle/>
          <a:p>
            <a:r>
              <a:rPr lang="en-US" b="1" dirty="0">
                <a:solidFill>
                  <a:schemeClr val="tx1"/>
                </a:solidFill>
                <a:latin typeface="Times New Roman" panose="02020603050405020304" pitchFamily="18" charset="0"/>
                <a:cs typeface="Times New Roman" panose="02020603050405020304" pitchFamily="18" charset="0"/>
              </a:rPr>
              <a:t>Boosting (e.g. Extreme Gradient Boosting)</a:t>
            </a:r>
          </a:p>
        </p:txBody>
      </p:sp>
      <p:pic>
        <p:nvPicPr>
          <p:cNvPr id="4098" name="Picture 2">
            <a:extLst>
              <a:ext uri="{FF2B5EF4-FFF2-40B4-BE49-F238E27FC236}">
                <a16:creationId xmlns:a16="http://schemas.microsoft.com/office/drawing/2014/main" id="{479D5B94-67C2-92FA-8EED-8E318EB6A5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041991"/>
            <a:ext cx="11018480" cy="5567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620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E631-92BA-A2B0-5D5A-98987C531D13}"/>
              </a:ext>
            </a:extLst>
          </p:cNvPr>
          <p:cNvSpPr>
            <a:spLocks noGrp="1"/>
          </p:cNvSpPr>
          <p:nvPr>
            <p:ph type="title"/>
          </p:nvPr>
        </p:nvSpPr>
        <p:spPr>
          <a:xfrm>
            <a:off x="677334" y="107801"/>
            <a:ext cx="11124806" cy="708837"/>
          </a:xfrm>
        </p:spPr>
        <p:txBody>
          <a:bodyPr/>
          <a:lstStyle/>
          <a:p>
            <a:r>
              <a:rPr lang="en-US" b="1" dirty="0">
                <a:solidFill>
                  <a:schemeClr val="tx1"/>
                </a:solidFill>
                <a:latin typeface="Times New Roman" panose="02020603050405020304" pitchFamily="18" charset="0"/>
                <a:cs typeface="Times New Roman" panose="02020603050405020304" pitchFamily="18" charset="0"/>
              </a:rPr>
              <a:t>Introduction to Stacking </a:t>
            </a:r>
          </a:p>
        </p:txBody>
      </p:sp>
      <p:sp>
        <p:nvSpPr>
          <p:cNvPr id="3" name="Content Placeholder 2">
            <a:extLst>
              <a:ext uri="{FF2B5EF4-FFF2-40B4-BE49-F238E27FC236}">
                <a16:creationId xmlns:a16="http://schemas.microsoft.com/office/drawing/2014/main" id="{49D5ED21-FA0A-8FA8-25FC-9747B57A88A3}"/>
              </a:ext>
            </a:extLst>
          </p:cNvPr>
          <p:cNvSpPr>
            <a:spLocks noGrp="1"/>
          </p:cNvSpPr>
          <p:nvPr>
            <p:ph idx="1"/>
          </p:nvPr>
        </p:nvSpPr>
        <p:spPr>
          <a:xfrm>
            <a:off x="677333" y="967563"/>
            <a:ext cx="11124806" cy="5645888"/>
          </a:xfrm>
        </p:spPr>
        <p:txBody>
          <a:bodyPr>
            <a:normAutofit/>
          </a:bodyPr>
          <a:lstStyle/>
          <a:p>
            <a:pPr>
              <a:buFont typeface="Wingdings" panose="05000000000000000000" pitchFamily="2" charset="2"/>
              <a:buChar char="v"/>
            </a:pPr>
            <a:r>
              <a:rPr lang="en-US" sz="2800" b="0" i="0" dirty="0">
                <a:solidFill>
                  <a:srgbClr val="242424"/>
                </a:solidFill>
                <a:effectLst/>
                <a:highlight>
                  <a:srgbClr val="FFFFFF"/>
                </a:highlight>
                <a:latin typeface="source-serif-pro"/>
              </a:rPr>
              <a:t>Stacking, also known as stacked generalization, is the process of training several models on the same set of data, followed by the training of a meta-model to produce a final prediction that is based on the earlier models’ predictions.</a:t>
            </a:r>
          </a:p>
          <a:p>
            <a:pPr marL="0" indent="0">
              <a:buNone/>
            </a:pPr>
            <a:endParaRPr lang="en-US" sz="2800" dirty="0">
              <a:solidFill>
                <a:srgbClr val="242424"/>
              </a:solidFill>
              <a:highlight>
                <a:srgbClr val="FFFFFF"/>
              </a:highlight>
              <a:latin typeface="source-serif-pro"/>
            </a:endParaRPr>
          </a:p>
          <a:p>
            <a:pPr>
              <a:buFont typeface="Wingdings" panose="05000000000000000000" pitchFamily="2" charset="2"/>
              <a:buChar char="Ø"/>
            </a:pPr>
            <a:r>
              <a:rPr lang="en-US" sz="2800" b="0" i="0" dirty="0">
                <a:solidFill>
                  <a:srgbClr val="242424"/>
                </a:solidFill>
                <a:effectLst/>
                <a:highlight>
                  <a:srgbClr val="FFFFFF"/>
                </a:highlight>
                <a:latin typeface="source-serif-pro"/>
              </a:rPr>
              <a:t>Here are the steps involved in stacking:</a:t>
            </a:r>
            <a:endParaRPr lang="en-US" sz="2800" dirty="0">
              <a:solidFill>
                <a:srgbClr val="242424"/>
              </a:solidFill>
              <a:highlight>
                <a:srgbClr val="FFFFFF"/>
              </a:highlight>
              <a:latin typeface="source-serif-pro"/>
            </a:endParaRPr>
          </a:p>
          <a:p>
            <a:pPr>
              <a:buFont typeface="Wingdings" panose="05000000000000000000" pitchFamily="2" charset="2"/>
              <a:buChar char="ü"/>
            </a:pPr>
            <a:r>
              <a:rPr lang="en-US" sz="2800" b="0" i="0" dirty="0">
                <a:solidFill>
                  <a:srgbClr val="242424"/>
                </a:solidFill>
                <a:effectLst/>
                <a:highlight>
                  <a:srgbClr val="FFFFFF"/>
                </a:highlight>
                <a:latin typeface="source-serif-pro"/>
              </a:rPr>
              <a:t>We train m-number of algorithms using the original training set of data. Every algorithm’s output is used to generate a fresh training set.</a:t>
            </a:r>
          </a:p>
          <a:p>
            <a:pPr>
              <a:buFont typeface="Wingdings" panose="05000000000000000000" pitchFamily="2" charset="2"/>
              <a:buChar char="ü"/>
            </a:pPr>
            <a:r>
              <a:rPr lang="en-US" sz="2800" b="0" i="0" dirty="0">
                <a:solidFill>
                  <a:srgbClr val="242424"/>
                </a:solidFill>
                <a:effectLst/>
                <a:highlight>
                  <a:srgbClr val="FFFFFF"/>
                </a:highlight>
                <a:latin typeface="source-serif-pro"/>
              </a:rPr>
              <a:t>We develop a meta-model algorithm with the fresh training set. Our ultimate forecast is based on the meta-model’s findings. Weighted averaging is utilized to aggregate the outcomes.</a:t>
            </a:r>
          </a:p>
          <a:p>
            <a:pPr marL="0" indent="0">
              <a:buNone/>
            </a:pPr>
            <a:endParaRPr lang="en-US" dirty="0"/>
          </a:p>
        </p:txBody>
      </p:sp>
    </p:spTree>
    <p:extLst>
      <p:ext uri="{BB962C8B-B14F-4D97-AF65-F5344CB8AC3E}">
        <p14:creationId xmlns:p14="http://schemas.microsoft.com/office/powerpoint/2010/main" val="314164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7D481-243D-5462-6557-42A002FBD897}"/>
              </a:ext>
            </a:extLst>
          </p:cNvPr>
          <p:cNvSpPr>
            <a:spLocks noGrp="1"/>
          </p:cNvSpPr>
          <p:nvPr>
            <p:ph type="title"/>
          </p:nvPr>
        </p:nvSpPr>
        <p:spPr>
          <a:xfrm>
            <a:off x="677333" y="205563"/>
            <a:ext cx="10848359" cy="772633"/>
          </a:xfrm>
        </p:spPr>
        <p:txBody>
          <a:bodyPr/>
          <a:lstStyle/>
          <a:p>
            <a:r>
              <a:rPr lang="en-US" b="1" dirty="0">
                <a:solidFill>
                  <a:schemeClr val="tx1"/>
                </a:solidFill>
                <a:latin typeface="Times New Roman" panose="02020603050405020304" pitchFamily="18" charset="0"/>
                <a:cs typeface="Times New Roman" panose="02020603050405020304" pitchFamily="18" charset="0"/>
              </a:rPr>
              <a:t>Stacking Illustration</a:t>
            </a:r>
          </a:p>
        </p:txBody>
      </p:sp>
      <p:pic>
        <p:nvPicPr>
          <p:cNvPr id="5122" name="Picture 2">
            <a:extLst>
              <a:ext uri="{FF2B5EF4-FFF2-40B4-BE49-F238E27FC236}">
                <a16:creationId xmlns:a16="http://schemas.microsoft.com/office/drawing/2014/main" id="{DEA480FE-766D-DFE0-BC3E-A9AE6A303E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712" y="1232093"/>
            <a:ext cx="11376763" cy="5420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785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5AF5C-972D-846C-6EF1-6FB021AA78CC}"/>
              </a:ext>
            </a:extLst>
          </p:cNvPr>
          <p:cNvSpPr>
            <a:spLocks noGrp="1"/>
          </p:cNvSpPr>
          <p:nvPr>
            <p:ph type="title"/>
          </p:nvPr>
        </p:nvSpPr>
        <p:spPr>
          <a:xfrm>
            <a:off x="677334" y="609600"/>
            <a:ext cx="10975950" cy="836428"/>
          </a:xfrm>
        </p:spPr>
        <p:txBody>
          <a:bodyPr/>
          <a:lstStyle/>
          <a:p>
            <a:r>
              <a:rPr lang="en-US" b="1" dirty="0">
                <a:solidFill>
                  <a:schemeClr val="tx1"/>
                </a:solidFill>
                <a:latin typeface="Times New Roman" panose="02020603050405020304" pitchFamily="18" charset="0"/>
                <a:cs typeface="Times New Roman" panose="02020603050405020304" pitchFamily="18" charset="0"/>
              </a:rPr>
              <a:t>Types of Ensemble Learning Methods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A858FE-E4F1-B235-9C54-819555DA00F0}"/>
              </a:ext>
            </a:extLst>
          </p:cNvPr>
          <p:cNvSpPr>
            <a:spLocks noGrp="1"/>
          </p:cNvSpPr>
          <p:nvPr>
            <p:ph idx="1"/>
          </p:nvPr>
        </p:nvSpPr>
        <p:spPr>
          <a:xfrm>
            <a:off x="372141" y="1658679"/>
            <a:ext cx="11536324" cy="4795284"/>
          </a:xfrm>
        </p:spPr>
        <p:txBody>
          <a:bodyPr>
            <a:normAutofit/>
          </a:bodyPr>
          <a:lstStyle/>
          <a:p>
            <a:r>
              <a:rPr lang="en-US" dirty="0"/>
              <a:t>Ensemble learning can be broadly classified into the following types:</a:t>
            </a:r>
          </a:p>
          <a:p>
            <a:pPr>
              <a:buFont typeface="+mj-lt"/>
              <a:buAutoNum type="arabicPeriod"/>
            </a:pPr>
            <a:r>
              <a:rPr lang="en-US" b="1" dirty="0"/>
              <a:t>Bagging (Bootstrap Aggregating)</a:t>
            </a:r>
            <a:endParaRPr lang="en-US" dirty="0"/>
          </a:p>
          <a:p>
            <a:pPr lvl="1">
              <a:buFont typeface="Wingdings" panose="05000000000000000000" pitchFamily="2" charset="2"/>
              <a:buChar char="v"/>
            </a:pPr>
            <a:r>
              <a:rPr lang="en-US" dirty="0"/>
              <a:t>Trains multiple models on different random subsets of the training data (with replacement).</a:t>
            </a:r>
          </a:p>
          <a:p>
            <a:pPr lvl="1">
              <a:buFont typeface="Wingdings" panose="05000000000000000000" pitchFamily="2" charset="2"/>
              <a:buChar char="v"/>
            </a:pPr>
            <a:r>
              <a:rPr lang="en-US" dirty="0"/>
              <a:t>Aggregates predictions through majority voting (classification) or averaging (regression).</a:t>
            </a:r>
          </a:p>
          <a:p>
            <a:pPr lvl="1">
              <a:buFont typeface="Wingdings" panose="05000000000000000000" pitchFamily="2" charset="2"/>
              <a:buChar char="v"/>
            </a:pPr>
            <a:r>
              <a:rPr lang="en-US" b="1" dirty="0"/>
              <a:t>Example</a:t>
            </a:r>
            <a:r>
              <a:rPr lang="en-US" dirty="0"/>
              <a:t>: Random Forest</a:t>
            </a:r>
          </a:p>
          <a:p>
            <a:pPr>
              <a:buFont typeface="+mj-lt"/>
              <a:buAutoNum type="arabicPeriod"/>
            </a:pPr>
            <a:r>
              <a:rPr lang="en-US" b="1" dirty="0"/>
              <a:t>Boosting</a:t>
            </a:r>
            <a:endParaRPr lang="en-US" dirty="0"/>
          </a:p>
          <a:p>
            <a:pPr lvl="1">
              <a:buFont typeface="Wingdings" panose="05000000000000000000" pitchFamily="2" charset="2"/>
              <a:buChar char="v"/>
            </a:pPr>
            <a:r>
              <a:rPr lang="en-US" dirty="0"/>
              <a:t>Trains models sequentially, where each new model tries to correct the errors of the previous ones.</a:t>
            </a:r>
          </a:p>
          <a:p>
            <a:pPr lvl="1">
              <a:buFont typeface="Wingdings" panose="05000000000000000000" pitchFamily="2" charset="2"/>
              <a:buChar char="v"/>
            </a:pPr>
            <a:r>
              <a:rPr lang="en-US" dirty="0"/>
              <a:t>Gives more weight to misclassified instances.</a:t>
            </a:r>
          </a:p>
          <a:p>
            <a:pPr lvl="1">
              <a:buFont typeface="Wingdings" panose="05000000000000000000" pitchFamily="2" charset="2"/>
              <a:buChar char="v"/>
            </a:pPr>
            <a:r>
              <a:rPr lang="en-US" b="1" dirty="0"/>
              <a:t>Examples</a:t>
            </a:r>
            <a:r>
              <a:rPr lang="en-US" dirty="0"/>
              <a:t>: AdaBoost, Gradient Boosting, </a:t>
            </a:r>
            <a:r>
              <a:rPr lang="en-US" dirty="0" err="1"/>
              <a:t>XGBoost</a:t>
            </a:r>
            <a:endParaRPr lang="en-US" dirty="0"/>
          </a:p>
          <a:p>
            <a:pPr>
              <a:buFont typeface="+mj-lt"/>
              <a:buAutoNum type="arabicPeriod"/>
            </a:pPr>
            <a:r>
              <a:rPr lang="en-US" b="1" dirty="0"/>
              <a:t>Stacking (Stacked Generalization)</a:t>
            </a:r>
            <a:endParaRPr lang="en-US" dirty="0"/>
          </a:p>
          <a:p>
            <a:pPr lvl="1">
              <a:buFont typeface="Wingdings" panose="05000000000000000000" pitchFamily="2" charset="2"/>
              <a:buChar char="v"/>
            </a:pPr>
            <a:r>
              <a:rPr lang="en-US" dirty="0"/>
              <a:t>Combines the predictions of multiple base learners using a </a:t>
            </a:r>
            <a:r>
              <a:rPr lang="en-US" b="1" dirty="0"/>
              <a:t>meta-learner</a:t>
            </a:r>
            <a:r>
              <a:rPr lang="en-US" dirty="0"/>
              <a:t>.</a:t>
            </a:r>
          </a:p>
          <a:p>
            <a:pPr lvl="1">
              <a:buFont typeface="Wingdings" panose="05000000000000000000" pitchFamily="2" charset="2"/>
              <a:buChar char="v"/>
            </a:pPr>
            <a:r>
              <a:rPr lang="en-US" dirty="0"/>
              <a:t>Base models are trained in parallel and their outputs are used as input features to train the final model.</a:t>
            </a:r>
          </a:p>
          <a:p>
            <a:endParaRPr lang="en-US" dirty="0"/>
          </a:p>
        </p:txBody>
      </p:sp>
    </p:spTree>
    <p:extLst>
      <p:ext uri="{BB962C8B-B14F-4D97-AF65-F5344CB8AC3E}">
        <p14:creationId xmlns:p14="http://schemas.microsoft.com/office/powerpoint/2010/main" val="2764423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A1D1C-B300-3756-9604-9E6628C96425}"/>
              </a:ext>
            </a:extLst>
          </p:cNvPr>
          <p:cNvSpPr>
            <a:spLocks noGrp="1"/>
          </p:cNvSpPr>
          <p:nvPr>
            <p:ph type="title"/>
          </p:nvPr>
        </p:nvSpPr>
        <p:spPr>
          <a:xfrm>
            <a:off x="677334" y="191386"/>
            <a:ext cx="10667605" cy="712381"/>
          </a:xfrm>
        </p:spPr>
        <p:txBody>
          <a:bodyPr/>
          <a:lstStyle/>
          <a:p>
            <a:r>
              <a:rPr lang="en-US" b="1" dirty="0">
                <a:solidFill>
                  <a:schemeClr val="tx1"/>
                </a:solidFill>
                <a:latin typeface="Times New Roman" panose="02020603050405020304" pitchFamily="18" charset="0"/>
                <a:cs typeface="Times New Roman" panose="02020603050405020304" pitchFamily="18" charset="0"/>
              </a:rPr>
              <a:t>Comparison of Bagging and Boosting</a:t>
            </a:r>
          </a:p>
        </p:txBody>
      </p:sp>
      <p:pic>
        <p:nvPicPr>
          <p:cNvPr id="5" name="Content Placeholder 4">
            <a:extLst>
              <a:ext uri="{FF2B5EF4-FFF2-40B4-BE49-F238E27FC236}">
                <a16:creationId xmlns:a16="http://schemas.microsoft.com/office/drawing/2014/main" id="{41D9BCE3-237C-F5EC-33AE-453F19485B52}"/>
              </a:ext>
            </a:extLst>
          </p:cNvPr>
          <p:cNvPicPr>
            <a:picLocks noGrp="1" noChangeAspect="1"/>
          </p:cNvPicPr>
          <p:nvPr>
            <p:ph idx="1"/>
          </p:nvPr>
        </p:nvPicPr>
        <p:blipFill>
          <a:blip r:embed="rId2"/>
          <a:stretch>
            <a:fillRect/>
          </a:stretch>
        </p:blipFill>
        <p:spPr>
          <a:xfrm>
            <a:off x="677334" y="903768"/>
            <a:ext cx="10667605" cy="5762846"/>
          </a:xfrm>
        </p:spPr>
      </p:pic>
    </p:spTree>
    <p:extLst>
      <p:ext uri="{BB962C8B-B14F-4D97-AF65-F5344CB8AC3E}">
        <p14:creationId xmlns:p14="http://schemas.microsoft.com/office/powerpoint/2010/main" val="798886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11073-DEA9-9BB7-96AA-389E3EE406FF}"/>
              </a:ext>
            </a:extLst>
          </p:cNvPr>
          <p:cNvSpPr>
            <a:spLocks noGrp="1"/>
          </p:cNvSpPr>
          <p:nvPr>
            <p:ph type="title"/>
          </p:nvPr>
        </p:nvSpPr>
        <p:spPr>
          <a:xfrm>
            <a:off x="656069" y="279991"/>
            <a:ext cx="11061010" cy="719470"/>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Diagrammatic Illustration of Bagging and Boosting</a:t>
            </a:r>
          </a:p>
        </p:txBody>
      </p:sp>
      <p:pic>
        <p:nvPicPr>
          <p:cNvPr id="1026" name="Picture 2" descr="Diagrams showing the concepts of bagging vs. boosting.">
            <a:extLst>
              <a:ext uri="{FF2B5EF4-FFF2-40B4-BE49-F238E27FC236}">
                <a16:creationId xmlns:a16="http://schemas.microsoft.com/office/drawing/2014/main" id="{44DDA1B1-85AE-E92B-B93D-A0F6055C79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4922" y="999461"/>
            <a:ext cx="11061010" cy="5677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550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D4039-7E21-0B80-298D-55A253EBA17D}"/>
              </a:ext>
            </a:extLst>
          </p:cNvPr>
          <p:cNvSpPr>
            <a:spLocks noGrp="1"/>
          </p:cNvSpPr>
          <p:nvPr>
            <p:ph type="title"/>
          </p:nvPr>
        </p:nvSpPr>
        <p:spPr>
          <a:xfrm>
            <a:off x="677333" y="155575"/>
            <a:ext cx="11061009" cy="939578"/>
          </a:xfrm>
        </p:spPr>
        <p:txBody>
          <a:bodyPr/>
          <a:lstStyle/>
          <a:p>
            <a:r>
              <a:rPr lang="en-US" b="1" dirty="0">
                <a:solidFill>
                  <a:schemeClr val="tx1"/>
                </a:solidFill>
                <a:latin typeface="Times New Roman" panose="02020603050405020304" pitchFamily="18" charset="0"/>
                <a:cs typeface="Times New Roman" panose="02020603050405020304" pitchFamily="18" charset="0"/>
              </a:rPr>
              <a:t>Bagging and Boosting Illustration</a:t>
            </a:r>
          </a:p>
        </p:txBody>
      </p:sp>
      <p:pic>
        <p:nvPicPr>
          <p:cNvPr id="2050" name="Picture 2" descr="Bagging vs Boosting: A Comparative Analysis | by Sherwin Varghese | Medium">
            <a:extLst>
              <a:ext uri="{FF2B5EF4-FFF2-40B4-BE49-F238E27FC236}">
                <a16:creationId xmlns:a16="http://schemas.microsoft.com/office/drawing/2014/main" id="{F203A47C-231E-E5F8-5A7B-5DD1CFF0CC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095154"/>
            <a:ext cx="11061010" cy="5528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460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6899-26B3-1D58-F427-64F67589D266}"/>
              </a:ext>
            </a:extLst>
          </p:cNvPr>
          <p:cNvSpPr>
            <a:spLocks noGrp="1"/>
          </p:cNvSpPr>
          <p:nvPr>
            <p:ph type="title"/>
          </p:nvPr>
        </p:nvSpPr>
        <p:spPr>
          <a:xfrm>
            <a:off x="677334" y="609600"/>
            <a:ext cx="10975950" cy="751367"/>
          </a:xfrm>
        </p:spPr>
        <p:txBody>
          <a:bodyPr/>
          <a:lstStyle/>
          <a:p>
            <a:r>
              <a:rPr lang="en-US" b="1" dirty="0">
                <a:solidFill>
                  <a:schemeClr val="tx1"/>
                </a:solidFill>
                <a:latin typeface="Times New Roman" panose="02020603050405020304" pitchFamily="18" charset="0"/>
                <a:cs typeface="Times New Roman" panose="02020603050405020304" pitchFamily="18" charset="0"/>
              </a:rPr>
              <a:t>Key Concepts in Ensemble Learning</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F71C69-765E-0B37-10E8-181E7CDD15FA}"/>
              </a:ext>
            </a:extLst>
          </p:cNvPr>
          <p:cNvSpPr>
            <a:spLocks noGrp="1"/>
          </p:cNvSpPr>
          <p:nvPr>
            <p:ph idx="1"/>
          </p:nvPr>
        </p:nvSpPr>
        <p:spPr>
          <a:xfrm>
            <a:off x="677333" y="1594885"/>
            <a:ext cx="10975949" cy="4446478"/>
          </a:xfrm>
        </p:spPr>
        <p:txBody>
          <a:bodyPr/>
          <a:lstStyle/>
          <a:p>
            <a:pPr>
              <a:buFont typeface="Wingdings" panose="05000000000000000000" pitchFamily="2" charset="2"/>
              <a:buChar char="v"/>
            </a:pPr>
            <a:r>
              <a:rPr lang="en-US" sz="2400" b="1" dirty="0"/>
              <a:t>Weak Learner</a:t>
            </a:r>
            <a:r>
              <a:rPr lang="en-US" sz="2400" dirty="0"/>
              <a:t>: A model that performs slightly better than random guessing (e.g., decision stump).</a:t>
            </a:r>
          </a:p>
          <a:p>
            <a:pPr>
              <a:buFont typeface="Wingdings" panose="05000000000000000000" pitchFamily="2" charset="2"/>
              <a:buChar char="v"/>
            </a:pPr>
            <a:r>
              <a:rPr lang="en-US" sz="2400" b="1" dirty="0"/>
              <a:t>Strong Learner</a:t>
            </a:r>
            <a:r>
              <a:rPr lang="en-US" sz="2400" dirty="0"/>
              <a:t>: A model that achieves high accuracy, usually built by combining many weak learners.</a:t>
            </a:r>
          </a:p>
          <a:p>
            <a:pPr>
              <a:buFont typeface="Wingdings" panose="05000000000000000000" pitchFamily="2" charset="2"/>
              <a:buChar char="v"/>
            </a:pPr>
            <a:r>
              <a:rPr lang="en-US" sz="2400" b="1" dirty="0"/>
              <a:t>Diversity</a:t>
            </a:r>
            <a:r>
              <a:rPr lang="en-US" sz="2400" dirty="0"/>
              <a:t>: The effectiveness of an ensemble depends on the diversity of the base learners. If all models make the same mistakes, the ensemble offers no improvement.</a:t>
            </a:r>
          </a:p>
          <a:p>
            <a:pPr>
              <a:buFont typeface="Wingdings" panose="05000000000000000000" pitchFamily="2" charset="2"/>
              <a:buChar char="v"/>
            </a:pPr>
            <a:r>
              <a:rPr lang="en-US" sz="2400" b="1" dirty="0"/>
              <a:t>Bias-Variance Trade-off</a:t>
            </a:r>
            <a:r>
              <a:rPr lang="en-US" sz="2400" dirty="0"/>
              <a:t>: Ensembles aim to reduce variance (Bagging) and bias (Boosting), leading to better generalization.</a:t>
            </a:r>
          </a:p>
          <a:p>
            <a:endParaRPr lang="en-US" dirty="0"/>
          </a:p>
        </p:txBody>
      </p:sp>
    </p:spTree>
    <p:extLst>
      <p:ext uri="{BB962C8B-B14F-4D97-AF65-F5344CB8AC3E}">
        <p14:creationId xmlns:p14="http://schemas.microsoft.com/office/powerpoint/2010/main" val="146213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9F3C1-CDF7-5E51-4B0B-D084D2BB30DA}"/>
              </a:ext>
            </a:extLst>
          </p:cNvPr>
          <p:cNvSpPr>
            <a:spLocks noGrp="1"/>
          </p:cNvSpPr>
          <p:nvPr>
            <p:ph type="title"/>
          </p:nvPr>
        </p:nvSpPr>
        <p:spPr>
          <a:xfrm>
            <a:off x="703718" y="205563"/>
            <a:ext cx="10784564" cy="730102"/>
          </a:xfrm>
        </p:spPr>
        <p:txBody>
          <a:bodyPr/>
          <a:lstStyle/>
          <a:p>
            <a:r>
              <a:rPr lang="en-US" b="1" dirty="0">
                <a:solidFill>
                  <a:schemeClr val="tx1"/>
                </a:solidFill>
                <a:latin typeface="Times New Roman" panose="02020603050405020304" pitchFamily="18" charset="0"/>
                <a:cs typeface="Times New Roman" panose="02020603050405020304" pitchFamily="18" charset="0"/>
              </a:rPr>
              <a:t>Bias and Variance Trade Off</a:t>
            </a:r>
          </a:p>
        </p:txBody>
      </p:sp>
      <p:pic>
        <p:nvPicPr>
          <p:cNvPr id="5" name="Content Placeholder 4">
            <a:extLst>
              <a:ext uri="{FF2B5EF4-FFF2-40B4-BE49-F238E27FC236}">
                <a16:creationId xmlns:a16="http://schemas.microsoft.com/office/drawing/2014/main" id="{69BA432F-E82B-AFD6-8D2C-871D74A239A1}"/>
              </a:ext>
            </a:extLst>
          </p:cNvPr>
          <p:cNvPicPr>
            <a:picLocks noGrp="1" noChangeAspect="1"/>
          </p:cNvPicPr>
          <p:nvPr>
            <p:ph idx="1"/>
          </p:nvPr>
        </p:nvPicPr>
        <p:blipFill>
          <a:blip r:embed="rId2"/>
          <a:stretch>
            <a:fillRect/>
          </a:stretch>
        </p:blipFill>
        <p:spPr>
          <a:xfrm>
            <a:off x="703718" y="1020726"/>
            <a:ext cx="10784563" cy="5539562"/>
          </a:xfrm>
        </p:spPr>
      </p:pic>
    </p:spTree>
    <p:extLst>
      <p:ext uri="{BB962C8B-B14F-4D97-AF65-F5344CB8AC3E}">
        <p14:creationId xmlns:p14="http://schemas.microsoft.com/office/powerpoint/2010/main" val="2515285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0D6F0-FF4B-525D-1A83-9EDA13116D0F}"/>
              </a:ext>
            </a:extLst>
          </p:cNvPr>
          <p:cNvSpPr>
            <a:spLocks noGrp="1"/>
          </p:cNvSpPr>
          <p:nvPr>
            <p:ph type="title"/>
          </p:nvPr>
        </p:nvSpPr>
        <p:spPr>
          <a:xfrm>
            <a:off x="677334" y="290623"/>
            <a:ext cx="10944052" cy="857693"/>
          </a:xfrm>
        </p:spPr>
        <p:txBody>
          <a:bodyPr/>
          <a:lstStyle/>
          <a:p>
            <a:r>
              <a:rPr lang="en-US" b="1" dirty="0">
                <a:solidFill>
                  <a:schemeClr val="tx1"/>
                </a:solidFill>
                <a:latin typeface="Times New Roman" panose="02020603050405020304" pitchFamily="18" charset="0"/>
                <a:cs typeface="Times New Roman" panose="02020603050405020304" pitchFamily="18" charset="0"/>
              </a:rPr>
              <a:t>Continuation of Bias Variance Trade Off</a:t>
            </a:r>
          </a:p>
        </p:txBody>
      </p:sp>
      <p:pic>
        <p:nvPicPr>
          <p:cNvPr id="5" name="Content Placeholder 4">
            <a:extLst>
              <a:ext uri="{FF2B5EF4-FFF2-40B4-BE49-F238E27FC236}">
                <a16:creationId xmlns:a16="http://schemas.microsoft.com/office/drawing/2014/main" id="{D93EFB97-A55C-8226-74C3-622F2811F741}"/>
              </a:ext>
            </a:extLst>
          </p:cNvPr>
          <p:cNvPicPr>
            <a:picLocks noGrp="1" noChangeAspect="1"/>
          </p:cNvPicPr>
          <p:nvPr>
            <p:ph idx="1"/>
          </p:nvPr>
        </p:nvPicPr>
        <p:blipFill>
          <a:blip r:embed="rId2"/>
          <a:stretch>
            <a:fillRect/>
          </a:stretch>
        </p:blipFill>
        <p:spPr>
          <a:xfrm>
            <a:off x="677334" y="1148315"/>
            <a:ext cx="10805829" cy="5571461"/>
          </a:xfrm>
        </p:spPr>
      </p:pic>
    </p:spTree>
    <p:extLst>
      <p:ext uri="{BB962C8B-B14F-4D97-AF65-F5344CB8AC3E}">
        <p14:creationId xmlns:p14="http://schemas.microsoft.com/office/powerpoint/2010/main" val="2556770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3E92-E599-C82A-A254-702566200544}"/>
              </a:ext>
            </a:extLst>
          </p:cNvPr>
          <p:cNvSpPr>
            <a:spLocks noGrp="1"/>
          </p:cNvSpPr>
          <p:nvPr>
            <p:ph type="title"/>
          </p:nvPr>
        </p:nvSpPr>
        <p:spPr>
          <a:xfrm>
            <a:off x="682453" y="322521"/>
            <a:ext cx="10827094" cy="772633"/>
          </a:xfrm>
        </p:spPr>
        <p:txBody>
          <a:bodyPr/>
          <a:lstStyle/>
          <a:p>
            <a:r>
              <a:rPr lang="en-US" b="1" dirty="0">
                <a:solidFill>
                  <a:schemeClr val="tx1"/>
                </a:solidFill>
                <a:latin typeface="Times New Roman" panose="02020603050405020304" pitchFamily="18" charset="0"/>
                <a:cs typeface="Times New Roman" panose="02020603050405020304" pitchFamily="18" charset="0"/>
              </a:rPr>
              <a:t>Applications of Ensemble Learning</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E603E3-4E98-8AE1-FC62-F1F44E65069C}"/>
              </a:ext>
            </a:extLst>
          </p:cNvPr>
          <p:cNvSpPr>
            <a:spLocks noGrp="1"/>
          </p:cNvSpPr>
          <p:nvPr>
            <p:ph idx="1"/>
          </p:nvPr>
        </p:nvSpPr>
        <p:spPr>
          <a:xfrm>
            <a:off x="677334" y="1509823"/>
            <a:ext cx="10486852" cy="4531539"/>
          </a:xfrm>
        </p:spPr>
        <p:txBody>
          <a:bodyPr/>
          <a:lstStyle/>
          <a:p>
            <a:pPr marL="0" indent="0">
              <a:buNone/>
            </a:pPr>
            <a:r>
              <a:rPr lang="en-US" sz="2800" dirty="0"/>
              <a:t>Ensemble methods are widely used in:</a:t>
            </a:r>
          </a:p>
          <a:p>
            <a:pPr>
              <a:buFont typeface="Wingdings" panose="05000000000000000000" pitchFamily="2" charset="2"/>
              <a:buChar char="v"/>
            </a:pPr>
            <a:r>
              <a:rPr lang="en-US" sz="2800" dirty="0"/>
              <a:t>Financial risk modeling</a:t>
            </a:r>
          </a:p>
          <a:p>
            <a:pPr>
              <a:buFont typeface="Wingdings" panose="05000000000000000000" pitchFamily="2" charset="2"/>
              <a:buChar char="v"/>
            </a:pPr>
            <a:r>
              <a:rPr lang="en-US" sz="2800" dirty="0"/>
              <a:t>Medical diagnosis</a:t>
            </a:r>
          </a:p>
          <a:p>
            <a:pPr>
              <a:buFont typeface="Wingdings" panose="05000000000000000000" pitchFamily="2" charset="2"/>
              <a:buChar char="v"/>
            </a:pPr>
            <a:r>
              <a:rPr lang="en-US" sz="2800" dirty="0"/>
              <a:t>Credit scoring</a:t>
            </a:r>
          </a:p>
          <a:p>
            <a:pPr>
              <a:buFont typeface="Wingdings" panose="05000000000000000000" pitchFamily="2" charset="2"/>
              <a:buChar char="v"/>
            </a:pPr>
            <a:r>
              <a:rPr lang="en-US" sz="2800" dirty="0"/>
              <a:t>Image and speech recognition</a:t>
            </a:r>
          </a:p>
          <a:p>
            <a:pPr>
              <a:buFont typeface="Wingdings" panose="05000000000000000000" pitchFamily="2" charset="2"/>
              <a:buChar char="v"/>
            </a:pPr>
            <a:r>
              <a:rPr lang="en-US" sz="2800" dirty="0"/>
              <a:t>Fraud detection</a:t>
            </a:r>
          </a:p>
          <a:p>
            <a:pPr>
              <a:buFont typeface="Wingdings" panose="05000000000000000000" pitchFamily="2" charset="2"/>
              <a:buChar char="v"/>
            </a:pPr>
            <a:r>
              <a:rPr lang="en-US" sz="2800" dirty="0"/>
              <a:t>Competitions like Kaggle (almost all winning solutions use ensemble techniques)</a:t>
            </a:r>
          </a:p>
          <a:p>
            <a:endParaRPr lang="en-US" dirty="0"/>
          </a:p>
        </p:txBody>
      </p:sp>
    </p:spTree>
    <p:extLst>
      <p:ext uri="{BB962C8B-B14F-4D97-AF65-F5344CB8AC3E}">
        <p14:creationId xmlns:p14="http://schemas.microsoft.com/office/powerpoint/2010/main" val="3170929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E2A4-9971-F9D6-DB4A-8507F7C7E005}"/>
              </a:ext>
            </a:extLst>
          </p:cNvPr>
          <p:cNvSpPr>
            <a:spLocks noGrp="1"/>
          </p:cNvSpPr>
          <p:nvPr>
            <p:ph type="title"/>
          </p:nvPr>
        </p:nvSpPr>
        <p:spPr>
          <a:xfrm>
            <a:off x="677334" y="322521"/>
            <a:ext cx="10869624" cy="815163"/>
          </a:xfrm>
        </p:spPr>
        <p:txBody>
          <a:bodyPr>
            <a:normAutofit/>
          </a:bodyPr>
          <a:lstStyle/>
          <a:p>
            <a:r>
              <a:rPr lang="en-US" b="1" i="0" dirty="0">
                <a:solidFill>
                  <a:srgbClr val="242424"/>
                </a:solidFill>
                <a:effectLst/>
                <a:highlight>
                  <a:srgbClr val="FFFFFF"/>
                </a:highlight>
                <a:latin typeface="sohne"/>
              </a:rPr>
              <a:t>When to use Bagging vs Boosting vs Stacking?</a:t>
            </a:r>
            <a:endParaRPr lang="en-US" dirty="0"/>
          </a:p>
        </p:txBody>
      </p:sp>
      <p:pic>
        <p:nvPicPr>
          <p:cNvPr id="6146" name="Picture 2">
            <a:extLst>
              <a:ext uri="{FF2B5EF4-FFF2-40B4-BE49-F238E27FC236}">
                <a16:creationId xmlns:a16="http://schemas.microsoft.com/office/drawing/2014/main" id="{46F06D91-802D-336B-B543-94D1B7549CF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386" y="1233488"/>
            <a:ext cx="11578856" cy="5301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462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06A0-48E2-FC52-F0FF-0930E9744373}"/>
              </a:ext>
            </a:extLst>
          </p:cNvPr>
          <p:cNvSpPr>
            <a:spLocks noGrp="1"/>
          </p:cNvSpPr>
          <p:nvPr>
            <p:ph type="title"/>
          </p:nvPr>
        </p:nvSpPr>
        <p:spPr>
          <a:xfrm>
            <a:off x="847455" y="107802"/>
            <a:ext cx="11103540" cy="1061780"/>
          </a:xfrm>
        </p:spPr>
        <p:txBody>
          <a:bodyPr>
            <a:normAutofit fontScale="90000"/>
          </a:bodyPr>
          <a:lstStyle/>
          <a:p>
            <a:pPr algn="ctr"/>
            <a:r>
              <a:rPr lang="en-US" sz="6600" b="1" dirty="0">
                <a:solidFill>
                  <a:schemeClr val="tx1"/>
                </a:solidFill>
                <a:latin typeface="Times New Roman" panose="02020603050405020304" pitchFamily="18" charset="0"/>
                <a:cs typeface="Times New Roman" panose="02020603050405020304" pitchFamily="18" charset="0"/>
              </a:rPr>
              <a:t>SESSION TWO</a:t>
            </a:r>
          </a:p>
        </p:txBody>
      </p:sp>
      <p:sp>
        <p:nvSpPr>
          <p:cNvPr id="3" name="Content Placeholder 2">
            <a:extLst>
              <a:ext uri="{FF2B5EF4-FFF2-40B4-BE49-F238E27FC236}">
                <a16:creationId xmlns:a16="http://schemas.microsoft.com/office/drawing/2014/main" id="{5C91A59E-8D47-5898-C908-FB40B1C52E64}"/>
              </a:ext>
            </a:extLst>
          </p:cNvPr>
          <p:cNvSpPr>
            <a:spLocks noGrp="1"/>
          </p:cNvSpPr>
          <p:nvPr>
            <p:ph idx="1"/>
          </p:nvPr>
        </p:nvSpPr>
        <p:spPr>
          <a:xfrm>
            <a:off x="847455" y="1403498"/>
            <a:ext cx="11103540" cy="5029200"/>
          </a:xfrm>
        </p:spPr>
        <p:txBody>
          <a:bodyPr>
            <a:normAutofit/>
          </a:bodyPr>
          <a:lstStyle/>
          <a:p>
            <a:pPr marL="0" indent="0" algn="ctr">
              <a:buNone/>
            </a:pPr>
            <a:r>
              <a:rPr lang="en-US" sz="4800" dirty="0">
                <a:latin typeface="Times New Roman" panose="02020603050405020304" pitchFamily="18" charset="0"/>
                <a:cs typeface="Times New Roman" panose="02020603050405020304" pitchFamily="18" charset="0"/>
              </a:rPr>
              <a:t>PRE-REQUISITE TO BAGGING AND BOOSTING IMPLEMENTATION IN R SOFTWARE</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Data Collection</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Data Preparation (at least five steps)</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Train and Test Split</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Cross Validation (Repeated CV, CV and LOOCV)</a:t>
            </a:r>
          </a:p>
          <a:p>
            <a:pPr marL="0" indent="0" algn="ctr">
              <a:buNone/>
            </a:pPr>
            <a:endParaRPr lang="en-US" sz="2800" dirty="0">
              <a:latin typeface="Times New Roman" panose="02020603050405020304" pitchFamily="18" charset="0"/>
              <a:cs typeface="Times New Roman" panose="02020603050405020304" pitchFamily="18" charset="0"/>
            </a:endParaRPr>
          </a:p>
          <a:p>
            <a:pPr marL="0" indent="0" algn="ctr">
              <a:buNone/>
            </a:pP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0195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E4B5-BCAD-C4E4-148D-5EF689673911}"/>
              </a:ext>
            </a:extLst>
          </p:cNvPr>
          <p:cNvSpPr>
            <a:spLocks noGrp="1"/>
          </p:cNvSpPr>
          <p:nvPr>
            <p:ph type="title"/>
          </p:nvPr>
        </p:nvSpPr>
        <p:spPr>
          <a:xfrm>
            <a:off x="677334" y="0"/>
            <a:ext cx="8596668" cy="708837"/>
          </a:xfrm>
        </p:spPr>
        <p:txBody>
          <a:bodyPr/>
          <a:lstStyle/>
          <a:p>
            <a:r>
              <a:rPr lang="en-US" dirty="0"/>
              <a:t>Data Collection</a:t>
            </a:r>
          </a:p>
        </p:txBody>
      </p:sp>
      <p:sp>
        <p:nvSpPr>
          <p:cNvPr id="3" name="Content Placeholder 2">
            <a:extLst>
              <a:ext uri="{FF2B5EF4-FFF2-40B4-BE49-F238E27FC236}">
                <a16:creationId xmlns:a16="http://schemas.microsoft.com/office/drawing/2014/main" id="{20EBEBA5-E318-501E-2A62-3ED31254DF00}"/>
              </a:ext>
            </a:extLst>
          </p:cNvPr>
          <p:cNvSpPr>
            <a:spLocks noGrp="1"/>
          </p:cNvSpPr>
          <p:nvPr>
            <p:ph idx="1"/>
          </p:nvPr>
        </p:nvSpPr>
        <p:spPr>
          <a:xfrm>
            <a:off x="677334" y="708837"/>
            <a:ext cx="11252396" cy="5332525"/>
          </a:xfrm>
        </p:spPr>
        <p:txBody>
          <a:bodyPr>
            <a:normAutofit fontScale="92500" lnSpcReduction="20000"/>
          </a:bodyPr>
          <a:lstStyle/>
          <a:p>
            <a:pPr marL="0" indent="0">
              <a:lnSpc>
                <a:spcPct val="120000"/>
              </a:lnSpc>
              <a:buNone/>
            </a:pPr>
            <a:r>
              <a:rPr lang="en-US" sz="2800" dirty="0"/>
              <a:t>Data collection is the foundational step in any machine learning pipeline. It involves gathering relevant data that will be used to train and test your model. For ensemble methods like Bagging and Boosting, high-quality and representative data is crucial to model performance.</a:t>
            </a:r>
          </a:p>
          <a:p>
            <a:pPr marL="0" marR="0" indent="0">
              <a:lnSpc>
                <a:spcPct val="120000"/>
              </a:lnSpc>
              <a:buNone/>
            </a:pPr>
            <a:r>
              <a:rPr lang="en-US" sz="2800" b="1" dirty="0"/>
              <a:t>Purpose of Data Collection</a:t>
            </a:r>
          </a:p>
          <a:p>
            <a:pPr marR="0" lvl="0">
              <a:lnSpc>
                <a:spcPct val="120000"/>
              </a:lnSpc>
              <a:buFont typeface="Wingdings" panose="05000000000000000000" pitchFamily="2" charset="2"/>
              <a:buChar char="v"/>
              <a:tabLst>
                <a:tab pos="457200" algn="l"/>
              </a:tabLst>
            </a:pPr>
            <a:r>
              <a:rPr lang="en-US" sz="2800" dirty="0"/>
              <a:t>To obtain a dataset with sufficient features (predictors) and outcomes (target variable).</a:t>
            </a:r>
          </a:p>
          <a:p>
            <a:pPr marR="0" lvl="0">
              <a:lnSpc>
                <a:spcPct val="120000"/>
              </a:lnSpc>
              <a:buFont typeface="Wingdings" panose="05000000000000000000" pitchFamily="2" charset="2"/>
              <a:buChar char="v"/>
              <a:tabLst>
                <a:tab pos="457200" algn="l"/>
              </a:tabLst>
            </a:pPr>
            <a:r>
              <a:rPr lang="en-US" sz="2800" dirty="0"/>
              <a:t>To ensure data is representative of the real-world scenario the model will face.</a:t>
            </a:r>
          </a:p>
          <a:p>
            <a:pPr marR="0" lvl="0">
              <a:lnSpc>
                <a:spcPct val="120000"/>
              </a:lnSpc>
              <a:buFont typeface="Wingdings" panose="05000000000000000000" pitchFamily="2" charset="2"/>
              <a:buChar char="v"/>
              <a:tabLst>
                <a:tab pos="457200" algn="l"/>
              </a:tabLst>
            </a:pPr>
            <a:r>
              <a:rPr lang="en-US" sz="2800" dirty="0"/>
              <a:t>To allow for effective training, validation, and testing of ensemble models.</a:t>
            </a:r>
          </a:p>
          <a:p>
            <a:pPr marL="0" indent="0">
              <a:buNone/>
            </a:pPr>
            <a:endParaRPr lang="en-US" dirty="0"/>
          </a:p>
        </p:txBody>
      </p:sp>
    </p:spTree>
    <p:extLst>
      <p:ext uri="{BB962C8B-B14F-4D97-AF65-F5344CB8AC3E}">
        <p14:creationId xmlns:p14="http://schemas.microsoft.com/office/powerpoint/2010/main" val="2661111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0CF7A-8095-7AAD-8533-8813142EA25C}"/>
              </a:ext>
            </a:extLst>
          </p:cNvPr>
          <p:cNvSpPr>
            <a:spLocks noGrp="1"/>
          </p:cNvSpPr>
          <p:nvPr>
            <p:ph type="title"/>
          </p:nvPr>
        </p:nvSpPr>
        <p:spPr>
          <a:xfrm>
            <a:off x="677334" y="120502"/>
            <a:ext cx="10795196" cy="772633"/>
          </a:xfrm>
        </p:spPr>
        <p:txBody>
          <a:bodyPr/>
          <a:lstStyle/>
          <a:p>
            <a:r>
              <a:rPr lang="en-US" dirty="0"/>
              <a:t>Sources of Data</a:t>
            </a:r>
          </a:p>
        </p:txBody>
      </p:sp>
      <p:sp>
        <p:nvSpPr>
          <p:cNvPr id="3" name="Content Placeholder 2">
            <a:extLst>
              <a:ext uri="{FF2B5EF4-FFF2-40B4-BE49-F238E27FC236}">
                <a16:creationId xmlns:a16="http://schemas.microsoft.com/office/drawing/2014/main" id="{E718EFCE-58A8-6A33-F3A6-A9B20CBC3AB8}"/>
              </a:ext>
            </a:extLst>
          </p:cNvPr>
          <p:cNvSpPr>
            <a:spLocks noGrp="1"/>
          </p:cNvSpPr>
          <p:nvPr>
            <p:ph idx="1"/>
          </p:nvPr>
        </p:nvSpPr>
        <p:spPr>
          <a:xfrm>
            <a:off x="0" y="893135"/>
            <a:ext cx="12192000" cy="5709684"/>
          </a:xfrm>
        </p:spPr>
        <p:txBody>
          <a:bodyPr>
            <a:normAutofit lnSpcReduction="10000"/>
          </a:bodyPr>
          <a:lstStyle/>
          <a:p>
            <a:pPr marL="0" indent="0">
              <a:lnSpc>
                <a:spcPct val="110000"/>
              </a:lnSpc>
              <a:buNone/>
              <a:tabLst>
                <a:tab pos="457200" algn="l"/>
              </a:tabLst>
            </a:pPr>
            <a:r>
              <a:rPr lang="en-US" sz="2600" dirty="0"/>
              <a:t>1 Open Datasets</a:t>
            </a:r>
          </a:p>
          <a:p>
            <a:pPr>
              <a:lnSpc>
                <a:spcPct val="110000"/>
              </a:lnSpc>
              <a:buFont typeface="Wingdings" panose="05000000000000000000" pitchFamily="2" charset="2"/>
              <a:buChar char="v"/>
              <a:tabLst>
                <a:tab pos="457200" algn="l"/>
              </a:tabLst>
            </a:pPr>
            <a:r>
              <a:rPr lang="en-US" sz="2600" dirty="0"/>
              <a:t>UCI Machine Learning Repository (</a:t>
            </a:r>
            <a:r>
              <a:rPr lang="en-US" sz="2600" dirty="0">
                <a:hlinkClick r:id="rId2">
                  <a:extLst>
                    <a:ext uri="{A12FA001-AC4F-418D-AE19-62706E023703}">
                      <ahyp:hlinkClr xmlns:ahyp="http://schemas.microsoft.com/office/drawing/2018/hyperlinkcolor" val="tx"/>
                    </a:ext>
                  </a:extLst>
                </a:hlinkClick>
              </a:rPr>
              <a:t>https://archive.ics.uci.edu</a:t>
            </a:r>
            <a:r>
              <a:rPr lang="en-US" sz="2600" dirty="0"/>
              <a:t>)</a:t>
            </a:r>
          </a:p>
          <a:p>
            <a:pPr>
              <a:lnSpc>
                <a:spcPct val="110000"/>
              </a:lnSpc>
              <a:buFont typeface="Wingdings" panose="05000000000000000000" pitchFamily="2" charset="2"/>
              <a:buChar char="v"/>
              <a:tabLst>
                <a:tab pos="457200" algn="l"/>
              </a:tabLst>
            </a:pPr>
            <a:r>
              <a:rPr lang="en-US" sz="2600" dirty="0"/>
              <a:t>Kaggle Datasets (</a:t>
            </a:r>
            <a:r>
              <a:rPr lang="en-US" sz="2600" dirty="0">
                <a:hlinkClick r:id="rId3">
                  <a:extLst>
                    <a:ext uri="{A12FA001-AC4F-418D-AE19-62706E023703}">
                      <ahyp:hlinkClr xmlns:ahyp="http://schemas.microsoft.com/office/drawing/2018/hyperlinkcolor" val="tx"/>
                    </a:ext>
                  </a:extLst>
                </a:hlinkClick>
              </a:rPr>
              <a:t>https://www.kaggle.com/datasets</a:t>
            </a:r>
            <a:r>
              <a:rPr lang="en-US" sz="2600" dirty="0"/>
              <a:t>)</a:t>
            </a:r>
          </a:p>
          <a:p>
            <a:pPr>
              <a:lnSpc>
                <a:spcPct val="110000"/>
              </a:lnSpc>
              <a:buFont typeface="Wingdings" panose="05000000000000000000" pitchFamily="2" charset="2"/>
              <a:buChar char="v"/>
              <a:tabLst>
                <a:tab pos="457200" algn="l"/>
              </a:tabLst>
            </a:pPr>
            <a:r>
              <a:rPr lang="en-US" sz="2600" dirty="0"/>
              <a:t>R packages with built-in datasets: </a:t>
            </a:r>
            <a:r>
              <a:rPr lang="en-US" sz="2600" dirty="0" err="1"/>
              <a:t>mlbench</a:t>
            </a:r>
            <a:r>
              <a:rPr lang="en-US" sz="2600" dirty="0"/>
              <a:t>, caret, MASS, datasets</a:t>
            </a:r>
          </a:p>
          <a:p>
            <a:pPr marL="0" indent="0">
              <a:lnSpc>
                <a:spcPct val="110000"/>
              </a:lnSpc>
              <a:buNone/>
              <a:tabLst>
                <a:tab pos="457200" algn="l"/>
              </a:tabLst>
            </a:pPr>
            <a:r>
              <a:rPr lang="en-US" sz="2600" dirty="0"/>
              <a:t>2. APIs and Web Scraping</a:t>
            </a:r>
          </a:p>
          <a:p>
            <a:pPr>
              <a:lnSpc>
                <a:spcPct val="110000"/>
              </a:lnSpc>
              <a:buFont typeface="Wingdings" panose="05000000000000000000" pitchFamily="2" charset="2"/>
              <a:buChar char="v"/>
              <a:tabLst>
                <a:tab pos="457200" algn="l"/>
              </a:tabLst>
            </a:pPr>
            <a:r>
              <a:rPr lang="en-US" sz="2600" dirty="0"/>
              <a:t>Use </a:t>
            </a:r>
            <a:r>
              <a:rPr lang="en-US" sz="2600" dirty="0" err="1"/>
              <a:t>httr</a:t>
            </a:r>
            <a:r>
              <a:rPr lang="en-US" sz="2600" dirty="0"/>
              <a:t>, </a:t>
            </a:r>
            <a:r>
              <a:rPr lang="en-US" sz="2600" dirty="0" err="1"/>
              <a:t>rvest</a:t>
            </a:r>
            <a:r>
              <a:rPr lang="en-US" sz="2600" dirty="0"/>
              <a:t>, or </a:t>
            </a:r>
            <a:r>
              <a:rPr lang="en-US" sz="2600" dirty="0" err="1"/>
              <a:t>jsonlite</a:t>
            </a:r>
            <a:r>
              <a:rPr lang="en-US" sz="2600" dirty="0"/>
              <a:t> packages to collect data from web services and APIs.</a:t>
            </a:r>
          </a:p>
          <a:p>
            <a:pPr marL="0" indent="0">
              <a:lnSpc>
                <a:spcPct val="110000"/>
              </a:lnSpc>
              <a:buNone/>
              <a:tabLst>
                <a:tab pos="457200" algn="l"/>
              </a:tabLst>
            </a:pPr>
            <a:r>
              <a:rPr lang="en-US" sz="2600" dirty="0"/>
              <a:t>3. Databases and Spreadsheets</a:t>
            </a:r>
          </a:p>
          <a:p>
            <a:pPr>
              <a:lnSpc>
                <a:spcPct val="110000"/>
              </a:lnSpc>
              <a:buFont typeface="Wingdings" panose="05000000000000000000" pitchFamily="2" charset="2"/>
              <a:buChar char="v"/>
              <a:tabLst>
                <a:tab pos="457200" algn="l"/>
              </a:tabLst>
            </a:pPr>
            <a:r>
              <a:rPr lang="en-US" sz="2600" dirty="0"/>
              <a:t>SQL databases, Excel files, Google Sheets (use </a:t>
            </a:r>
            <a:r>
              <a:rPr lang="en-US" sz="2600" dirty="0" err="1"/>
              <a:t>readxl</a:t>
            </a:r>
            <a:r>
              <a:rPr lang="en-US" sz="2600" dirty="0"/>
              <a:t>, DBI, googlesheets4)</a:t>
            </a:r>
          </a:p>
          <a:p>
            <a:pPr marL="0" indent="0">
              <a:lnSpc>
                <a:spcPct val="110000"/>
              </a:lnSpc>
              <a:buNone/>
              <a:tabLst>
                <a:tab pos="457200" algn="l"/>
              </a:tabLst>
            </a:pPr>
            <a:r>
              <a:rPr lang="en-US" sz="2600" dirty="0"/>
              <a:t>4. Survey or Experimental Data</a:t>
            </a:r>
          </a:p>
          <a:p>
            <a:pPr>
              <a:lnSpc>
                <a:spcPct val="110000"/>
              </a:lnSpc>
              <a:buFont typeface="Wingdings" panose="05000000000000000000" pitchFamily="2" charset="2"/>
              <a:buChar char="v"/>
              <a:tabLst>
                <a:tab pos="457200" algn="l"/>
              </a:tabLst>
            </a:pPr>
            <a:r>
              <a:rPr lang="en-US" sz="2600" dirty="0"/>
              <a:t>Data collected via surveys, experiments, or field work.</a:t>
            </a:r>
          </a:p>
          <a:p>
            <a:pPr marL="0" indent="0">
              <a:buNone/>
            </a:pPr>
            <a:endParaRPr lang="en-US" dirty="0"/>
          </a:p>
        </p:txBody>
      </p:sp>
    </p:spTree>
    <p:extLst>
      <p:ext uri="{BB962C8B-B14F-4D97-AF65-F5344CB8AC3E}">
        <p14:creationId xmlns:p14="http://schemas.microsoft.com/office/powerpoint/2010/main" val="111936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C0A13-9605-725D-B6E5-DA7DBCA61722}"/>
              </a:ext>
            </a:extLst>
          </p:cNvPr>
          <p:cNvSpPr>
            <a:spLocks noGrp="1"/>
          </p:cNvSpPr>
          <p:nvPr>
            <p:ph type="title"/>
          </p:nvPr>
        </p:nvSpPr>
        <p:spPr>
          <a:xfrm>
            <a:off x="677334" y="141767"/>
            <a:ext cx="10912154" cy="793898"/>
          </a:xfrm>
        </p:spPr>
        <p:txBody>
          <a:bodyPr/>
          <a:lstStyle/>
          <a:p>
            <a:r>
              <a:rPr lang="en-US" sz="36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 in R: Loading a Built-in Dataset</a:t>
            </a:r>
            <a:endParaRPr lang="en-US" dirty="0"/>
          </a:p>
        </p:txBody>
      </p:sp>
      <p:sp>
        <p:nvSpPr>
          <p:cNvPr id="3" name="Content Placeholder 2">
            <a:extLst>
              <a:ext uri="{FF2B5EF4-FFF2-40B4-BE49-F238E27FC236}">
                <a16:creationId xmlns:a16="http://schemas.microsoft.com/office/drawing/2014/main" id="{D1BE5E71-E88C-ECCF-5BF2-545B595605CF}"/>
              </a:ext>
            </a:extLst>
          </p:cNvPr>
          <p:cNvSpPr>
            <a:spLocks noGrp="1"/>
          </p:cNvSpPr>
          <p:nvPr>
            <p:ph idx="1"/>
          </p:nvPr>
        </p:nvSpPr>
        <p:spPr>
          <a:xfrm>
            <a:off x="244549" y="935665"/>
            <a:ext cx="11738344" cy="5039833"/>
          </a:xfrm>
        </p:spPr>
        <p:txBody>
          <a:bodyPr>
            <a:normAutofit fontScale="85000" lnSpcReduction="10000"/>
          </a:bodyPr>
          <a:lstStyle/>
          <a:p>
            <a:pPr marL="0" marR="0" indent="0" algn="l">
              <a:lnSpc>
                <a:spcPct val="160000"/>
              </a:lnSpc>
              <a:spcBef>
                <a:spcPts val="0"/>
              </a:spcBef>
              <a:spcAft>
                <a:spcPts val="800"/>
              </a:spcAft>
              <a:buNone/>
            </a:pPr>
            <a:r>
              <a:rPr lang="en-US" sz="2800" kern="0" dirty="0">
                <a:effectLst/>
                <a:latin typeface="+mj-lt"/>
                <a:ea typeface="Times New Roman" panose="02020603050405020304" pitchFamily="18" charset="0"/>
                <a:cs typeface="Times New Roman" panose="02020603050405020304" pitchFamily="18" charset="0"/>
              </a:rPr>
              <a:t>For educational purposes, let's use the Sonar dataset from the </a:t>
            </a:r>
            <a:r>
              <a:rPr lang="en-US" sz="2800" kern="0" dirty="0" err="1">
                <a:effectLst/>
                <a:latin typeface="+mj-lt"/>
                <a:ea typeface="Times New Roman" panose="02020603050405020304" pitchFamily="18" charset="0"/>
                <a:cs typeface="Times New Roman" panose="02020603050405020304" pitchFamily="18" charset="0"/>
              </a:rPr>
              <a:t>mlbench</a:t>
            </a:r>
            <a:r>
              <a:rPr lang="en-US" sz="2800" kern="0" dirty="0">
                <a:effectLst/>
                <a:latin typeface="+mj-lt"/>
                <a:ea typeface="Times New Roman" panose="02020603050405020304" pitchFamily="18" charset="0"/>
                <a:cs typeface="Times New Roman" panose="02020603050405020304" pitchFamily="18" charset="0"/>
              </a:rPr>
              <a:t> package:</a:t>
            </a:r>
            <a:endParaRPr lang="en-US" sz="2800" kern="100" dirty="0">
              <a:effectLst/>
              <a:latin typeface="+mj-lt"/>
              <a:ea typeface="Calibri" panose="020F0502020204030204" pitchFamily="34" charset="0"/>
              <a:cs typeface="Times New Roman" panose="02020603050405020304" pitchFamily="18" charset="0"/>
            </a:endParaRPr>
          </a:p>
          <a:p>
            <a:pPr marL="0" marR="0" indent="0" algn="l">
              <a:lnSpc>
                <a:spcPct val="16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b="1" kern="0" dirty="0">
                <a:effectLst/>
                <a:latin typeface="+mj-lt"/>
                <a:ea typeface="Times New Roman" panose="02020603050405020304" pitchFamily="18" charset="0"/>
                <a:cs typeface="Times New Roman" panose="02020603050405020304" pitchFamily="18" charset="0"/>
              </a:rPr>
              <a:t>Load required package</a:t>
            </a:r>
            <a:endParaRPr lang="en-US" sz="2800" b="1" kern="100" dirty="0">
              <a:effectLst/>
              <a:latin typeface="+mj-lt"/>
              <a:ea typeface="Calibri" panose="020F0502020204030204" pitchFamily="34" charset="0"/>
              <a:cs typeface="Times New Roman" panose="02020603050405020304" pitchFamily="18" charset="0"/>
            </a:endParaRP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0" dirty="0">
                <a:effectLst/>
                <a:latin typeface="+mj-lt"/>
                <a:ea typeface="Times New Roman" panose="02020603050405020304" pitchFamily="18" charset="0"/>
                <a:cs typeface="Times New Roman" panose="02020603050405020304" pitchFamily="18" charset="0"/>
              </a:rPr>
              <a:t>library(</a:t>
            </a:r>
            <a:r>
              <a:rPr lang="en-US" sz="2800" kern="0" dirty="0" err="1">
                <a:effectLst/>
                <a:latin typeface="+mj-lt"/>
                <a:ea typeface="Times New Roman" panose="02020603050405020304" pitchFamily="18" charset="0"/>
                <a:cs typeface="Times New Roman" panose="02020603050405020304" pitchFamily="18" charset="0"/>
              </a:rPr>
              <a:t>mlbench</a:t>
            </a:r>
            <a:r>
              <a:rPr lang="en-US" sz="2800" kern="0" dirty="0">
                <a:effectLst/>
                <a:latin typeface="+mj-lt"/>
                <a:ea typeface="Times New Roman" panose="02020603050405020304" pitchFamily="18" charset="0"/>
                <a:cs typeface="Times New Roman" panose="02020603050405020304" pitchFamily="18" charset="0"/>
              </a:rPr>
              <a:t>)</a:t>
            </a:r>
            <a:endParaRPr lang="en-US" sz="2800" kern="100" dirty="0">
              <a:effectLst/>
              <a:latin typeface="+mj-lt"/>
              <a:ea typeface="Calibri" panose="020F0502020204030204" pitchFamily="34" charset="0"/>
              <a:cs typeface="Times New Roman" panose="02020603050405020304" pitchFamily="18" charset="0"/>
            </a:endParaRP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0" dirty="0">
                <a:effectLst/>
                <a:latin typeface="+mj-lt"/>
                <a:ea typeface="Times New Roman" panose="02020603050405020304" pitchFamily="18" charset="0"/>
                <a:cs typeface="Times New Roman" panose="02020603050405020304" pitchFamily="18" charset="0"/>
              </a:rPr>
              <a:t>data(iris) or</a:t>
            </a: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100" dirty="0" err="1">
                <a:effectLst/>
                <a:latin typeface="+mj-lt"/>
                <a:ea typeface="Calibri" panose="020F0502020204030204" pitchFamily="34" charset="0"/>
                <a:cs typeface="Times New Roman" panose="02020603050405020304" pitchFamily="18" charset="0"/>
              </a:rPr>
              <a:t>htn_dat</a:t>
            </a:r>
            <a:r>
              <a:rPr lang="en-US" sz="2800" kern="100" dirty="0">
                <a:effectLst/>
                <a:latin typeface="+mj-lt"/>
                <a:ea typeface="Calibri" panose="020F0502020204030204" pitchFamily="34" charset="0"/>
                <a:cs typeface="Times New Roman" panose="02020603050405020304" pitchFamily="18" charset="0"/>
              </a:rPr>
              <a:t> = read.csv("htn_dat.csv")</a:t>
            </a: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100" dirty="0">
                <a:effectLst/>
                <a:latin typeface="+mj-lt"/>
                <a:ea typeface="Calibri" panose="020F0502020204030204" pitchFamily="34" charset="0"/>
                <a:cs typeface="Times New Roman" panose="02020603050405020304" pitchFamily="18" charset="0"/>
              </a:rPr>
              <a:t>head(</a:t>
            </a:r>
            <a:r>
              <a:rPr lang="en-US" sz="2800" kern="100" dirty="0" err="1">
                <a:effectLst/>
                <a:latin typeface="+mj-lt"/>
                <a:ea typeface="Calibri" panose="020F0502020204030204" pitchFamily="34" charset="0"/>
                <a:cs typeface="Times New Roman" panose="02020603050405020304" pitchFamily="18" charset="0"/>
              </a:rPr>
              <a:t>htn_dat</a:t>
            </a:r>
            <a:r>
              <a:rPr lang="en-US" sz="2800" kern="100" dirty="0">
                <a:effectLst/>
                <a:latin typeface="+mj-lt"/>
                <a:ea typeface="Calibri" panose="020F0502020204030204" pitchFamily="34" charset="0"/>
                <a:cs typeface="Times New Roman" panose="02020603050405020304" pitchFamily="18" charset="0"/>
              </a:rPr>
              <a:t>)</a:t>
            </a:r>
          </a:p>
          <a:p>
            <a:pPr marL="0" marR="0" indent="0" algn="l">
              <a:lnSpc>
                <a:spcPct val="160000"/>
              </a:lnSpc>
              <a:spcBef>
                <a:spcPts val="0"/>
              </a:spcBef>
              <a:spcAft>
                <a:spcPts val="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b="1" kern="0" dirty="0">
                <a:effectLst/>
                <a:latin typeface="+mj-lt"/>
                <a:ea typeface="Times New Roman" panose="02020603050405020304" pitchFamily="18" charset="0"/>
                <a:cs typeface="Times New Roman" panose="02020603050405020304" pitchFamily="18" charset="0"/>
              </a:rPr>
              <a:t>View the structure of the dataset</a:t>
            </a:r>
            <a:endParaRPr lang="en-US" sz="2800" b="1" kern="100" dirty="0">
              <a:effectLst/>
              <a:latin typeface="+mj-lt"/>
              <a:ea typeface="Calibri" panose="020F0502020204030204" pitchFamily="34" charset="0"/>
              <a:cs typeface="Times New Roman" panose="02020603050405020304" pitchFamily="18" charset="0"/>
            </a:endParaRPr>
          </a:p>
          <a:p>
            <a:pPr marL="0" marR="0" algn="l">
              <a:lnSpc>
                <a:spcPct val="160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800" kern="0" dirty="0">
                <a:effectLst/>
                <a:latin typeface="+mj-lt"/>
                <a:ea typeface="Times New Roman" panose="02020603050405020304" pitchFamily="18" charset="0"/>
                <a:cs typeface="Times New Roman" panose="02020603050405020304" pitchFamily="18" charset="0"/>
              </a:rPr>
              <a:t>str(</a:t>
            </a:r>
            <a:r>
              <a:rPr lang="en-US" sz="2800" kern="0" dirty="0" err="1">
                <a:latin typeface="+mj-lt"/>
                <a:ea typeface="Times New Roman" panose="02020603050405020304" pitchFamily="18" charset="0"/>
                <a:cs typeface="Times New Roman" panose="02020603050405020304" pitchFamily="18" charset="0"/>
              </a:rPr>
              <a:t>htn_dat</a:t>
            </a:r>
            <a:r>
              <a:rPr lang="en-US" sz="2800" kern="0" dirty="0">
                <a:effectLst/>
                <a:latin typeface="+mj-lt"/>
                <a:ea typeface="Times New Roman" panose="02020603050405020304" pitchFamily="18" charset="0"/>
                <a:cs typeface="Times New Roman" panose="02020603050405020304" pitchFamily="18" charset="0"/>
              </a:rPr>
              <a:t>)</a:t>
            </a:r>
            <a:endParaRPr lang="en-US" sz="2800" kern="100" dirty="0">
              <a:effectLst/>
              <a:latin typeface="+mj-lt"/>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369117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A3BA-7ABE-79C6-9F48-8868B2C25934}"/>
              </a:ext>
            </a:extLst>
          </p:cNvPr>
          <p:cNvSpPr>
            <a:spLocks noGrp="1"/>
          </p:cNvSpPr>
          <p:nvPr>
            <p:ph type="title"/>
          </p:nvPr>
        </p:nvSpPr>
        <p:spPr>
          <a:xfrm>
            <a:off x="677334" y="152400"/>
            <a:ext cx="11135438" cy="751367"/>
          </a:xfrm>
        </p:spPr>
        <p:txBody>
          <a:bodyPr/>
          <a:lstStyle/>
          <a:p>
            <a:r>
              <a:rPr lang="en-US" sz="36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Best Practices in Data Collection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8BBF71-849F-D1C0-1ED9-08C319F03B87}"/>
              </a:ext>
            </a:extLst>
          </p:cNvPr>
          <p:cNvSpPr>
            <a:spLocks noGrp="1"/>
          </p:cNvSpPr>
          <p:nvPr>
            <p:ph idx="1"/>
          </p:nvPr>
        </p:nvSpPr>
        <p:spPr>
          <a:xfrm>
            <a:off x="677333" y="765545"/>
            <a:ext cx="11273661" cy="3593804"/>
          </a:xfrm>
        </p:spPr>
        <p:txBody>
          <a:bodyPr>
            <a:normAutofit/>
          </a:bodyPr>
          <a:lstStyle/>
          <a:p>
            <a:pPr marR="0" lvl="0" algn="l">
              <a:spcBef>
                <a:spcPts val="0"/>
              </a:spcBef>
              <a:spcAft>
                <a:spcPts val="800"/>
              </a:spcAft>
              <a:buSzPts val="1000"/>
              <a:buFont typeface="Wingdings" panose="05000000000000000000" pitchFamily="2" charset="2"/>
              <a:buChar char="v"/>
              <a:tabLst>
                <a:tab pos="457200" algn="l"/>
              </a:tabLst>
            </a:pPr>
            <a:r>
              <a:rPr lang="en-US" sz="2400" kern="0" dirty="0">
                <a:solidFill>
                  <a:schemeClr val="tx1"/>
                </a:solidFill>
                <a:effectLst/>
                <a:latin typeface="Trebuchet MS (Body)"/>
                <a:ea typeface="Times New Roman" panose="02020603050405020304" pitchFamily="18" charset="0"/>
                <a:cs typeface="Times New Roman" panose="02020603050405020304" pitchFamily="18" charset="0"/>
              </a:rPr>
              <a:t>Ensure data privacy and ethical considerations (especially with sensitive data).</a:t>
            </a:r>
            <a:endParaRPr lang="en-US" sz="2400" kern="100" dirty="0">
              <a:solidFill>
                <a:schemeClr val="tx1"/>
              </a:solidFill>
              <a:effectLst/>
              <a:latin typeface="Trebuchet MS (Body)"/>
              <a:ea typeface="Calibri" panose="020F0502020204030204" pitchFamily="34" charset="0"/>
              <a:cs typeface="Times New Roman" panose="02020603050405020304" pitchFamily="18" charset="0"/>
            </a:endParaRPr>
          </a:p>
          <a:p>
            <a:pPr marR="0" lvl="0" algn="l">
              <a:spcBef>
                <a:spcPts val="0"/>
              </a:spcBef>
              <a:spcAft>
                <a:spcPts val="800"/>
              </a:spcAft>
              <a:buSzPts val="1000"/>
              <a:buFont typeface="Wingdings" panose="05000000000000000000" pitchFamily="2" charset="2"/>
              <a:buChar char="v"/>
              <a:tabLst>
                <a:tab pos="457200" algn="l"/>
              </a:tabLst>
            </a:pPr>
            <a:r>
              <a:rPr lang="en-US" sz="2400" kern="0" dirty="0">
                <a:solidFill>
                  <a:schemeClr val="tx1"/>
                </a:solidFill>
                <a:effectLst/>
                <a:latin typeface="Trebuchet MS (Body)"/>
                <a:ea typeface="Times New Roman" panose="02020603050405020304" pitchFamily="18" charset="0"/>
                <a:cs typeface="Times New Roman" panose="02020603050405020304" pitchFamily="18" charset="0"/>
              </a:rPr>
              <a:t>Validate data quality: check for completeness, consistency, and accuracy.</a:t>
            </a:r>
            <a:endParaRPr lang="en-US" sz="2400" kern="100" dirty="0">
              <a:solidFill>
                <a:schemeClr val="tx1"/>
              </a:solidFill>
              <a:effectLst/>
              <a:latin typeface="Trebuchet MS (Body)"/>
              <a:ea typeface="Calibri" panose="020F0502020204030204" pitchFamily="34" charset="0"/>
              <a:cs typeface="Times New Roman" panose="02020603050405020304" pitchFamily="18" charset="0"/>
            </a:endParaRPr>
          </a:p>
          <a:p>
            <a:pPr marR="0" lvl="0" algn="l">
              <a:spcBef>
                <a:spcPts val="0"/>
              </a:spcBef>
              <a:spcAft>
                <a:spcPts val="800"/>
              </a:spcAft>
              <a:buSzPts val="1000"/>
              <a:buFont typeface="Wingdings" panose="05000000000000000000" pitchFamily="2" charset="2"/>
              <a:buChar char="v"/>
              <a:tabLst>
                <a:tab pos="457200" algn="l"/>
              </a:tabLst>
            </a:pPr>
            <a:r>
              <a:rPr lang="en-US" sz="2400" kern="0" dirty="0">
                <a:solidFill>
                  <a:schemeClr val="tx1"/>
                </a:solidFill>
                <a:effectLst/>
                <a:latin typeface="Trebuchet MS (Body)"/>
                <a:ea typeface="Times New Roman" panose="02020603050405020304" pitchFamily="18" charset="0"/>
                <a:cs typeface="Times New Roman" panose="02020603050405020304" pitchFamily="18" charset="0"/>
              </a:rPr>
              <a:t>Ensure data is in a machine-readable format (CSV, Excel, JSON, etc.).</a:t>
            </a:r>
            <a:endParaRPr lang="en-US" sz="2400" kern="100" dirty="0">
              <a:solidFill>
                <a:schemeClr val="tx1"/>
              </a:solidFill>
              <a:effectLst/>
              <a:latin typeface="Trebuchet MS (Body)"/>
              <a:ea typeface="Calibri" panose="020F0502020204030204" pitchFamily="34" charset="0"/>
              <a:cs typeface="Times New Roman" panose="02020603050405020304" pitchFamily="18" charset="0"/>
            </a:endParaRPr>
          </a:p>
          <a:p>
            <a:pPr marL="0" indent="0">
              <a:buNone/>
            </a:pPr>
            <a:r>
              <a:rPr lang="en-US" sz="2800" kern="0" dirty="0">
                <a:solidFill>
                  <a:schemeClr val="tx1"/>
                </a:solidFill>
                <a:effectLst/>
                <a:latin typeface="Trebuchet MS (Body)"/>
                <a:ea typeface="Times New Roman" panose="02020603050405020304" pitchFamily="18" charset="0"/>
                <a:cs typeface="Times New Roman" panose="02020603050405020304" pitchFamily="18" charset="0"/>
              </a:rPr>
              <a:t>Once data is collected, the next step is </a:t>
            </a:r>
            <a:r>
              <a:rPr lang="en-US" sz="2800" b="1" kern="0" dirty="0">
                <a:solidFill>
                  <a:schemeClr val="tx1"/>
                </a:solidFill>
                <a:effectLst/>
                <a:latin typeface="Trebuchet MS (Body)"/>
                <a:ea typeface="Times New Roman" panose="02020603050405020304" pitchFamily="18" charset="0"/>
                <a:cs typeface="Times New Roman" panose="02020603050405020304" pitchFamily="18" charset="0"/>
              </a:rPr>
              <a:t>data preparation</a:t>
            </a:r>
            <a:r>
              <a:rPr lang="en-US" sz="2800" kern="0" dirty="0">
                <a:solidFill>
                  <a:schemeClr val="tx1"/>
                </a:solidFill>
                <a:effectLst/>
                <a:latin typeface="Trebuchet MS (Body)"/>
                <a:ea typeface="Times New Roman" panose="02020603050405020304" pitchFamily="18" charset="0"/>
                <a:cs typeface="Times New Roman" panose="02020603050405020304" pitchFamily="18" charset="0"/>
              </a:rPr>
              <a:t>, where you clean and structure the data for modeling. Let me know when you're ready for notes on that section.</a:t>
            </a:r>
            <a:endParaRPr lang="en-US" sz="2800" kern="100" dirty="0">
              <a:solidFill>
                <a:schemeClr val="tx1"/>
              </a:solidFill>
              <a:effectLst/>
              <a:latin typeface="Trebuchet MS (Body)"/>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079210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98AD4-D5B8-0231-E7A2-EAC616BBF9C1}"/>
              </a:ext>
            </a:extLst>
          </p:cNvPr>
          <p:cNvSpPr>
            <a:spLocks noGrp="1"/>
          </p:cNvSpPr>
          <p:nvPr>
            <p:ph type="title"/>
          </p:nvPr>
        </p:nvSpPr>
        <p:spPr>
          <a:xfrm>
            <a:off x="677333" y="237461"/>
            <a:ext cx="10965317" cy="772633"/>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98D41628-2E11-E3F1-E52D-7B1AAE8640A5}"/>
              </a:ext>
            </a:extLst>
          </p:cNvPr>
          <p:cNvSpPr>
            <a:spLocks noGrp="1"/>
          </p:cNvSpPr>
          <p:nvPr>
            <p:ph idx="1"/>
          </p:nvPr>
        </p:nvSpPr>
        <p:spPr>
          <a:xfrm>
            <a:off x="180753" y="1180215"/>
            <a:ext cx="11802139" cy="5440324"/>
          </a:xfrm>
        </p:spPr>
        <p:txBody>
          <a:bodyPr>
            <a:normAutofit fontScale="92500"/>
          </a:bodyPr>
          <a:lstStyle/>
          <a:p>
            <a:pPr marL="0" indent="0">
              <a:buNone/>
            </a:pPr>
            <a:r>
              <a:rPr lang="en-US" sz="2400" dirty="0"/>
              <a:t>Proper data preparation is essential for building accurate and reliable ensemble models such as Random Forests, AdaBoost, and </a:t>
            </a:r>
            <a:r>
              <a:rPr lang="en-US" sz="2400" dirty="0" err="1"/>
              <a:t>XGBoost</a:t>
            </a:r>
            <a:r>
              <a:rPr lang="en-US" sz="2400" dirty="0"/>
              <a:t>. This stage involves cleaning, transforming, and structuring data to ensure it's ready for model training and evaluation.</a:t>
            </a:r>
          </a:p>
          <a:p>
            <a:r>
              <a:rPr lang="en-US" sz="2400" b="1" dirty="0"/>
              <a:t>Step 1: Handling Missing Values</a:t>
            </a:r>
          </a:p>
          <a:p>
            <a:pPr>
              <a:buFont typeface="Wingdings" panose="05000000000000000000" pitchFamily="2" charset="2"/>
              <a:buChar char="v"/>
            </a:pPr>
            <a:r>
              <a:rPr lang="en-US" sz="2400" dirty="0"/>
              <a:t>Identify and address any missing data within the dataset.</a:t>
            </a:r>
          </a:p>
          <a:p>
            <a:pPr>
              <a:buFont typeface="Wingdings" panose="05000000000000000000" pitchFamily="2" charset="2"/>
              <a:buChar char="v"/>
            </a:pPr>
            <a:r>
              <a:rPr lang="en-US" sz="2400" dirty="0"/>
              <a:t>Common strategies include deletion (if missingness is minimal) or imputation using the mean, median, or predictive methods.</a:t>
            </a:r>
          </a:p>
          <a:p>
            <a:pPr>
              <a:buFont typeface="Wingdings" panose="05000000000000000000" pitchFamily="2" charset="2"/>
              <a:buChar char="v"/>
            </a:pPr>
            <a:r>
              <a:rPr lang="en-US" sz="2400" dirty="0"/>
              <a:t>Proper handling of missing values prevents biased models and ensures algorithm stability.</a:t>
            </a:r>
          </a:p>
          <a:p>
            <a:r>
              <a:rPr lang="en-US" sz="2400" b="1" dirty="0"/>
              <a:t>Step 2: Removing Zero-Variance and Near-Zero Variance Predictors</a:t>
            </a:r>
          </a:p>
          <a:p>
            <a:pPr>
              <a:buFont typeface="Wingdings" panose="05000000000000000000" pitchFamily="2" charset="2"/>
              <a:buChar char="v"/>
            </a:pPr>
            <a:r>
              <a:rPr lang="en-US" sz="2400" dirty="0"/>
              <a:t>Predictors with little or no variability provide no meaningful information for classification or regression tasks.</a:t>
            </a:r>
          </a:p>
          <a:p>
            <a:pPr>
              <a:buFont typeface="Wingdings" panose="05000000000000000000" pitchFamily="2" charset="2"/>
              <a:buChar char="v"/>
            </a:pPr>
            <a:r>
              <a:rPr lang="en-US" sz="2400" dirty="0"/>
              <a:t>These variables can be removed to reduce computational cost and improve model interpretability.</a:t>
            </a:r>
          </a:p>
          <a:p>
            <a:pPr marL="0" indent="0">
              <a:buNone/>
            </a:pPr>
            <a:endParaRPr lang="en-US" dirty="0"/>
          </a:p>
        </p:txBody>
      </p:sp>
    </p:spTree>
    <p:extLst>
      <p:ext uri="{BB962C8B-B14F-4D97-AF65-F5344CB8AC3E}">
        <p14:creationId xmlns:p14="http://schemas.microsoft.com/office/powerpoint/2010/main" val="3603294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AEB4-8BAA-CDAA-5B17-CDE960054A92}"/>
              </a:ext>
            </a:extLst>
          </p:cNvPr>
          <p:cNvSpPr>
            <a:spLocks noGrp="1"/>
          </p:cNvSpPr>
          <p:nvPr>
            <p:ph type="title"/>
          </p:nvPr>
        </p:nvSpPr>
        <p:spPr>
          <a:xfrm>
            <a:off x="677334" y="0"/>
            <a:ext cx="11018480" cy="698205"/>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D815BCCA-FEDA-677F-5E1A-7A72913F9854}"/>
              </a:ext>
            </a:extLst>
          </p:cNvPr>
          <p:cNvSpPr>
            <a:spLocks noGrp="1"/>
          </p:cNvSpPr>
          <p:nvPr>
            <p:ph idx="1"/>
          </p:nvPr>
        </p:nvSpPr>
        <p:spPr>
          <a:xfrm>
            <a:off x="106327" y="698205"/>
            <a:ext cx="11780874" cy="6042837"/>
          </a:xfrm>
        </p:spPr>
        <p:txBody>
          <a:bodyPr>
            <a:normAutofit fontScale="92500" lnSpcReduction="10000"/>
          </a:bodyPr>
          <a:lstStyle/>
          <a:p>
            <a:r>
              <a:rPr lang="en-US" sz="2400" b="1" dirty="0"/>
              <a:t>Step 3: Feature Scaling</a:t>
            </a:r>
          </a:p>
          <a:p>
            <a:pPr>
              <a:buFont typeface="Wingdings" panose="05000000000000000000" pitchFamily="2" charset="2"/>
              <a:buChar char="v"/>
            </a:pPr>
            <a:r>
              <a:rPr lang="en-US" sz="2400" dirty="0"/>
              <a:t>Standardization (zero mean, unit variance) or normalization (rescaling to a fixed range) ensures all features contribute equally.</a:t>
            </a:r>
          </a:p>
          <a:p>
            <a:pPr>
              <a:buFont typeface="Wingdings" panose="05000000000000000000" pitchFamily="2" charset="2"/>
              <a:buChar char="v"/>
            </a:pPr>
            <a:r>
              <a:rPr lang="en-US" sz="2400" dirty="0"/>
              <a:t>While tree-based models like Random Forests are less sensitive to scaling, boosting algorithms (like </a:t>
            </a:r>
            <a:r>
              <a:rPr lang="en-US" sz="2400" dirty="0" err="1"/>
              <a:t>XGBoost</a:t>
            </a:r>
            <a:r>
              <a:rPr lang="en-US" sz="2400" dirty="0"/>
              <a:t>) often benefit significantly.</a:t>
            </a:r>
          </a:p>
          <a:p>
            <a:r>
              <a:rPr lang="en-US" sz="2400" b="1" dirty="0"/>
              <a:t>Step 4: Encoding Categorical Variables</a:t>
            </a:r>
          </a:p>
          <a:p>
            <a:pPr>
              <a:buFont typeface="Wingdings" panose="05000000000000000000" pitchFamily="2" charset="2"/>
              <a:buChar char="v"/>
            </a:pPr>
            <a:r>
              <a:rPr lang="en-US" sz="2400" dirty="0"/>
              <a:t>Ensure that the target variable is properly encoded as a factor (for classification) or numeric (for regression).</a:t>
            </a:r>
          </a:p>
          <a:p>
            <a:pPr>
              <a:buFont typeface="Wingdings" panose="05000000000000000000" pitchFamily="2" charset="2"/>
              <a:buChar char="v"/>
            </a:pPr>
            <a:r>
              <a:rPr lang="en-US" sz="2400" dirty="0"/>
              <a:t>For input variables, use encoding techniques such as label encoding or one-hot encoding where applicable.</a:t>
            </a:r>
          </a:p>
          <a:p>
            <a:r>
              <a:rPr lang="en-US" sz="2400" b="1" dirty="0"/>
              <a:t>Step 5: Outlier Detection and Treatment</a:t>
            </a:r>
          </a:p>
          <a:p>
            <a:pPr>
              <a:buFont typeface="Wingdings" panose="05000000000000000000" pitchFamily="2" charset="2"/>
              <a:buChar char="v"/>
            </a:pPr>
            <a:r>
              <a:rPr lang="en-US" sz="2400" dirty="0"/>
              <a:t>Outliers can distort model learning, especially in boosting techniques that are sensitive to noise.</a:t>
            </a:r>
          </a:p>
          <a:p>
            <a:pPr>
              <a:buFont typeface="Wingdings" panose="05000000000000000000" pitchFamily="2" charset="2"/>
              <a:buChar char="v"/>
            </a:pPr>
            <a:r>
              <a:rPr lang="en-US" sz="2400" dirty="0"/>
              <a:t>Identify outliers using visual tools (e.g., boxplots) or statistical rules (e.g., IQR), and treat them through methods like trimming, capping, or transformation.</a:t>
            </a:r>
          </a:p>
          <a:p>
            <a:endParaRPr lang="en-US" dirty="0"/>
          </a:p>
        </p:txBody>
      </p:sp>
    </p:spTree>
    <p:extLst>
      <p:ext uri="{BB962C8B-B14F-4D97-AF65-F5344CB8AC3E}">
        <p14:creationId xmlns:p14="http://schemas.microsoft.com/office/powerpoint/2010/main" val="38018739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57652-79D8-18ED-3589-FB149716DC69}"/>
              </a:ext>
            </a:extLst>
          </p:cNvPr>
          <p:cNvSpPr>
            <a:spLocks noGrp="1"/>
          </p:cNvSpPr>
          <p:nvPr>
            <p:ph type="title"/>
          </p:nvPr>
        </p:nvSpPr>
        <p:spPr>
          <a:xfrm>
            <a:off x="677333" y="129066"/>
            <a:ext cx="11337457" cy="687572"/>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Preparation</a:t>
            </a:r>
          </a:p>
        </p:txBody>
      </p:sp>
      <p:sp>
        <p:nvSpPr>
          <p:cNvPr id="3" name="Content Placeholder 2">
            <a:extLst>
              <a:ext uri="{FF2B5EF4-FFF2-40B4-BE49-F238E27FC236}">
                <a16:creationId xmlns:a16="http://schemas.microsoft.com/office/drawing/2014/main" id="{7067A808-3666-4BEE-080D-C1B15178E0C7}"/>
              </a:ext>
            </a:extLst>
          </p:cNvPr>
          <p:cNvSpPr>
            <a:spLocks noGrp="1"/>
          </p:cNvSpPr>
          <p:nvPr>
            <p:ph idx="1"/>
          </p:nvPr>
        </p:nvSpPr>
        <p:spPr>
          <a:xfrm>
            <a:off x="177210" y="669852"/>
            <a:ext cx="11837580" cy="6059082"/>
          </a:xfrm>
        </p:spPr>
        <p:txBody>
          <a:bodyPr>
            <a:normAutofit/>
          </a:bodyPr>
          <a:lstStyle/>
          <a:p>
            <a:r>
              <a:rPr lang="en-US" sz="3000" b="1" dirty="0"/>
              <a:t>Step 6: Addressing Class Imbalance (If Applicable)</a:t>
            </a:r>
          </a:p>
          <a:p>
            <a:pPr>
              <a:buFont typeface="Wingdings" panose="05000000000000000000" pitchFamily="2" charset="2"/>
              <a:buChar char="v"/>
            </a:pPr>
            <a:r>
              <a:rPr lang="en-US" sz="3000" dirty="0"/>
              <a:t>When one class significantly outweighs others, the model may become biased.</a:t>
            </a:r>
          </a:p>
          <a:p>
            <a:pPr>
              <a:buFont typeface="Wingdings" panose="05000000000000000000" pitchFamily="2" charset="2"/>
              <a:buChar char="v"/>
            </a:pPr>
            <a:r>
              <a:rPr lang="en-US" sz="3000" dirty="0"/>
              <a:t>Apply resampling techniques such as over-sampling the minority class, under-sampling the majority class, or using synthetic methods like SMOTE.</a:t>
            </a:r>
          </a:p>
          <a:p>
            <a:r>
              <a:rPr lang="en-US" sz="3000" b="1" dirty="0"/>
              <a:t>Step 7: Feature Engineering (Optional)</a:t>
            </a:r>
          </a:p>
          <a:p>
            <a:pPr>
              <a:buFont typeface="Wingdings" panose="05000000000000000000" pitchFamily="2" charset="2"/>
              <a:buChar char="v"/>
            </a:pPr>
            <a:r>
              <a:rPr lang="en-US" sz="3000" dirty="0"/>
              <a:t>Create new features from existing ones to improve model performance.</a:t>
            </a:r>
          </a:p>
          <a:p>
            <a:pPr>
              <a:buFont typeface="Wingdings" panose="05000000000000000000" pitchFamily="2" charset="2"/>
              <a:buChar char="v"/>
            </a:pPr>
            <a:r>
              <a:rPr lang="en-US" sz="3000" dirty="0"/>
              <a:t>Techniques include interaction terms, polynomial features, log transformations, or domain-specific indicators.</a:t>
            </a:r>
          </a:p>
          <a:p>
            <a:endParaRPr lang="en-US" dirty="0"/>
          </a:p>
        </p:txBody>
      </p:sp>
    </p:spTree>
    <p:extLst>
      <p:ext uri="{BB962C8B-B14F-4D97-AF65-F5344CB8AC3E}">
        <p14:creationId xmlns:p14="http://schemas.microsoft.com/office/powerpoint/2010/main" val="3864688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ACD21-8388-9A7C-18F4-8BF5ADF6E777}"/>
              </a:ext>
            </a:extLst>
          </p:cNvPr>
          <p:cNvSpPr>
            <a:spLocks noGrp="1"/>
          </p:cNvSpPr>
          <p:nvPr>
            <p:ph type="title"/>
          </p:nvPr>
        </p:nvSpPr>
        <p:spPr>
          <a:xfrm>
            <a:off x="677334" y="223284"/>
            <a:ext cx="11092908" cy="559981"/>
          </a:xfrm>
        </p:spPr>
        <p:txBody>
          <a:bodyPr>
            <a:normAutofit fontScale="90000"/>
          </a:bodyPr>
          <a:lstStyle/>
          <a:p>
            <a:pPr algn="ctr"/>
            <a:r>
              <a:rPr lang="en-US" b="1" dirty="0">
                <a:solidFill>
                  <a:schemeClr val="tx1"/>
                </a:solidFill>
                <a:latin typeface="Times New Roman" panose="02020603050405020304" pitchFamily="18" charset="0"/>
                <a:cs typeface="Times New Roman" panose="02020603050405020304" pitchFamily="18" charset="0"/>
              </a:rPr>
              <a:t>TRAIN AND TEST SPLIT</a:t>
            </a:r>
            <a:br>
              <a:rPr lang="en-US" b="1" dirty="0"/>
            </a:br>
            <a:endParaRPr lang="en-US" dirty="0"/>
          </a:p>
        </p:txBody>
      </p:sp>
      <p:sp>
        <p:nvSpPr>
          <p:cNvPr id="3" name="Content Placeholder 2">
            <a:extLst>
              <a:ext uri="{FF2B5EF4-FFF2-40B4-BE49-F238E27FC236}">
                <a16:creationId xmlns:a16="http://schemas.microsoft.com/office/drawing/2014/main" id="{2AF2B527-B478-BB4F-4197-6CBC7E84FC40}"/>
              </a:ext>
            </a:extLst>
          </p:cNvPr>
          <p:cNvSpPr>
            <a:spLocks noGrp="1"/>
          </p:cNvSpPr>
          <p:nvPr>
            <p:ph idx="1"/>
          </p:nvPr>
        </p:nvSpPr>
        <p:spPr>
          <a:xfrm>
            <a:off x="677334" y="783265"/>
            <a:ext cx="11241764" cy="5851451"/>
          </a:xfrm>
        </p:spPr>
        <p:txBody>
          <a:bodyPr>
            <a:normAutofit lnSpcReduction="10000"/>
          </a:bodyPr>
          <a:lstStyle/>
          <a:p>
            <a:pPr marL="0" indent="0">
              <a:lnSpc>
                <a:spcPct val="110000"/>
              </a:lnSpc>
              <a:buNone/>
            </a:pPr>
            <a:r>
              <a:rPr lang="en-US" sz="2800" dirty="0"/>
              <a:t>The </a:t>
            </a:r>
            <a:r>
              <a:rPr lang="en-US" sz="2800" b="1" dirty="0"/>
              <a:t>train-test split</a:t>
            </a:r>
            <a:r>
              <a:rPr lang="en-US" sz="2800" dirty="0"/>
              <a:t> is a fundamental step in the machine learning workflow. It involves dividing the dataset into two subsets: one for training the model and another for testing or validating its performance.</a:t>
            </a:r>
          </a:p>
          <a:p>
            <a:pPr marL="0" marR="0" indent="0" algn="l">
              <a:lnSpc>
                <a:spcPct val="110000"/>
              </a:lnSpc>
              <a:spcBef>
                <a:spcPts val="0"/>
              </a:spcBef>
              <a:spcAft>
                <a:spcPts val="800"/>
              </a:spcAft>
              <a:buNone/>
            </a:pPr>
            <a:endParaRPr lang="en-US" sz="2800" b="1" kern="0" dirty="0">
              <a:effectLst/>
              <a:ea typeface="Times New Roman" panose="02020603050405020304" pitchFamily="18" charset="0"/>
              <a:cs typeface="Times New Roman" panose="02020603050405020304" pitchFamily="18" charset="0"/>
            </a:endParaRPr>
          </a:p>
          <a:p>
            <a:pPr marL="0" marR="0" indent="0" algn="l">
              <a:lnSpc>
                <a:spcPct val="110000"/>
              </a:lnSpc>
              <a:spcBef>
                <a:spcPts val="0"/>
              </a:spcBef>
              <a:spcAft>
                <a:spcPts val="800"/>
              </a:spcAft>
              <a:buNone/>
            </a:pPr>
            <a:r>
              <a:rPr lang="en-US" sz="2800" b="1" kern="0" dirty="0">
                <a:effectLst/>
                <a:ea typeface="Times New Roman" panose="02020603050405020304" pitchFamily="18" charset="0"/>
                <a:cs typeface="Times New Roman" panose="02020603050405020304" pitchFamily="18" charset="0"/>
              </a:rPr>
              <a:t>Typical Split Ratios</a:t>
            </a:r>
            <a:endParaRPr lang="en-US" sz="2800" kern="100" dirty="0">
              <a:effectLst/>
              <a:ea typeface="Calibri" panose="020F0502020204030204" pitchFamily="34" charset="0"/>
              <a:cs typeface="Times New Roman" panose="02020603050405020304" pitchFamily="18" charset="0"/>
            </a:endParaRPr>
          </a:p>
          <a:p>
            <a:pPr marR="0" lvl="0">
              <a:lnSpc>
                <a:spcPct val="110000"/>
              </a:lnSpc>
              <a:tabLst>
                <a:tab pos="457200" algn="l"/>
              </a:tabLst>
            </a:pPr>
            <a:r>
              <a:rPr lang="en-US" sz="2800" dirty="0"/>
              <a:t>70/30: 70% training, 30% testing (commonly used).</a:t>
            </a:r>
          </a:p>
          <a:p>
            <a:pPr marR="0" lvl="0">
              <a:lnSpc>
                <a:spcPct val="110000"/>
              </a:lnSpc>
              <a:tabLst>
                <a:tab pos="457200" algn="l"/>
              </a:tabLst>
            </a:pPr>
            <a:r>
              <a:rPr lang="en-US" sz="2800" dirty="0"/>
              <a:t>80/20: Slightly more training data for better model learning.</a:t>
            </a:r>
          </a:p>
          <a:p>
            <a:pPr marR="0" lvl="0">
              <a:lnSpc>
                <a:spcPct val="110000"/>
              </a:lnSpc>
              <a:tabLst>
                <a:tab pos="457200" algn="l"/>
              </a:tabLst>
            </a:pPr>
            <a:r>
              <a:rPr lang="en-US" sz="2800" dirty="0"/>
              <a:t>60/40 or 90/10: Depending on data size and use case.</a:t>
            </a:r>
          </a:p>
          <a:p>
            <a:pPr marL="0" indent="0">
              <a:lnSpc>
                <a:spcPct val="110000"/>
              </a:lnSpc>
              <a:buNone/>
            </a:pPr>
            <a:r>
              <a:rPr lang="en-US" sz="2800" dirty="0"/>
              <a:t>For small datasets, preserving enough test data is crucial for valid evaluation</a:t>
            </a:r>
          </a:p>
          <a:p>
            <a:endParaRPr lang="en-US" dirty="0"/>
          </a:p>
        </p:txBody>
      </p:sp>
    </p:spTree>
    <p:extLst>
      <p:ext uri="{BB962C8B-B14F-4D97-AF65-F5344CB8AC3E}">
        <p14:creationId xmlns:p14="http://schemas.microsoft.com/office/powerpoint/2010/main" val="3258529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6CD4-2A6D-6F9E-A7B2-7D32E2BB914F}"/>
              </a:ext>
            </a:extLst>
          </p:cNvPr>
          <p:cNvSpPr>
            <a:spLocks noGrp="1"/>
          </p:cNvSpPr>
          <p:nvPr>
            <p:ph type="title"/>
          </p:nvPr>
        </p:nvSpPr>
        <p:spPr>
          <a:xfrm>
            <a:off x="677333" y="173665"/>
            <a:ext cx="11199233" cy="642973"/>
          </a:xfrm>
        </p:spPr>
        <p:txBody>
          <a:bodyPr/>
          <a:lstStyle/>
          <a:p>
            <a:pPr algn="ctr"/>
            <a:r>
              <a:rPr lang="en-US" sz="36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Stratification (For Classification Tasks)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08F181-FC02-28EE-9722-3AAB97EECF20}"/>
              </a:ext>
            </a:extLst>
          </p:cNvPr>
          <p:cNvSpPr>
            <a:spLocks noGrp="1"/>
          </p:cNvSpPr>
          <p:nvPr>
            <p:ph idx="1"/>
          </p:nvPr>
        </p:nvSpPr>
        <p:spPr>
          <a:xfrm>
            <a:off x="677334" y="816639"/>
            <a:ext cx="11199232" cy="5867696"/>
          </a:xfrm>
        </p:spPr>
        <p:txBody>
          <a:bodyPr>
            <a:normAutofit fontScale="92500" lnSpcReduction="10000"/>
          </a:bodyPr>
          <a:lstStyle/>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Ensures that the </a:t>
            </a:r>
            <a:r>
              <a:rPr lang="en-US" sz="2400" b="1" kern="0" dirty="0">
                <a:effectLst/>
                <a:ea typeface="Times New Roman" panose="02020603050405020304" pitchFamily="18" charset="0"/>
                <a:cs typeface="Times New Roman" panose="02020603050405020304" pitchFamily="18" charset="0"/>
              </a:rPr>
              <a:t>proportion of classes</a:t>
            </a:r>
            <a:r>
              <a:rPr lang="en-US" sz="2400" kern="0" dirty="0">
                <a:effectLst/>
                <a:ea typeface="Times New Roman" panose="02020603050405020304" pitchFamily="18" charset="0"/>
                <a:cs typeface="Times New Roman" panose="02020603050405020304" pitchFamily="18" charset="0"/>
              </a:rPr>
              <a:t> in the training and testing sets reflects the original dataset.</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Prevents bias caused by class imbalance during splitting.</a:t>
            </a:r>
          </a:p>
          <a:p>
            <a:pPr marL="0" marR="0" indent="0" algn="l">
              <a:lnSpc>
                <a:spcPct val="110000"/>
              </a:lnSpc>
              <a:spcBef>
                <a:spcPts val="0"/>
              </a:spcBef>
              <a:spcAft>
                <a:spcPts val="800"/>
              </a:spcAft>
              <a:buNone/>
            </a:pPr>
            <a:r>
              <a:rPr lang="en-US" sz="2400" b="1" kern="0" dirty="0">
                <a:effectLst/>
                <a:ea typeface="Times New Roman" panose="02020603050405020304" pitchFamily="18" charset="0"/>
                <a:cs typeface="Times New Roman" panose="02020603050405020304" pitchFamily="18" charset="0"/>
              </a:rPr>
              <a:t>Best Practices</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Perform train-test split </a:t>
            </a:r>
            <a:r>
              <a:rPr lang="en-US" sz="2400" b="1" kern="0" dirty="0">
                <a:effectLst/>
                <a:ea typeface="Times New Roman" panose="02020603050405020304" pitchFamily="18" charset="0"/>
                <a:cs typeface="Times New Roman" panose="02020603050405020304" pitchFamily="18" charset="0"/>
              </a:rPr>
              <a:t>after</a:t>
            </a:r>
            <a:r>
              <a:rPr lang="en-US" sz="2400" kern="0" dirty="0">
                <a:effectLst/>
                <a:ea typeface="Times New Roman" panose="02020603050405020304" pitchFamily="18" charset="0"/>
                <a:cs typeface="Times New Roman" panose="02020603050405020304" pitchFamily="18" charset="0"/>
              </a:rPr>
              <a:t> cleaning and preprocessing the data.</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Set a </a:t>
            </a:r>
            <a:r>
              <a:rPr lang="en-US" sz="2400" b="1" kern="0" dirty="0">
                <a:effectLst/>
                <a:ea typeface="Times New Roman" panose="02020603050405020304" pitchFamily="18" charset="0"/>
                <a:cs typeface="Times New Roman" panose="02020603050405020304" pitchFamily="18" charset="0"/>
              </a:rPr>
              <a:t>random seed</a:t>
            </a:r>
            <a:r>
              <a:rPr lang="en-US" sz="2400" kern="0" dirty="0">
                <a:effectLst/>
                <a:ea typeface="Times New Roman" panose="02020603050405020304" pitchFamily="18" charset="0"/>
                <a:cs typeface="Times New Roman" panose="02020603050405020304" pitchFamily="18" charset="0"/>
              </a:rPr>
              <a:t> for reproducibility.</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Avoid using test data during training to maintain model integrity.</a:t>
            </a:r>
            <a:endParaRPr lang="en-US" sz="2400" kern="100" dirty="0">
              <a:effectLst/>
              <a:ea typeface="Calibri" panose="020F0502020204030204" pitchFamily="34" charset="0"/>
              <a:cs typeface="Times New Roman" panose="02020603050405020304" pitchFamily="18" charset="0"/>
            </a:endParaRPr>
          </a:p>
          <a:p>
            <a:pPr>
              <a:lnSpc>
                <a:spcPct val="110000"/>
              </a:lnSpc>
            </a:pPr>
            <a:r>
              <a:rPr lang="en-US" sz="2400" kern="0" dirty="0">
                <a:effectLst/>
                <a:ea typeface="Times New Roman" panose="02020603050405020304" pitchFamily="18" charset="0"/>
              </a:rPr>
              <a:t>Ensure that the </a:t>
            </a:r>
            <a:r>
              <a:rPr lang="en-US" sz="2400" b="1" kern="0" dirty="0">
                <a:effectLst/>
                <a:ea typeface="Times New Roman" panose="02020603050405020304" pitchFamily="18" charset="0"/>
              </a:rPr>
              <a:t>test set remains untouched</a:t>
            </a:r>
            <a:r>
              <a:rPr lang="en-US" sz="2400" kern="0" dirty="0">
                <a:effectLst/>
                <a:ea typeface="Times New Roman" panose="02020603050405020304" pitchFamily="18" charset="0"/>
              </a:rPr>
              <a:t> until final model evaluation</a:t>
            </a:r>
          </a:p>
          <a:p>
            <a:pPr marL="0" indent="0">
              <a:lnSpc>
                <a:spcPct val="110000"/>
              </a:lnSpc>
              <a:buNone/>
            </a:pPr>
            <a:endParaRPr lang="en-US" sz="2400" b="1" kern="0" dirty="0">
              <a:effectLst/>
              <a:ea typeface="Times New Roman" panose="02020603050405020304" pitchFamily="18" charset="0"/>
              <a:cs typeface="Times New Roman" panose="02020603050405020304" pitchFamily="18" charset="0"/>
            </a:endParaRPr>
          </a:p>
          <a:p>
            <a:pPr marL="0" indent="0">
              <a:lnSpc>
                <a:spcPct val="110000"/>
              </a:lnSpc>
              <a:buNone/>
            </a:pPr>
            <a:r>
              <a:rPr lang="en-US" sz="2400" b="1" kern="0" dirty="0">
                <a:effectLst/>
                <a:ea typeface="Times New Roman" panose="02020603050405020304" pitchFamily="18" charset="0"/>
                <a:cs typeface="Times New Roman" panose="02020603050405020304" pitchFamily="18" charset="0"/>
              </a:rPr>
              <a:t>Limitations</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A single train-test split may not give a reliable estimate of model performance.</a:t>
            </a:r>
            <a:endParaRPr lang="en-US" sz="2400" kern="100" dirty="0">
              <a:effectLst/>
              <a:ea typeface="Calibri" panose="020F0502020204030204" pitchFamily="34" charset="0"/>
              <a:cs typeface="Times New Roman" panose="02020603050405020304" pitchFamily="18" charset="0"/>
            </a:endParaRPr>
          </a:p>
          <a:p>
            <a:pPr marR="0" lvl="0" algn="l">
              <a:lnSpc>
                <a:spcPct val="110000"/>
              </a:lnSpc>
              <a:spcBef>
                <a:spcPts val="0"/>
              </a:spcBef>
              <a:spcAft>
                <a:spcPts val="800"/>
              </a:spcAft>
              <a:buSzPts val="1000"/>
              <a:buFont typeface="Wingdings" panose="05000000000000000000" pitchFamily="2" charset="2"/>
              <a:buChar char="v"/>
              <a:tabLst>
                <a:tab pos="457200" algn="l"/>
              </a:tabLst>
            </a:pPr>
            <a:r>
              <a:rPr lang="en-US" sz="2400" kern="0" dirty="0">
                <a:effectLst/>
                <a:ea typeface="Times New Roman" panose="02020603050405020304" pitchFamily="18" charset="0"/>
                <a:cs typeface="Times New Roman" panose="02020603050405020304" pitchFamily="18" charset="0"/>
              </a:rPr>
              <a:t>Performance can vary depending on how the data is split — this is addressed in </a:t>
            </a:r>
            <a:r>
              <a:rPr lang="en-US" sz="2400" b="1" kern="0" dirty="0">
                <a:effectLst/>
                <a:ea typeface="Times New Roman" panose="02020603050405020304" pitchFamily="18" charset="0"/>
                <a:cs typeface="Times New Roman" panose="02020603050405020304" pitchFamily="18" charset="0"/>
              </a:rPr>
              <a:t>Cross-Validation</a:t>
            </a:r>
            <a:r>
              <a:rPr lang="en-US" sz="2400" kern="0" dirty="0">
                <a:effectLst/>
                <a:ea typeface="Times New Roman" panose="02020603050405020304" pitchFamily="18" charset="0"/>
                <a:cs typeface="Times New Roman" panose="02020603050405020304" pitchFamily="18" charset="0"/>
              </a:rPr>
              <a:t>, which is the next step.</a:t>
            </a:r>
            <a:endParaRPr lang="en-US" sz="2400" kern="100" dirty="0">
              <a:effectLst/>
              <a:ea typeface="Calibri" panose="020F0502020204030204" pitchFamily="34" charset="0"/>
              <a:cs typeface="Times New Roman" panose="02020603050405020304" pitchFamily="18" charset="0"/>
            </a:endParaRPr>
          </a:p>
          <a:p>
            <a:pPr>
              <a:lnSpc>
                <a:spcPct val="110000"/>
              </a:lnSpc>
            </a:pPr>
            <a:endParaRPr lang="en-US" sz="2400" kern="100" dirty="0">
              <a:effectLst/>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537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C3577-5B05-4A54-B213-743B9135B6B0}"/>
              </a:ext>
            </a:extLst>
          </p:cNvPr>
          <p:cNvSpPr>
            <a:spLocks noGrp="1"/>
          </p:cNvSpPr>
          <p:nvPr>
            <p:ph type="title"/>
          </p:nvPr>
        </p:nvSpPr>
        <p:spPr>
          <a:xfrm>
            <a:off x="677334" y="609600"/>
            <a:ext cx="8596668" cy="825795"/>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Cross-Validation Techniques</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A900BF-0905-4779-9EF4-EB06DDF18E87}"/>
              </a:ext>
            </a:extLst>
          </p:cNvPr>
          <p:cNvSpPr>
            <a:spLocks noGrp="1"/>
          </p:cNvSpPr>
          <p:nvPr>
            <p:ph idx="1"/>
          </p:nvPr>
        </p:nvSpPr>
        <p:spPr>
          <a:xfrm>
            <a:off x="677334" y="2160589"/>
            <a:ext cx="9952566" cy="3880773"/>
          </a:xfrm>
        </p:spPr>
        <p:txBody>
          <a:bodyPr>
            <a:normAutofit/>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Cross-validation is a statistical method used to estimate the skill of machine learning models. </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It is particularly useful when the dataset is small, as it helps ensure that the model is trained and tested multiple times on different subsets of the data.</a:t>
            </a:r>
          </a:p>
        </p:txBody>
      </p:sp>
    </p:spTree>
    <p:extLst>
      <p:ext uri="{BB962C8B-B14F-4D97-AF65-F5344CB8AC3E}">
        <p14:creationId xmlns:p14="http://schemas.microsoft.com/office/powerpoint/2010/main" val="42213281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4C0AA-C00E-4567-8EC3-A6315C3A12C1}"/>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K-Folds Cross Validation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E45CAE-AFB7-451F-939D-B31B7C6F23C7}"/>
                  </a:ext>
                </a:extLst>
              </p:cNvPr>
              <p:cNvSpPr>
                <a:spLocks noGrp="1"/>
              </p:cNvSpPr>
              <p:nvPr>
                <p:ph idx="1"/>
              </p:nvPr>
            </p:nvSpPr>
            <p:spPr>
              <a:xfrm>
                <a:off x="677333" y="2160589"/>
                <a:ext cx="10819341" cy="4087811"/>
              </a:xfrm>
            </p:spPr>
            <p:txBody>
              <a:bodyPr>
                <a:normAutofit fontScale="25000" lnSpcReduction="20000"/>
              </a:bodyPr>
              <a:lstStyle/>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For the K-Fold Cross Validation, assume that we have the dataset given as shown in equation below</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14:m>
                  <m:oMath xmlns:m="http://schemas.openxmlformats.org/officeDocument/2006/math">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d>
                          <m:d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e>
                        </m:d>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d>
                          <m:d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e>
                        </m:d>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d>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 </a:t>
                </a:r>
                <a14:m>
                  <m:oMath xmlns:m="http://schemas.openxmlformats.org/officeDocument/2006/math">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features and the </a:t>
                </a:r>
                <a14:m>
                  <m:oMath xmlns:m="http://schemas.openxmlformats.org/officeDocument/2006/math">
                    <m:sSub>
                      <m:sSubPr>
                        <m:ctrlP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corresponding label for the outcome for each observation </a:t>
                </a:r>
                <a:r>
                  <a:rPr lang="en-US" sz="80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80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where</a:t>
                </a: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iterations are done from </a:t>
                </a:r>
                <a14:m>
                  <m:oMath xmlns:m="http://schemas.openxmlformats.org/officeDocument/2006/math">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a:t>
                </a:r>
                <a14:m>
                  <m:oMath xmlns:m="http://schemas.openxmlformats.org/officeDocument/2006/math">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[19]. </a:t>
                </a: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approach, the k-fold CV error is given as shown in equation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14:m>
                  <m:oMath xmlns:m="http://schemas.openxmlformats.org/officeDocument/2006/math">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𝐾</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𝐹𝑜𝑙𝑑</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𝐶𝑉</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𝐸𝑟𝑟𝑜𝑟</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den>
                    </m:f>
                    <m:nary>
                      <m:naryPr>
                        <m:chr m:val="∑"/>
                        <m:limLoc m:val="undOv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m:t>
                        </m:r>
                      </m:sup>
                      <m:e>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nary>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14:m>
                  <m:oMath xmlns:m="http://schemas.openxmlformats.org/officeDocument/2006/math">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d>
                          <m:dPr>
                            <m:begChr m:val="|"/>
                            <m:endChr m:val="|"/>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d>
                      </m:den>
                    </m:f>
                    <m:nary>
                      <m:naryPr>
                        <m:chr m:val="∑"/>
                        <m:limLoc m:val="undOv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𝑗</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=1</m:t>
                        </m:r>
                      </m:sub>
                      <m:sup>
                        <m:d>
                          <m:dPr>
                            <m:begChr m:val="|"/>
                            <m:endChr m:val="|"/>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𝐷</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d>
                      </m:sup>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𝐿</m:t>
                        </m:r>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𝑖𝑗</m:t>
                            </m:r>
                          </m:sub>
                        </m:s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acc>
                          </m:e>
                          <m: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𝑖𝑗</m:t>
                            </m:r>
                          </m:sub>
                        </m:sSub>
                        <m:r>
                          <a:rPr lang="en-US" sz="8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e>
                    </m:nary>
                  </m:oMath>
                </a14:m>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indent="-1143000">
                  <a:lnSpc>
                    <a:spcPct val="107000"/>
                  </a:lnSpc>
                  <a:spcBef>
                    <a:spcPts val="0"/>
                  </a:spcBef>
                  <a:spcAft>
                    <a:spcPts val="800"/>
                  </a:spcAft>
                  <a:buFont typeface="Wingdings" panose="05000000000000000000" pitchFamily="2" charset="2"/>
                  <a:buChar char="v"/>
                </a:pPr>
                <a:r>
                  <a:rPr lang="en-US" sz="8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Graphical representation of the k-fold cross-validation is as shown </a:t>
                </a:r>
                <a:r>
                  <a:rPr lang="en-US" sz="8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in the next slide</a:t>
                </a:r>
                <a:endParaRPr lang="en-US" sz="8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ACE45CAE-AFB7-451F-939D-B31B7C6F23C7}"/>
                  </a:ext>
                </a:extLst>
              </p:cNvPr>
              <p:cNvSpPr>
                <a:spLocks noGrp="1" noRot="1" noChangeAspect="1" noMove="1" noResize="1" noEditPoints="1" noAdjustHandles="1" noChangeArrowheads="1" noChangeShapeType="1" noTextEdit="1"/>
              </p:cNvSpPr>
              <p:nvPr>
                <p:ph idx="1"/>
              </p:nvPr>
            </p:nvSpPr>
            <p:spPr>
              <a:xfrm>
                <a:off x="677333" y="2160589"/>
                <a:ext cx="10819341" cy="4087811"/>
              </a:xfrm>
              <a:blipFill>
                <a:blip r:embed="rId2"/>
                <a:stretch>
                  <a:fillRect l="-225" t="-1639" r="-18479"/>
                </a:stretch>
              </a:blipFill>
            </p:spPr>
            <p:txBody>
              <a:bodyPr/>
              <a:lstStyle/>
              <a:p>
                <a:r>
                  <a:rPr lang="en-US">
                    <a:noFill/>
                  </a:rPr>
                  <a:t> </a:t>
                </a:r>
              </a:p>
            </p:txBody>
          </p:sp>
        </mc:Fallback>
      </mc:AlternateContent>
    </p:spTree>
    <p:extLst>
      <p:ext uri="{BB962C8B-B14F-4D97-AF65-F5344CB8AC3E}">
        <p14:creationId xmlns:p14="http://schemas.microsoft.com/office/powerpoint/2010/main" val="13388011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634F9-B201-4E7A-A901-3CDA03938B95}"/>
              </a:ext>
            </a:extLst>
          </p:cNvPr>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Graphical Representation of K-Folds CV</a:t>
            </a:r>
          </a:p>
        </p:txBody>
      </p:sp>
      <p:pic>
        <p:nvPicPr>
          <p:cNvPr id="4" name="object 5">
            <a:extLst>
              <a:ext uri="{FF2B5EF4-FFF2-40B4-BE49-F238E27FC236}">
                <a16:creationId xmlns:a16="http://schemas.microsoft.com/office/drawing/2014/main" id="{1BA26545-6E6A-40E4-AEC9-7A22524011A8}"/>
              </a:ext>
            </a:extLst>
          </p:cNvPr>
          <p:cNvPicPr>
            <a:picLocks noGrp="1"/>
          </p:cNvPicPr>
          <p:nvPr>
            <p:ph idx="1"/>
          </p:nvPr>
        </p:nvPicPr>
        <p:blipFill>
          <a:blip r:embed="rId2" cstate="print"/>
          <a:stretch>
            <a:fillRect/>
          </a:stretch>
        </p:blipFill>
        <p:spPr>
          <a:xfrm>
            <a:off x="427383" y="1690688"/>
            <a:ext cx="10923104" cy="4869138"/>
          </a:xfrm>
          <a:prstGeom prst="rect">
            <a:avLst/>
          </a:prstGeom>
        </p:spPr>
      </p:pic>
    </p:spTree>
    <p:extLst>
      <p:ext uri="{BB962C8B-B14F-4D97-AF65-F5344CB8AC3E}">
        <p14:creationId xmlns:p14="http://schemas.microsoft.com/office/powerpoint/2010/main" val="19727112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AEAC5-EDC8-4D3F-9AA6-7340A1770050}"/>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Repeated K-Folds Cross Validation</a:t>
            </a:r>
          </a:p>
        </p:txBody>
      </p:sp>
      <p:sp>
        <p:nvSpPr>
          <p:cNvPr id="3" name="Content Placeholder 2">
            <a:extLst>
              <a:ext uri="{FF2B5EF4-FFF2-40B4-BE49-F238E27FC236}">
                <a16:creationId xmlns:a16="http://schemas.microsoft.com/office/drawing/2014/main" id="{36F626EB-8BDF-49DE-B096-08F9E249D637}"/>
              </a:ext>
            </a:extLst>
          </p:cNvPr>
          <p:cNvSpPr>
            <a:spLocks noGrp="1"/>
          </p:cNvSpPr>
          <p:nvPr>
            <p:ph idx="1"/>
          </p:nvPr>
        </p:nvSpPr>
        <p:spPr>
          <a:xfrm>
            <a:off x="677333" y="2160589"/>
            <a:ext cx="10712909" cy="4379359"/>
          </a:xfrm>
        </p:spPr>
        <p:txBody>
          <a:bodyPr>
            <a:normAutofit/>
          </a:bodyPr>
          <a:lstStyle/>
          <a:p>
            <a:pPr>
              <a:lnSpc>
                <a:spcPct val="150000"/>
              </a:lnSpc>
              <a:buFont typeface="Wingdings" panose="05000000000000000000" pitchFamily="2" charset="2"/>
              <a:buChar char="v"/>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repeated k-fold cross-validation is an extension of k-fold cross-validation. </a:t>
            </a:r>
          </a:p>
          <a:p>
            <a:pPr>
              <a:lnSpc>
                <a:spcPct val="150000"/>
              </a:lnSpc>
              <a:buFont typeface="Wingdings" panose="05000000000000000000" pitchFamily="2" charset="2"/>
              <a:buChar char="v"/>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Repeated k-fold cross-validation provides a way to improve the estimated performance of a machine-learning model. </a:t>
            </a:r>
          </a:p>
          <a:p>
            <a:pPr>
              <a:lnSpc>
                <a:spcPct val="150000"/>
              </a:lnSpc>
              <a:buFont typeface="Wingdings" panose="05000000000000000000" pitchFamily="2" charset="2"/>
              <a:buChar char="v"/>
            </a:pPr>
            <a:r>
              <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technique involves simply repeating the cross-validation procedure multiple times and reporting the mean result across all folds from all runs . </a:t>
            </a:r>
            <a:endParaRPr lang="en-US" sz="2400" dirty="0"/>
          </a:p>
        </p:txBody>
      </p:sp>
    </p:spTree>
    <p:extLst>
      <p:ext uri="{BB962C8B-B14F-4D97-AF65-F5344CB8AC3E}">
        <p14:creationId xmlns:p14="http://schemas.microsoft.com/office/powerpoint/2010/main" val="1623651304"/>
      </p:ext>
    </p:extLst>
  </p:cSld>
  <p:clrMapOvr>
    <a:masterClrMapping/>
  </p:clrMapOvr>
  <mc:AlternateContent xmlns:mc="http://schemas.openxmlformats.org/markup-compatibility/2006" xmlns:p14="http://schemas.microsoft.com/office/powerpoint/2010/main">
    <mc:Choice Requires="p14">
      <p:transition spd="slow" p14:dur="375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9BC7-61C1-4D81-83C6-6BA6A406C10B}"/>
              </a:ext>
            </a:extLst>
          </p:cNvPr>
          <p:cNvSpPr>
            <a:spLocks noGrp="1"/>
          </p:cNvSpPr>
          <p:nvPr>
            <p:ph type="title"/>
          </p:nvPr>
        </p:nvSpPr>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Leave One Out Cross Validation (LOOCV)</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807AB9-F94E-4043-BA3C-83AB317C2986}"/>
                  </a:ext>
                </a:extLst>
              </p:cNvPr>
              <p:cNvSpPr>
                <a:spLocks noGrp="1"/>
              </p:cNvSpPr>
              <p:nvPr>
                <p:ph idx="1"/>
              </p:nvPr>
            </p:nvSpPr>
            <p:spPr>
              <a:xfrm>
                <a:off x="677333" y="2160589"/>
                <a:ext cx="11143191" cy="3880773"/>
              </a:xfrm>
            </p:spPr>
            <p:txBody>
              <a:bodyPr>
                <a:normAutofit fontScale="77500" lnSpcReduction="20000"/>
              </a:bodyPr>
              <a:lstStyle/>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LOOCV approach takes every observation in the data set as the validation set and N-1 as the training set. This is done for the entire sample size (N</a:t>
                </a:r>
                <a:endParaRPr lang="en-US" sz="3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 this method, assume that we have the dataset </a:t>
                </a:r>
                <a:r>
                  <a:rPr lang="en-US" sz="31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 </a:t>
                </a:r>
                <a:r>
                  <a:rPr lang="en-US" sz="3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where;</a:t>
                </a:r>
                <a:endParaRPr lang="en-US" sz="3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indent="-457200" algn="just">
                  <a:lnSpc>
                    <a:spcPct val="107000"/>
                  </a:lnSpc>
                  <a:spcBef>
                    <a:spcPts val="0"/>
                  </a:spcBef>
                  <a:spcAft>
                    <a:spcPts val="800"/>
                  </a:spcAft>
                  <a:buFont typeface="Wingdings" panose="05000000000000000000" pitchFamily="2" charset="2"/>
                  <a:buChar char="v"/>
                </a:pPr>
                <a14:m>
                  <m:oMath xmlns:m="http://schemas.openxmlformats.org/officeDocument/2006/math">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d>
                          <m:d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e>
                        </m:d>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d>
                          <m:d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e>
                        </m:d>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d>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approach, </a:t>
                </a:r>
                <a14:m>
                  <m:oMath xmlns:m="http://schemas.openxmlformats.org/officeDocument/2006/math">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features and the </a:t>
                </a:r>
                <a14:m>
                  <m:oMath xmlns:m="http://schemas.openxmlformats.org/officeDocument/2006/math">
                    <m:sSub>
                      <m:sSubPr>
                        <m:ctrlP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r>
                          <a:rPr lang="en-US" sz="31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represents the corresponding label for the outcome for each observation </a:t>
                </a:r>
                <a:r>
                  <a:rPr lang="en-US" sz="3100" i="1"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Iterations are done from </a:t>
                </a:r>
                <a14:m>
                  <m:oMath xmlns:m="http://schemas.openxmlformats.org/officeDocument/2006/math">
                    <m:r>
                      <a:rPr lang="en-US" sz="31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to </a:t>
                </a:r>
                <a14:m>
                  <m:oMath xmlns:m="http://schemas.openxmlformats.org/officeDocument/2006/math">
                    <m:r>
                      <a:rPr lang="en-US" sz="31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𝑛</m:t>
                    </m:r>
                  </m:oMath>
                </a14:m>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marR="0" indent="-457200" algn="just">
                  <a:lnSpc>
                    <a:spcPct val="107000"/>
                  </a:lnSpc>
                  <a:spcBef>
                    <a:spcPts val="0"/>
                  </a:spcBef>
                  <a:spcAft>
                    <a:spcPts val="800"/>
                  </a:spcAft>
                  <a:buFont typeface="Wingdings" panose="05000000000000000000" pitchFamily="2" charset="2"/>
                  <a:buChar char="v"/>
                </a:pPr>
                <a:r>
                  <a:rPr lang="en-US" sz="3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 training is done on the N-1 number of observations and only one observation is used as a validation set, giving the classification error with the mathematical equation</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1807AB9-F94E-4043-BA3C-83AB317C2986}"/>
                  </a:ext>
                </a:extLst>
              </p:cNvPr>
              <p:cNvSpPr>
                <a:spLocks noGrp="1" noRot="1" noChangeAspect="1" noMove="1" noResize="1" noEditPoints="1" noAdjustHandles="1" noChangeArrowheads="1" noChangeShapeType="1" noTextEdit="1"/>
              </p:cNvSpPr>
              <p:nvPr>
                <p:ph idx="1"/>
              </p:nvPr>
            </p:nvSpPr>
            <p:spPr>
              <a:xfrm>
                <a:off x="677333" y="2160589"/>
                <a:ext cx="11143191" cy="3880773"/>
              </a:xfrm>
              <a:blipFill>
                <a:blip r:embed="rId3"/>
                <a:stretch>
                  <a:fillRect l="-383" t="-2512" r="-875"/>
                </a:stretch>
              </a:blipFill>
            </p:spPr>
            <p:txBody>
              <a:bodyPr/>
              <a:lstStyle/>
              <a:p>
                <a:r>
                  <a:rPr lang="en-US">
                    <a:noFill/>
                  </a:rPr>
                  <a:t> </a:t>
                </a:r>
              </a:p>
            </p:txBody>
          </p:sp>
        </mc:Fallback>
      </mc:AlternateContent>
    </p:spTree>
    <p:extLst>
      <p:ext uri="{BB962C8B-B14F-4D97-AF65-F5344CB8AC3E}">
        <p14:creationId xmlns:p14="http://schemas.microsoft.com/office/powerpoint/2010/main" val="35121603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EF36F-B455-407D-BB11-6A3F71F4D540}"/>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LOOCV </a:t>
            </a:r>
            <a:r>
              <a:rPr lang="en-US" b="1" dirty="0" err="1">
                <a:solidFill>
                  <a:srgbClr val="FF0000"/>
                </a:solidFill>
                <a:latin typeface="Times New Roman" panose="02020603050405020304" pitchFamily="18" charset="0"/>
                <a:cs typeface="Times New Roman" panose="02020603050405020304" pitchFamily="18" charset="0"/>
              </a:rPr>
              <a:t>cont</a:t>
            </a:r>
            <a:r>
              <a:rPr lang="en-US" b="1" dirty="0">
                <a:solidFill>
                  <a:srgbClr val="FF0000"/>
                </a:solidFill>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151C8E-8E80-4365-846F-52294EE90AB7}"/>
                  </a:ext>
                </a:extLst>
              </p:cNvPr>
              <p:cNvSpPr>
                <a:spLocks noGrp="1"/>
              </p:cNvSpPr>
              <p:nvPr>
                <p:ph idx="1"/>
              </p:nvPr>
            </p:nvSpPr>
            <p:spPr>
              <a:xfrm>
                <a:off x="677333" y="2160589"/>
                <a:ext cx="10819341" cy="3880773"/>
              </a:xfrm>
            </p:spPr>
            <p:txBody>
              <a:bodyPr>
                <a:noAutofit/>
              </a:bodyPr>
              <a:lstStyle/>
              <a:p>
                <a:pPr marR="0" algn="just">
                  <a:lnSpc>
                    <a:spcPct val="107000"/>
                  </a:lnSpc>
                  <a:spcBef>
                    <a:spcPts val="0"/>
                  </a:spcBef>
                  <a:spcAft>
                    <a:spcPts val="800"/>
                  </a:spcAft>
                  <a:buFont typeface="Wingdings" panose="05000000000000000000" pitchFamily="2" charset="2"/>
                  <a:buChar char="v"/>
                </a:pPr>
                <a14:m>
                  <m:oMath xmlns:m="http://schemas.openxmlformats.org/officeDocument/2006/math">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𝐿𝑂𝑂𝐶𝑉</m:t>
                    </m:r>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𝐸𝑟𝑟𝑜𝑟</m:t>
                    </m:r>
                    <m:r>
                      <a:rPr lang="en-US" sz="32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den>
                    </m:f>
                    <m:nary>
                      <m:naryPr>
                        <m:chr m:val="∑"/>
                        <m:limLoc m:val="undOv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p>
                      <m:e>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𝑦</m:t>
                                </m:r>
                              </m:e>
                            </m:acc>
                          </m:e>
                          <m: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nary>
                  </m:oMath>
                </a14:m>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R="0" algn="just">
                  <a:lnSpc>
                    <a:spcPct val="107000"/>
                  </a:lnSpc>
                  <a:spcBef>
                    <a:spcPts val="0"/>
                  </a:spcBef>
                  <a:spcAft>
                    <a:spcPts val="800"/>
                  </a:spcAft>
                  <a:buFont typeface="Wingdings" panose="05000000000000000000" pitchFamily="2" charset="2"/>
                  <a:buChar char="v"/>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Where L is the loss function. </a:t>
                </a:r>
              </a:p>
              <a:p>
                <a:pPr marR="0" algn="just">
                  <a:lnSpc>
                    <a:spcPct val="107000"/>
                  </a:lnSpc>
                  <a:spcBef>
                    <a:spcPts val="0"/>
                  </a:spcBef>
                  <a:spcAft>
                    <a:spcPts val="800"/>
                  </a:spcAft>
                  <a:buFont typeface="Wingdings" panose="05000000000000000000" pitchFamily="2" charset="2"/>
                  <a:buChar char="v"/>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common loss function is the Mean Squared Error (MSE) expressed as shown in equation </a:t>
                </a:r>
                <a14:m>
                  <m:oMath xmlns:m="http://schemas.openxmlformats.org/officeDocument/2006/math">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𝐿</m:t>
                    </m:r>
                    <m:d>
                      <m:d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acc>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e>
                    </m:d>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𝑦</m:t>
                                </m:r>
                              </m:e>
                            </m:acc>
                          </m:e>
                          <m: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US" sz="32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oMath>
                </a14:m>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R="0" algn="just">
                  <a:lnSpc>
                    <a:spcPct val="107000"/>
                  </a:lnSpc>
                  <a:spcBef>
                    <a:spcPts val="0"/>
                  </a:spcBef>
                  <a:spcAft>
                    <a:spcPts val="800"/>
                  </a:spcAft>
                  <a:buFont typeface="Wingdings" panose="05000000000000000000" pitchFamily="2" charset="2"/>
                  <a:buChar char="v"/>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Graphical LOOCV is shown below</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0B151C8E-8E80-4365-846F-52294EE90AB7}"/>
                  </a:ext>
                </a:extLst>
              </p:cNvPr>
              <p:cNvSpPr>
                <a:spLocks noGrp="1" noRot="1" noChangeAspect="1" noMove="1" noResize="1" noEditPoints="1" noAdjustHandles="1" noChangeArrowheads="1" noChangeShapeType="1" noTextEdit="1"/>
              </p:cNvSpPr>
              <p:nvPr>
                <p:ph idx="1"/>
              </p:nvPr>
            </p:nvSpPr>
            <p:spPr>
              <a:xfrm>
                <a:off x="677333" y="2160589"/>
                <a:ext cx="10819341" cy="3880773"/>
              </a:xfrm>
              <a:blipFill>
                <a:blip r:embed="rId2"/>
                <a:stretch>
                  <a:fillRect l="-845" r="-1465"/>
                </a:stretch>
              </a:blipFill>
            </p:spPr>
            <p:txBody>
              <a:bodyPr/>
              <a:lstStyle/>
              <a:p>
                <a:r>
                  <a:rPr lang="en-US">
                    <a:noFill/>
                  </a:rPr>
                  <a:t> </a:t>
                </a:r>
              </a:p>
            </p:txBody>
          </p:sp>
        </mc:Fallback>
      </mc:AlternateContent>
    </p:spTree>
    <p:extLst>
      <p:ext uri="{BB962C8B-B14F-4D97-AF65-F5344CB8AC3E}">
        <p14:creationId xmlns:p14="http://schemas.microsoft.com/office/powerpoint/2010/main" val="30768827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BEAB0-B679-4BA3-98FC-14D0F2200B61}"/>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Graphical Representation of LOOCV</a:t>
            </a:r>
          </a:p>
        </p:txBody>
      </p:sp>
      <p:pic>
        <p:nvPicPr>
          <p:cNvPr id="4" name="Content Placeholder 3">
            <a:extLst>
              <a:ext uri="{FF2B5EF4-FFF2-40B4-BE49-F238E27FC236}">
                <a16:creationId xmlns:a16="http://schemas.microsoft.com/office/drawing/2014/main" id="{C9FA3483-EF65-424F-96B8-8090E7EFBFAE}"/>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596231"/>
            <a:ext cx="10515600" cy="4528344"/>
          </a:xfrm>
          <a:prstGeom prst="rect">
            <a:avLst/>
          </a:prstGeom>
          <a:noFill/>
          <a:ln>
            <a:noFill/>
          </a:ln>
        </p:spPr>
      </p:pic>
    </p:spTree>
    <p:extLst>
      <p:ext uri="{BB962C8B-B14F-4D97-AF65-F5344CB8AC3E}">
        <p14:creationId xmlns:p14="http://schemas.microsoft.com/office/powerpoint/2010/main" val="12026687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CA42-8B2D-4D4A-9E8B-C6BD3B1F7C2C}"/>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Alternative LOOCV Visual</a:t>
            </a:r>
          </a:p>
        </p:txBody>
      </p:sp>
      <p:pic>
        <p:nvPicPr>
          <p:cNvPr id="4" name="object 2">
            <a:extLst>
              <a:ext uri="{FF2B5EF4-FFF2-40B4-BE49-F238E27FC236}">
                <a16:creationId xmlns:a16="http://schemas.microsoft.com/office/drawing/2014/main" id="{75833662-0A3F-4405-ACA7-F913DEF70D9C}"/>
              </a:ext>
            </a:extLst>
          </p:cNvPr>
          <p:cNvPicPr>
            <a:picLocks noGrp="1"/>
          </p:cNvPicPr>
          <p:nvPr>
            <p:ph idx="1"/>
          </p:nvPr>
        </p:nvPicPr>
        <p:blipFill>
          <a:blip r:embed="rId2" cstate="print"/>
          <a:stretch>
            <a:fillRect/>
          </a:stretch>
        </p:blipFill>
        <p:spPr>
          <a:xfrm>
            <a:off x="838200" y="1690687"/>
            <a:ext cx="9906000" cy="4529137"/>
          </a:xfrm>
          <a:prstGeom prst="rect">
            <a:avLst/>
          </a:prstGeom>
        </p:spPr>
      </p:pic>
    </p:spTree>
    <p:extLst>
      <p:ext uri="{BB962C8B-B14F-4D97-AF65-F5344CB8AC3E}">
        <p14:creationId xmlns:p14="http://schemas.microsoft.com/office/powerpoint/2010/main" val="338381288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28140-F491-8C8B-5B28-55BF5008831D}"/>
              </a:ext>
            </a:extLst>
          </p:cNvPr>
          <p:cNvSpPr>
            <a:spLocks noGrp="1"/>
          </p:cNvSpPr>
          <p:nvPr>
            <p:ph type="title"/>
          </p:nvPr>
        </p:nvSpPr>
        <p:spPr>
          <a:xfrm>
            <a:off x="677333" y="290623"/>
            <a:ext cx="10890889" cy="71947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SESSION THREE</a:t>
            </a:r>
          </a:p>
        </p:txBody>
      </p:sp>
      <p:sp>
        <p:nvSpPr>
          <p:cNvPr id="3" name="Content Placeholder 2">
            <a:extLst>
              <a:ext uri="{FF2B5EF4-FFF2-40B4-BE49-F238E27FC236}">
                <a16:creationId xmlns:a16="http://schemas.microsoft.com/office/drawing/2014/main" id="{4FC4549D-DB88-BA7A-9DCA-24845F96AD63}"/>
              </a:ext>
            </a:extLst>
          </p:cNvPr>
          <p:cNvSpPr>
            <a:spLocks noGrp="1"/>
          </p:cNvSpPr>
          <p:nvPr>
            <p:ph idx="1"/>
          </p:nvPr>
        </p:nvSpPr>
        <p:spPr>
          <a:xfrm>
            <a:off x="677334" y="1509823"/>
            <a:ext cx="10486852" cy="4531539"/>
          </a:xfrm>
        </p:spPr>
        <p:txBody>
          <a:bodyPr/>
          <a:lstStyle/>
          <a:p>
            <a:pPr marL="0" indent="0" algn="ctr">
              <a:buNone/>
            </a:pPr>
            <a:r>
              <a:rPr lang="en-US" sz="2800" b="1" dirty="0">
                <a:latin typeface="Times New Roman" panose="02020603050405020304" pitchFamily="18" charset="0"/>
                <a:cs typeface="Times New Roman" panose="02020603050405020304" pitchFamily="18" charset="0"/>
              </a:rPr>
              <a:t>IMPLEMENTATION OF RANDOM FOREST AND EXTREME GRADIENT BOOSTING MODEL</a:t>
            </a:r>
          </a:p>
          <a:p>
            <a:pPr algn="ct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Training the Model</a:t>
            </a:r>
          </a:p>
          <a:p>
            <a:pPr algn="ctr">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Model Evaluation</a:t>
            </a:r>
          </a:p>
          <a:p>
            <a:endParaRPr lang="en-US" dirty="0"/>
          </a:p>
        </p:txBody>
      </p:sp>
    </p:spTree>
    <p:extLst>
      <p:ext uri="{BB962C8B-B14F-4D97-AF65-F5344CB8AC3E}">
        <p14:creationId xmlns:p14="http://schemas.microsoft.com/office/powerpoint/2010/main" val="3452406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119E6-677D-E7D1-3494-F45E5CCCB9DF}"/>
              </a:ext>
            </a:extLst>
          </p:cNvPr>
          <p:cNvSpPr>
            <a:spLocks noGrp="1"/>
          </p:cNvSpPr>
          <p:nvPr>
            <p:ph type="title"/>
          </p:nvPr>
        </p:nvSpPr>
        <p:spPr>
          <a:xfrm>
            <a:off x="677333" y="609600"/>
            <a:ext cx="10880257" cy="783265"/>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Data Partitioning</a:t>
            </a:r>
          </a:p>
        </p:txBody>
      </p:sp>
      <p:pic>
        <p:nvPicPr>
          <p:cNvPr id="5" name="Content Placeholder 4">
            <a:extLst>
              <a:ext uri="{FF2B5EF4-FFF2-40B4-BE49-F238E27FC236}">
                <a16:creationId xmlns:a16="http://schemas.microsoft.com/office/drawing/2014/main" id="{9A9ECC55-BB59-7559-048F-0C25DD04B415}"/>
              </a:ext>
            </a:extLst>
          </p:cNvPr>
          <p:cNvPicPr>
            <a:picLocks noGrp="1" noChangeAspect="1"/>
          </p:cNvPicPr>
          <p:nvPr>
            <p:ph idx="1"/>
          </p:nvPr>
        </p:nvPicPr>
        <p:blipFill>
          <a:blip r:embed="rId2"/>
          <a:stretch>
            <a:fillRect/>
          </a:stretch>
        </p:blipFill>
        <p:spPr>
          <a:xfrm>
            <a:off x="93214" y="1392865"/>
            <a:ext cx="11735290" cy="1733107"/>
          </a:xfrm>
        </p:spPr>
      </p:pic>
      <p:sp>
        <p:nvSpPr>
          <p:cNvPr id="7" name="Rectangle 2">
            <a:extLst>
              <a:ext uri="{FF2B5EF4-FFF2-40B4-BE49-F238E27FC236}">
                <a16:creationId xmlns:a16="http://schemas.microsoft.com/office/drawing/2014/main" id="{05E6E123-544C-E1F4-CC62-5EFF4D344827}"/>
              </a:ext>
            </a:extLst>
          </p:cNvPr>
          <p:cNvSpPr>
            <a:spLocks noChangeArrowheads="1"/>
          </p:cNvSpPr>
          <p:nvPr/>
        </p:nvSpPr>
        <p:spPr bwMode="auto">
          <a:xfrm>
            <a:off x="93214" y="3364813"/>
            <a:ext cx="1173529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The code provided performs a train-test split on the </a:t>
            </a:r>
            <a:r>
              <a:rPr kumimoji="0" lang="en-US" altLang="en-US" sz="2000" b="0" i="0" u="none" strike="noStrike" cap="none" normalizeH="0" baseline="0" dirty="0" err="1">
                <a:ln>
                  <a:noFill/>
                </a:ln>
                <a:solidFill>
                  <a:schemeClr val="tx1"/>
                </a:solidFill>
                <a:effectLst/>
                <a:latin typeface="Arial Unicode MS"/>
              </a:rPr>
              <a:t>htn</a:t>
            </a:r>
            <a:r>
              <a:rPr kumimoji="0" lang="en-US" altLang="en-US" sz="2000" b="0" i="0" u="none" strike="noStrike" cap="none" normalizeH="0" baseline="0" dirty="0">
                <a:ln>
                  <a:noFill/>
                </a:ln>
                <a:solidFill>
                  <a:schemeClr val="tx1"/>
                </a:solidFill>
                <a:effectLst/>
              </a:rPr>
              <a:t> dataset using stratified sampling. First, </a:t>
            </a:r>
            <a:r>
              <a:rPr kumimoji="0" lang="en-US" altLang="en-US" sz="2000" b="0" i="0" u="none" strike="noStrike" cap="none" normalizeH="0" baseline="0" dirty="0" err="1">
                <a:ln>
                  <a:noFill/>
                </a:ln>
                <a:solidFill>
                  <a:schemeClr val="tx1"/>
                </a:solidFill>
                <a:effectLst/>
                <a:latin typeface="Arial Unicode MS"/>
              </a:rPr>
              <a:t>set.seed</a:t>
            </a:r>
            <a:r>
              <a:rPr kumimoji="0" lang="en-US" altLang="en-US" sz="2000" b="0" i="0" u="none" strike="noStrike" cap="none" normalizeH="0" baseline="0" dirty="0">
                <a:ln>
                  <a:noFill/>
                </a:ln>
                <a:solidFill>
                  <a:schemeClr val="tx1"/>
                </a:solidFill>
                <a:effectLst/>
                <a:latin typeface="Arial Unicode MS"/>
              </a:rPr>
              <a:t>(123)</a:t>
            </a:r>
            <a:r>
              <a:rPr kumimoji="0" lang="en-US" altLang="en-US" sz="2000" b="0" i="0" u="none" strike="noStrike" cap="none" normalizeH="0" baseline="0" dirty="0">
                <a:ln>
                  <a:noFill/>
                </a:ln>
                <a:solidFill>
                  <a:schemeClr val="tx1"/>
                </a:solidFill>
                <a:effectLst/>
              </a:rPr>
              <a:t> ensures that the results are reproducible every time the code is run.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rPr>
              <a:t>The </a:t>
            </a:r>
            <a:r>
              <a:rPr kumimoji="0" lang="en-US" altLang="en-US" sz="2000" b="0" i="0" u="none" strike="noStrike" cap="none" normalizeH="0" baseline="0" dirty="0" err="1">
                <a:ln>
                  <a:noFill/>
                </a:ln>
                <a:solidFill>
                  <a:schemeClr val="tx1"/>
                </a:solidFill>
                <a:effectLst/>
                <a:latin typeface="Arial Unicode MS"/>
              </a:rPr>
              <a:t>createDataPartition</a:t>
            </a:r>
            <a:r>
              <a:rPr kumimoji="0" lang="en-US" altLang="en-US" sz="2000" b="0" i="0" u="none" strike="noStrike" cap="none" normalizeH="0" baseline="0" dirty="0">
                <a:ln>
                  <a:noFill/>
                </a:ln>
                <a:solidFill>
                  <a:schemeClr val="tx1"/>
                </a:solidFill>
                <a:effectLst/>
                <a:latin typeface="Arial Unicode MS"/>
              </a:rPr>
              <a:t>()</a:t>
            </a:r>
            <a:r>
              <a:rPr kumimoji="0" lang="en-US" altLang="en-US" sz="2000" b="0" i="0" u="none" strike="noStrike" cap="none" normalizeH="0" baseline="0" dirty="0">
                <a:ln>
                  <a:noFill/>
                </a:ln>
                <a:solidFill>
                  <a:schemeClr val="tx1"/>
                </a:solidFill>
                <a:effectLst/>
              </a:rPr>
              <a:t> function, from the </a:t>
            </a:r>
            <a:r>
              <a:rPr kumimoji="0" lang="en-US" altLang="en-US" sz="2000" b="0" i="0" u="none" strike="noStrike" cap="none" normalizeH="0" baseline="0" dirty="0">
                <a:ln>
                  <a:noFill/>
                </a:ln>
                <a:solidFill>
                  <a:schemeClr val="tx1"/>
                </a:solidFill>
                <a:effectLst/>
                <a:latin typeface="Arial Unicode MS"/>
              </a:rPr>
              <a:t>caret</a:t>
            </a:r>
            <a:r>
              <a:rPr kumimoji="0" lang="en-US" altLang="en-US" sz="2000" b="0" i="0" u="none" strike="noStrike" cap="none" normalizeH="0" baseline="0" dirty="0">
                <a:ln>
                  <a:noFill/>
                </a:ln>
                <a:solidFill>
                  <a:schemeClr val="tx1"/>
                </a:solidFill>
                <a:effectLst/>
              </a:rPr>
              <a:t> package, is used to generate indices for a training set that maintains the same proportion of the target variable </a:t>
            </a:r>
            <a:r>
              <a:rPr kumimoji="0" lang="en-US" altLang="en-US" sz="2000" b="0" i="0" u="none" strike="noStrike" cap="none" normalizeH="0" baseline="0" dirty="0">
                <a:ln>
                  <a:noFill/>
                </a:ln>
                <a:solidFill>
                  <a:schemeClr val="tx1"/>
                </a:solidFill>
                <a:effectLst/>
                <a:latin typeface="Arial Unicode MS"/>
              </a:rPr>
              <a:t>HT</a:t>
            </a:r>
            <a:r>
              <a:rPr kumimoji="0" lang="en-US" altLang="en-US" sz="2000" b="0" i="0" u="none" strike="noStrike" cap="none" normalizeH="0" baseline="0" dirty="0">
                <a:ln>
                  <a:noFill/>
                </a:ln>
                <a:solidFill>
                  <a:schemeClr val="tx1"/>
                </a:solidFill>
                <a:effectLst/>
              </a:rPr>
              <a:t> as in the original dataset.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rPr>
              <a:t>The argument </a:t>
            </a:r>
            <a:r>
              <a:rPr kumimoji="0" lang="en-US" altLang="en-US" sz="2000" b="0" i="0" u="none" strike="noStrike" cap="none" normalizeH="0" baseline="0" dirty="0">
                <a:ln>
                  <a:noFill/>
                </a:ln>
                <a:solidFill>
                  <a:schemeClr val="tx1"/>
                </a:solidFill>
                <a:effectLst/>
                <a:latin typeface="Arial Unicode MS"/>
              </a:rPr>
              <a:t>p = 0.7</a:t>
            </a:r>
            <a:r>
              <a:rPr kumimoji="0" lang="en-US" altLang="en-US" sz="2000" b="0" i="0" u="none" strike="noStrike" cap="none" normalizeH="0" baseline="0" dirty="0">
                <a:ln>
                  <a:noFill/>
                </a:ln>
                <a:solidFill>
                  <a:schemeClr val="tx1"/>
                </a:solidFill>
                <a:effectLst/>
              </a:rPr>
              <a:t> specifies that 70% of the data should be allocated to the training set. Setting </a:t>
            </a:r>
            <a:r>
              <a:rPr kumimoji="0" lang="en-US" altLang="en-US" sz="2000" b="0" i="0" u="none" strike="noStrike" cap="none" normalizeH="0" baseline="0" dirty="0">
                <a:ln>
                  <a:noFill/>
                </a:ln>
                <a:solidFill>
                  <a:schemeClr val="tx1"/>
                </a:solidFill>
                <a:effectLst/>
                <a:latin typeface="Arial Unicode MS"/>
              </a:rPr>
              <a:t>list = FALSE</a:t>
            </a:r>
            <a:r>
              <a:rPr kumimoji="0" lang="en-US" altLang="en-US" sz="2000" b="0" i="0" u="none" strike="noStrike" cap="none" normalizeH="0" baseline="0" dirty="0">
                <a:ln>
                  <a:noFill/>
                </a:ln>
                <a:solidFill>
                  <a:schemeClr val="tx1"/>
                </a:solidFill>
                <a:effectLst/>
              </a:rPr>
              <a:t> ensures the result is returned as a vector of row indices.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rPr>
              <a:t>The </a:t>
            </a:r>
            <a:r>
              <a:rPr kumimoji="0" lang="en-US" altLang="en-US" sz="2000" b="0" i="0" u="none" strike="noStrike" cap="none" normalizeH="0" baseline="0" dirty="0">
                <a:ln>
                  <a:noFill/>
                </a:ln>
                <a:solidFill>
                  <a:schemeClr val="tx1"/>
                </a:solidFill>
                <a:effectLst/>
                <a:latin typeface="Arial Unicode MS"/>
              </a:rPr>
              <a:t>train</a:t>
            </a:r>
            <a:r>
              <a:rPr kumimoji="0" lang="en-US" altLang="en-US" sz="2000" b="0" i="0" u="none" strike="noStrike" cap="none" normalizeH="0" baseline="0" dirty="0">
                <a:ln>
                  <a:noFill/>
                </a:ln>
                <a:solidFill>
                  <a:schemeClr val="tx1"/>
                </a:solidFill>
                <a:effectLst/>
              </a:rPr>
              <a:t> set is created using these indices, and the remaining 30% of the data forms the </a:t>
            </a:r>
            <a:r>
              <a:rPr kumimoji="0" lang="en-US" altLang="en-US" sz="2000" b="0" i="0" u="none" strike="noStrike" cap="none" normalizeH="0" baseline="0" dirty="0">
                <a:ln>
                  <a:noFill/>
                </a:ln>
                <a:solidFill>
                  <a:schemeClr val="tx1"/>
                </a:solidFill>
                <a:effectLst/>
                <a:latin typeface="Arial Unicode MS"/>
              </a:rPr>
              <a:t>test</a:t>
            </a:r>
            <a:r>
              <a:rPr kumimoji="0" lang="en-US" altLang="en-US" sz="2000" b="0" i="0" u="none" strike="noStrike" cap="none" normalizeH="0" baseline="0" dirty="0">
                <a:ln>
                  <a:noFill/>
                </a:ln>
                <a:solidFill>
                  <a:schemeClr val="tx1"/>
                </a:solidFill>
                <a:effectLst/>
              </a:rPr>
              <a:t> set for model evaluation.</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0230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2C599-2B1A-65A9-2D86-61A24E7F5160}"/>
              </a:ext>
            </a:extLst>
          </p:cNvPr>
          <p:cNvSpPr>
            <a:spLocks noGrp="1"/>
          </p:cNvSpPr>
          <p:nvPr>
            <p:ph type="title"/>
          </p:nvPr>
        </p:nvSpPr>
        <p:spPr>
          <a:xfrm>
            <a:off x="677334" y="173665"/>
            <a:ext cx="10912154" cy="80453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Create the Cross Validation Scheme</a:t>
            </a:r>
          </a:p>
        </p:txBody>
      </p:sp>
      <p:pic>
        <p:nvPicPr>
          <p:cNvPr id="5" name="Content Placeholder 4">
            <a:extLst>
              <a:ext uri="{FF2B5EF4-FFF2-40B4-BE49-F238E27FC236}">
                <a16:creationId xmlns:a16="http://schemas.microsoft.com/office/drawing/2014/main" id="{99D8078B-598B-3C73-F766-BDFD4C9C0628}"/>
              </a:ext>
            </a:extLst>
          </p:cNvPr>
          <p:cNvPicPr>
            <a:picLocks noGrp="1" noChangeAspect="1"/>
          </p:cNvPicPr>
          <p:nvPr>
            <p:ph idx="1"/>
          </p:nvPr>
        </p:nvPicPr>
        <p:blipFill>
          <a:blip r:embed="rId2"/>
          <a:stretch>
            <a:fillRect/>
          </a:stretch>
        </p:blipFill>
        <p:spPr>
          <a:xfrm>
            <a:off x="135602" y="978195"/>
            <a:ext cx="12056398" cy="2349796"/>
          </a:xfrm>
        </p:spPr>
      </p:pic>
      <p:sp>
        <p:nvSpPr>
          <p:cNvPr id="6" name="Rectangle 1">
            <a:extLst>
              <a:ext uri="{FF2B5EF4-FFF2-40B4-BE49-F238E27FC236}">
                <a16:creationId xmlns:a16="http://schemas.microsoft.com/office/drawing/2014/main" id="{081575AF-FACA-9623-5598-8A6CA4DC3101}"/>
              </a:ext>
            </a:extLst>
          </p:cNvPr>
          <p:cNvSpPr>
            <a:spLocks noChangeArrowheads="1"/>
          </p:cNvSpPr>
          <p:nvPr/>
        </p:nvSpPr>
        <p:spPr bwMode="auto">
          <a:xfrm>
            <a:off x="135602" y="3268015"/>
            <a:ext cx="1186593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latin typeface="Arial" panose="020B0604020202020204" pitchFamily="34" charset="0"/>
              </a:rPr>
              <a:t>The code defines different cross-validation strategies using the </a:t>
            </a:r>
            <a:r>
              <a:rPr kumimoji="0" lang="en-US" altLang="en-US" i="0" u="none" strike="noStrike" cap="none" normalizeH="0" baseline="0" dirty="0" err="1">
                <a:ln>
                  <a:noFill/>
                </a:ln>
                <a:solidFill>
                  <a:schemeClr val="tx1"/>
                </a:solidFill>
                <a:effectLst/>
                <a:latin typeface="Arial Unicode MS"/>
              </a:rPr>
              <a:t>trainControl</a:t>
            </a:r>
            <a:r>
              <a:rPr kumimoji="0" lang="en-US" altLang="en-US" i="0" u="none" strike="noStrike" cap="none" normalizeH="0" baseline="0" dirty="0">
                <a:ln>
                  <a:noFill/>
                </a:ln>
                <a:solidFill>
                  <a:schemeClr val="tx1"/>
                </a:solidFill>
                <a:effectLst/>
                <a:latin typeface="Arial Unicode MS"/>
              </a:rPr>
              <a:t>()</a:t>
            </a:r>
            <a:r>
              <a:rPr kumimoji="0" lang="en-US" altLang="en-US" i="0" u="none" strike="noStrike" cap="none" normalizeH="0" baseline="0" dirty="0">
                <a:ln>
                  <a:noFill/>
                </a:ln>
                <a:solidFill>
                  <a:schemeClr val="tx1"/>
                </a:solidFill>
                <a:effectLst/>
              </a:rPr>
              <a:t> function from the </a:t>
            </a:r>
            <a:r>
              <a:rPr kumimoji="0" lang="en-US" altLang="en-US" i="0" u="none" strike="noStrike" cap="none" normalizeH="0" baseline="0" dirty="0">
                <a:ln>
                  <a:noFill/>
                </a:ln>
                <a:solidFill>
                  <a:schemeClr val="tx1"/>
                </a:solidFill>
                <a:effectLst/>
                <a:latin typeface="Arial Unicode MS"/>
              </a:rPr>
              <a:t>caret</a:t>
            </a:r>
            <a:r>
              <a:rPr kumimoji="0" lang="en-US" altLang="en-US" i="0" u="none" strike="noStrike" cap="none" normalizeH="0" baseline="0" dirty="0">
                <a:ln>
                  <a:noFill/>
                </a:ln>
                <a:solidFill>
                  <a:schemeClr val="tx1"/>
                </a:solidFill>
                <a:effectLst/>
              </a:rPr>
              <a:t> package in R to evaluate model performance. The first line, </a:t>
            </a:r>
            <a:r>
              <a:rPr kumimoji="0" lang="en-US" altLang="en-US" i="0" u="none" strike="noStrike" cap="none" normalizeH="0" baseline="0" dirty="0" err="1">
                <a:ln>
                  <a:noFill/>
                </a:ln>
                <a:solidFill>
                  <a:schemeClr val="tx1"/>
                </a:solidFill>
                <a:effectLst/>
                <a:latin typeface="Arial Unicode MS"/>
              </a:rPr>
              <a:t>kfolds</a:t>
            </a:r>
            <a:r>
              <a:rPr kumimoji="0" lang="en-US" altLang="en-US" i="0" u="none" strike="noStrike" cap="none" normalizeH="0" baseline="0" dirty="0">
                <a:ln>
                  <a:noFill/>
                </a:ln>
                <a:solidFill>
                  <a:schemeClr val="tx1"/>
                </a:solidFill>
                <a:effectLst/>
              </a:rPr>
              <a:t>, specifies </a:t>
            </a:r>
            <a:r>
              <a:rPr kumimoji="0" lang="en-US" altLang="en-US" i="0" u="none" strike="noStrike" cap="none" normalizeH="0" baseline="0" dirty="0">
                <a:ln>
                  <a:noFill/>
                </a:ln>
                <a:solidFill>
                  <a:schemeClr val="tx1"/>
                </a:solidFill>
                <a:effectLst/>
                <a:latin typeface="Arial" panose="020B0604020202020204" pitchFamily="34" charset="0"/>
              </a:rPr>
              <a:t>10-fold cross-validation, where the dataset is split into 10 subsets, and the model is trained and validated 10 times, each time using a different fold as the validation set.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latin typeface="Arial" panose="020B0604020202020204" pitchFamily="34" charset="0"/>
              </a:rPr>
              <a:t>The second line, </a:t>
            </a:r>
            <a:r>
              <a:rPr kumimoji="0" lang="en-US" altLang="en-US" i="0" u="none" strike="noStrike" cap="none" normalizeH="0" baseline="0" dirty="0" err="1">
                <a:ln>
                  <a:noFill/>
                </a:ln>
                <a:solidFill>
                  <a:schemeClr val="tx1"/>
                </a:solidFill>
                <a:effectLst/>
                <a:latin typeface="Arial Unicode MS"/>
              </a:rPr>
              <a:t>repeated_kfolds</a:t>
            </a:r>
            <a:r>
              <a:rPr kumimoji="0" lang="en-US" altLang="en-US" i="0" u="none" strike="noStrike" cap="none" normalizeH="0" baseline="0" dirty="0">
                <a:ln>
                  <a:noFill/>
                </a:ln>
                <a:solidFill>
                  <a:schemeClr val="tx1"/>
                </a:solidFill>
                <a:effectLst/>
              </a:rPr>
              <a:t>, uses </a:t>
            </a:r>
            <a:r>
              <a:rPr kumimoji="0" lang="en-US" altLang="en-US" i="0" u="none" strike="noStrike" cap="none" normalizeH="0" baseline="0" dirty="0">
                <a:ln>
                  <a:noFill/>
                </a:ln>
                <a:solidFill>
                  <a:schemeClr val="tx1"/>
                </a:solidFill>
                <a:effectLst/>
                <a:latin typeface="Arial" panose="020B0604020202020204" pitchFamily="34" charset="0"/>
              </a:rPr>
              <a:t>repeated 10-fold cross-validation, where the 10-fold process is repeated 5 times to improve the reliability of performance estimates.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latin typeface="Arial" panose="020B0604020202020204" pitchFamily="34" charset="0"/>
              </a:rPr>
              <a:t>The third line, </a:t>
            </a:r>
            <a:r>
              <a:rPr kumimoji="0" lang="en-US" altLang="en-US" i="0" u="none" strike="noStrike" cap="none" normalizeH="0" baseline="0" dirty="0">
                <a:ln>
                  <a:noFill/>
                </a:ln>
                <a:solidFill>
                  <a:schemeClr val="tx1"/>
                </a:solidFill>
                <a:effectLst/>
                <a:latin typeface="Arial Unicode MS"/>
              </a:rPr>
              <a:t>repeated_kfolds1</a:t>
            </a:r>
            <a:r>
              <a:rPr kumimoji="0" lang="en-US" altLang="en-US" i="0" u="none" strike="noStrike" cap="none" normalizeH="0" baseline="0" dirty="0">
                <a:ln>
                  <a:noFill/>
                </a:ln>
                <a:solidFill>
                  <a:schemeClr val="tx1"/>
                </a:solidFill>
                <a:effectLst/>
              </a:rPr>
              <a:t>, extends the previous method by also enabling </a:t>
            </a:r>
            <a:r>
              <a:rPr kumimoji="0" lang="en-US" altLang="en-US" i="0" u="none" strike="noStrike" cap="none" normalizeH="0" baseline="0" dirty="0">
                <a:ln>
                  <a:noFill/>
                </a:ln>
                <a:solidFill>
                  <a:schemeClr val="tx1"/>
                </a:solidFill>
                <a:effectLst/>
                <a:latin typeface="Arial" panose="020B0604020202020204" pitchFamily="34" charset="0"/>
              </a:rPr>
              <a:t>class probability estimation (</a:t>
            </a:r>
            <a:r>
              <a:rPr kumimoji="0" lang="en-US" altLang="en-US" i="0" u="none" strike="noStrike" cap="none" normalizeH="0" baseline="0" dirty="0" err="1">
                <a:ln>
                  <a:noFill/>
                </a:ln>
                <a:solidFill>
                  <a:schemeClr val="tx1"/>
                </a:solidFill>
                <a:effectLst/>
                <a:latin typeface="Arial Unicode MS"/>
              </a:rPr>
              <a:t>classProbs</a:t>
            </a:r>
            <a:r>
              <a:rPr kumimoji="0" lang="en-US" altLang="en-US" i="0" u="none" strike="noStrike" cap="none" normalizeH="0" baseline="0" dirty="0">
                <a:ln>
                  <a:noFill/>
                </a:ln>
                <a:solidFill>
                  <a:schemeClr val="tx1"/>
                </a:solidFill>
                <a:effectLst/>
                <a:latin typeface="Arial Unicode MS"/>
              </a:rPr>
              <a:t> = TRUE</a:t>
            </a:r>
            <a:r>
              <a:rPr kumimoji="0" lang="en-US" altLang="en-US" i="0" u="none" strike="noStrike" cap="none" normalizeH="0" baseline="0" dirty="0">
                <a:ln>
                  <a:noFill/>
                </a:ln>
                <a:solidFill>
                  <a:schemeClr val="tx1"/>
                </a:solidFill>
                <a:effectLst/>
              </a:rPr>
              <a:t>) and </a:t>
            </a:r>
            <a:r>
              <a:rPr kumimoji="0" lang="en-US" altLang="en-US" i="0" u="none" strike="noStrike" cap="none" normalizeH="0" baseline="0" dirty="0">
                <a:ln>
                  <a:noFill/>
                </a:ln>
                <a:solidFill>
                  <a:schemeClr val="tx1"/>
                </a:solidFill>
                <a:effectLst/>
                <a:latin typeface="Arial" panose="020B0604020202020204" pitchFamily="34" charset="0"/>
              </a:rPr>
              <a:t>performance summary using metrics such as ROC, Sensitivity, and Specificity (</a:t>
            </a:r>
            <a:r>
              <a:rPr kumimoji="0" lang="en-US" altLang="en-US" i="0" u="none" strike="noStrike" cap="none" normalizeH="0" baseline="0" dirty="0" err="1">
                <a:ln>
                  <a:noFill/>
                </a:ln>
                <a:solidFill>
                  <a:schemeClr val="tx1"/>
                </a:solidFill>
                <a:effectLst/>
                <a:latin typeface="Arial Unicode MS"/>
              </a:rPr>
              <a:t>summaryFunction</a:t>
            </a:r>
            <a:r>
              <a:rPr kumimoji="0" lang="en-US" altLang="en-US" i="0" u="none" strike="noStrike" cap="none" normalizeH="0" baseline="0" dirty="0">
                <a:ln>
                  <a:noFill/>
                </a:ln>
                <a:solidFill>
                  <a:schemeClr val="tx1"/>
                </a:solidFill>
                <a:effectLst/>
                <a:latin typeface="Arial Unicode MS"/>
              </a:rPr>
              <a:t> = </a:t>
            </a:r>
            <a:r>
              <a:rPr kumimoji="0" lang="en-US" altLang="en-US" i="0" u="none" strike="noStrike" cap="none" normalizeH="0" baseline="0" dirty="0" err="1">
                <a:ln>
                  <a:noFill/>
                </a:ln>
                <a:solidFill>
                  <a:schemeClr val="tx1"/>
                </a:solidFill>
                <a:effectLst/>
                <a:latin typeface="Arial Unicode MS"/>
              </a:rPr>
              <a:t>twoClassSummary</a:t>
            </a:r>
            <a:r>
              <a:rPr kumimoji="0" lang="en-US" altLang="en-US" i="0" u="none" strike="noStrike" cap="none" normalizeH="0" baseline="0" dirty="0">
                <a:ln>
                  <a:noFill/>
                </a:ln>
                <a:solidFill>
                  <a:schemeClr val="tx1"/>
                </a:solidFill>
                <a:effectLst/>
              </a:rPr>
              <a:t>), which is useful for classification tasks.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i="0" u="none" strike="noStrike" cap="none" normalizeH="0" baseline="0" dirty="0">
                <a:ln>
                  <a:noFill/>
                </a:ln>
                <a:solidFill>
                  <a:schemeClr val="tx1"/>
                </a:solidFill>
                <a:effectLst/>
              </a:rPr>
              <a:t>Finally, </a:t>
            </a:r>
            <a:r>
              <a:rPr kumimoji="0" lang="en-US" altLang="en-US" i="0" u="none" strike="noStrike" cap="none" normalizeH="0" baseline="0" dirty="0" err="1">
                <a:ln>
                  <a:noFill/>
                </a:ln>
                <a:solidFill>
                  <a:schemeClr val="tx1"/>
                </a:solidFill>
                <a:effectLst/>
                <a:latin typeface="Arial Unicode MS"/>
              </a:rPr>
              <a:t>loocv</a:t>
            </a:r>
            <a:r>
              <a:rPr kumimoji="0" lang="en-US" altLang="en-US" i="0" u="none" strike="noStrike" cap="none" normalizeH="0" baseline="0" dirty="0">
                <a:ln>
                  <a:noFill/>
                </a:ln>
                <a:solidFill>
                  <a:schemeClr val="tx1"/>
                </a:solidFill>
                <a:effectLst/>
              </a:rPr>
              <a:t> defines </a:t>
            </a:r>
            <a:r>
              <a:rPr kumimoji="0" lang="en-US" altLang="en-US" i="0" u="none" strike="noStrike" cap="none" normalizeH="0" baseline="0" dirty="0">
                <a:ln>
                  <a:noFill/>
                </a:ln>
                <a:solidFill>
                  <a:schemeClr val="tx1"/>
                </a:solidFill>
                <a:effectLst/>
                <a:latin typeface="Arial" panose="020B0604020202020204" pitchFamily="34" charset="0"/>
              </a:rPr>
              <a:t>Leave-One-Out Cross-Validation (LOOCV), where each observation is used once as the test set while the rest form the training set—ideal for small datasets but computationally expensive for large ones.</a:t>
            </a:r>
          </a:p>
        </p:txBody>
      </p:sp>
    </p:spTree>
    <p:extLst>
      <p:ext uri="{BB962C8B-B14F-4D97-AF65-F5344CB8AC3E}">
        <p14:creationId xmlns:p14="http://schemas.microsoft.com/office/powerpoint/2010/main" val="3745647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7B36C-1EED-0D97-B7D2-7BC80D93A5B1}"/>
              </a:ext>
            </a:extLst>
          </p:cNvPr>
          <p:cNvSpPr>
            <a:spLocks noGrp="1"/>
          </p:cNvSpPr>
          <p:nvPr>
            <p:ph type="title"/>
          </p:nvPr>
        </p:nvSpPr>
        <p:spPr>
          <a:xfrm>
            <a:off x="661188" y="17474"/>
            <a:ext cx="10869624" cy="474921"/>
          </a:xfrm>
        </p:spPr>
        <p:txBody>
          <a:bodyPr>
            <a:normAutofit fontScale="90000"/>
          </a:bodyPr>
          <a:lstStyle/>
          <a:p>
            <a:pPr algn="ctr"/>
            <a:r>
              <a:rPr lang="en-US" b="1" dirty="0">
                <a:solidFill>
                  <a:schemeClr val="tx1"/>
                </a:solidFill>
                <a:latin typeface="Times New Roman" panose="02020603050405020304" pitchFamily="18" charset="0"/>
                <a:cs typeface="Times New Roman" panose="02020603050405020304" pitchFamily="18" charset="0"/>
              </a:rPr>
              <a:t>Train the Machine Learning Models</a:t>
            </a:r>
          </a:p>
        </p:txBody>
      </p:sp>
      <p:pic>
        <p:nvPicPr>
          <p:cNvPr id="5" name="Content Placeholder 4">
            <a:extLst>
              <a:ext uri="{FF2B5EF4-FFF2-40B4-BE49-F238E27FC236}">
                <a16:creationId xmlns:a16="http://schemas.microsoft.com/office/drawing/2014/main" id="{3572C9EE-1B51-F67B-819C-7CEEA5AE9B0C}"/>
              </a:ext>
            </a:extLst>
          </p:cNvPr>
          <p:cNvPicPr>
            <a:picLocks noGrp="1" noChangeAspect="1"/>
          </p:cNvPicPr>
          <p:nvPr>
            <p:ph idx="1"/>
          </p:nvPr>
        </p:nvPicPr>
        <p:blipFill>
          <a:blip r:embed="rId2"/>
          <a:stretch>
            <a:fillRect/>
          </a:stretch>
        </p:blipFill>
        <p:spPr>
          <a:xfrm>
            <a:off x="0" y="1293895"/>
            <a:ext cx="6241312" cy="2713960"/>
          </a:xfrm>
        </p:spPr>
      </p:pic>
      <p:pic>
        <p:nvPicPr>
          <p:cNvPr id="7" name="Picture 6">
            <a:extLst>
              <a:ext uri="{FF2B5EF4-FFF2-40B4-BE49-F238E27FC236}">
                <a16:creationId xmlns:a16="http://schemas.microsoft.com/office/drawing/2014/main" id="{731713E9-3682-7489-7D10-228EF46308BE}"/>
              </a:ext>
            </a:extLst>
          </p:cNvPr>
          <p:cNvPicPr>
            <a:picLocks noChangeAspect="1"/>
          </p:cNvPicPr>
          <p:nvPr/>
        </p:nvPicPr>
        <p:blipFill>
          <a:blip r:embed="rId3"/>
          <a:stretch>
            <a:fillRect/>
          </a:stretch>
        </p:blipFill>
        <p:spPr>
          <a:xfrm>
            <a:off x="6358270" y="1293895"/>
            <a:ext cx="5741581" cy="2713960"/>
          </a:xfrm>
          <a:prstGeom prst="rect">
            <a:avLst/>
          </a:prstGeom>
        </p:spPr>
      </p:pic>
      <p:pic>
        <p:nvPicPr>
          <p:cNvPr id="9" name="Picture 8">
            <a:extLst>
              <a:ext uri="{FF2B5EF4-FFF2-40B4-BE49-F238E27FC236}">
                <a16:creationId xmlns:a16="http://schemas.microsoft.com/office/drawing/2014/main" id="{6AFD319F-0781-1736-BB3C-0B0799F7EF11}"/>
              </a:ext>
            </a:extLst>
          </p:cNvPr>
          <p:cNvPicPr>
            <a:picLocks noChangeAspect="1"/>
          </p:cNvPicPr>
          <p:nvPr/>
        </p:nvPicPr>
        <p:blipFill>
          <a:blip r:embed="rId4"/>
          <a:stretch>
            <a:fillRect/>
          </a:stretch>
        </p:blipFill>
        <p:spPr>
          <a:xfrm>
            <a:off x="0" y="4569804"/>
            <a:ext cx="6241312" cy="2135796"/>
          </a:xfrm>
          <a:prstGeom prst="rect">
            <a:avLst/>
          </a:prstGeom>
        </p:spPr>
      </p:pic>
      <p:pic>
        <p:nvPicPr>
          <p:cNvPr id="11" name="Picture 10">
            <a:extLst>
              <a:ext uri="{FF2B5EF4-FFF2-40B4-BE49-F238E27FC236}">
                <a16:creationId xmlns:a16="http://schemas.microsoft.com/office/drawing/2014/main" id="{E692FE36-A242-02AC-CD4D-893EFF00354B}"/>
              </a:ext>
            </a:extLst>
          </p:cNvPr>
          <p:cNvPicPr>
            <a:picLocks noChangeAspect="1"/>
          </p:cNvPicPr>
          <p:nvPr/>
        </p:nvPicPr>
        <p:blipFill>
          <a:blip r:embed="rId5"/>
          <a:stretch>
            <a:fillRect/>
          </a:stretch>
        </p:blipFill>
        <p:spPr>
          <a:xfrm>
            <a:off x="6358270" y="4569804"/>
            <a:ext cx="5741581" cy="2135796"/>
          </a:xfrm>
          <a:prstGeom prst="rect">
            <a:avLst/>
          </a:prstGeom>
        </p:spPr>
      </p:pic>
      <p:sp>
        <p:nvSpPr>
          <p:cNvPr id="13" name="TextBox 12">
            <a:extLst>
              <a:ext uri="{FF2B5EF4-FFF2-40B4-BE49-F238E27FC236}">
                <a16:creationId xmlns:a16="http://schemas.microsoft.com/office/drawing/2014/main" id="{F7962980-0596-3BEE-BE56-A7CF0B0EA6AB}"/>
              </a:ext>
            </a:extLst>
          </p:cNvPr>
          <p:cNvSpPr txBox="1"/>
          <p:nvPr/>
        </p:nvSpPr>
        <p:spPr>
          <a:xfrm>
            <a:off x="0" y="696828"/>
            <a:ext cx="4630479" cy="614079"/>
          </a:xfrm>
          <a:prstGeom prst="rect">
            <a:avLst/>
          </a:prstGeom>
          <a:noFill/>
        </p:spPr>
        <p:txBody>
          <a:bodyPr wrap="square">
            <a:spAutoFit/>
          </a:bodyPr>
          <a:lstStyle/>
          <a:p>
            <a:pPr marL="0" marR="0" algn="just">
              <a:lnSpc>
                <a:spcPct val="200000"/>
              </a:lnSpc>
              <a:spcBef>
                <a:spcPts val="0"/>
              </a:spcBef>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Support Vector Machines</a:t>
            </a:r>
          </a:p>
        </p:txBody>
      </p:sp>
      <p:sp>
        <p:nvSpPr>
          <p:cNvPr id="15" name="TextBox 14">
            <a:extLst>
              <a:ext uri="{FF2B5EF4-FFF2-40B4-BE49-F238E27FC236}">
                <a16:creationId xmlns:a16="http://schemas.microsoft.com/office/drawing/2014/main" id="{9E70B1E6-8ACA-75CC-C471-D0BE68EE8FAE}"/>
              </a:ext>
            </a:extLst>
          </p:cNvPr>
          <p:cNvSpPr txBox="1"/>
          <p:nvPr/>
        </p:nvSpPr>
        <p:spPr>
          <a:xfrm>
            <a:off x="6310423" y="696828"/>
            <a:ext cx="5741581" cy="614079"/>
          </a:xfrm>
          <a:prstGeom prst="rect">
            <a:avLst/>
          </a:prstGeom>
          <a:noFill/>
        </p:spPr>
        <p:txBody>
          <a:bodyPr wrap="square">
            <a:spAutoFit/>
          </a:bodyPr>
          <a:lstStyle/>
          <a:p>
            <a:pPr marL="0" marR="0" algn="just">
              <a:lnSpc>
                <a:spcPct val="200000"/>
              </a:lnSpc>
              <a:spcBef>
                <a:spcPts val="0"/>
              </a:spcBef>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Random Forest</a:t>
            </a:r>
          </a:p>
        </p:txBody>
      </p:sp>
      <p:sp>
        <p:nvSpPr>
          <p:cNvPr id="17" name="TextBox 16">
            <a:extLst>
              <a:ext uri="{FF2B5EF4-FFF2-40B4-BE49-F238E27FC236}">
                <a16:creationId xmlns:a16="http://schemas.microsoft.com/office/drawing/2014/main" id="{D4581D36-ABC9-4B36-48C9-38446A278DC8}"/>
              </a:ext>
            </a:extLst>
          </p:cNvPr>
          <p:cNvSpPr txBox="1"/>
          <p:nvPr/>
        </p:nvSpPr>
        <p:spPr>
          <a:xfrm>
            <a:off x="0" y="4007855"/>
            <a:ext cx="6241312" cy="561949"/>
          </a:xfrm>
          <a:prstGeom prst="rect">
            <a:avLst/>
          </a:prstGeom>
          <a:noFill/>
        </p:spPr>
        <p:txBody>
          <a:bodyPr wrap="square">
            <a:spAutoFit/>
          </a:bodyPr>
          <a:lstStyle/>
          <a:p>
            <a:pPr marL="0" marR="0" algn="just">
              <a:lnSpc>
                <a:spcPct val="200000"/>
              </a:lnSpc>
              <a:spcBef>
                <a:spcPts val="0"/>
              </a:spcBef>
              <a:spcAft>
                <a:spcPts val="800"/>
              </a:spcAft>
            </a:pPr>
            <a:r>
              <a:rPr lang="en-US" b="1" kern="100" dirty="0">
                <a:effectLst/>
                <a:latin typeface="Times New Roman" panose="02020603050405020304" pitchFamily="18" charset="0"/>
                <a:ea typeface="Calibri" panose="020F0502020204030204" pitchFamily="34" charset="0"/>
                <a:cs typeface="Times New Roman" panose="02020603050405020304" pitchFamily="18" charset="0"/>
              </a:rPr>
              <a:t>K-Nearest Neighbors</a:t>
            </a:r>
          </a:p>
        </p:txBody>
      </p:sp>
      <p:sp>
        <p:nvSpPr>
          <p:cNvPr id="19" name="TextBox 18">
            <a:extLst>
              <a:ext uri="{FF2B5EF4-FFF2-40B4-BE49-F238E27FC236}">
                <a16:creationId xmlns:a16="http://schemas.microsoft.com/office/drawing/2014/main" id="{3CAFB6FF-DAC9-9440-A92E-B1F50C9D5B49}"/>
              </a:ext>
            </a:extLst>
          </p:cNvPr>
          <p:cNvSpPr txBox="1"/>
          <p:nvPr/>
        </p:nvSpPr>
        <p:spPr>
          <a:xfrm>
            <a:off x="6358269" y="3942407"/>
            <a:ext cx="5741581" cy="614079"/>
          </a:xfrm>
          <a:prstGeom prst="rect">
            <a:avLst/>
          </a:prstGeom>
          <a:noFill/>
        </p:spPr>
        <p:txBody>
          <a:bodyPr wrap="square">
            <a:spAutoFit/>
          </a:bodyPr>
          <a:lstStyle/>
          <a:p>
            <a:pPr marL="0" marR="0" algn="just">
              <a:lnSpc>
                <a:spcPct val="200000"/>
              </a:lnSpc>
              <a:spcBef>
                <a:spcPts val="0"/>
              </a:spcBef>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Naïve Bayes</a:t>
            </a:r>
          </a:p>
        </p:txBody>
      </p:sp>
    </p:spTree>
    <p:extLst>
      <p:ext uri="{BB962C8B-B14F-4D97-AF65-F5344CB8AC3E}">
        <p14:creationId xmlns:p14="http://schemas.microsoft.com/office/powerpoint/2010/main" val="1218811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60AC6-AE4B-3D8F-3838-716E24BF25E6}"/>
              </a:ext>
            </a:extLst>
          </p:cNvPr>
          <p:cNvSpPr>
            <a:spLocks noGrp="1"/>
          </p:cNvSpPr>
          <p:nvPr>
            <p:ph type="title"/>
          </p:nvPr>
        </p:nvSpPr>
        <p:spPr>
          <a:xfrm>
            <a:off x="677334" y="156238"/>
            <a:ext cx="10858992" cy="790060"/>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Model Performance Evaluation</a:t>
            </a:r>
          </a:p>
        </p:txBody>
      </p:sp>
      <p:graphicFrame>
        <p:nvGraphicFramePr>
          <p:cNvPr id="9" name="Content Placeholder 8">
            <a:extLst>
              <a:ext uri="{FF2B5EF4-FFF2-40B4-BE49-F238E27FC236}">
                <a16:creationId xmlns:a16="http://schemas.microsoft.com/office/drawing/2014/main" id="{23999D6F-C87F-44D9-09E1-CF1EAC461A8B}"/>
              </a:ext>
            </a:extLst>
          </p:cNvPr>
          <p:cNvGraphicFramePr>
            <a:graphicFrameLocks noGrp="1"/>
          </p:cNvGraphicFramePr>
          <p:nvPr>
            <p:ph idx="1"/>
            <p:extLst>
              <p:ext uri="{D42A27DB-BD31-4B8C-83A1-F6EECF244321}">
                <p14:modId xmlns:p14="http://schemas.microsoft.com/office/powerpoint/2010/main" val="1621799742"/>
              </p:ext>
            </p:extLst>
          </p:nvPr>
        </p:nvGraphicFramePr>
        <p:xfrm>
          <a:off x="0" y="946298"/>
          <a:ext cx="12191998" cy="5911696"/>
        </p:xfrm>
        <a:graphic>
          <a:graphicData uri="http://schemas.openxmlformats.org/drawingml/2006/table">
            <a:tbl>
              <a:tblPr>
                <a:tableStyleId>{5C22544A-7EE6-4342-B048-85BDC9FD1C3A}</a:tableStyleId>
              </a:tblPr>
              <a:tblGrid>
                <a:gridCol w="3153914">
                  <a:extLst>
                    <a:ext uri="{9D8B030D-6E8A-4147-A177-3AD203B41FA5}">
                      <a16:colId xmlns:a16="http://schemas.microsoft.com/office/drawing/2014/main" val="2431315350"/>
                    </a:ext>
                  </a:extLst>
                </a:gridCol>
                <a:gridCol w="2289956">
                  <a:extLst>
                    <a:ext uri="{9D8B030D-6E8A-4147-A177-3AD203B41FA5}">
                      <a16:colId xmlns:a16="http://schemas.microsoft.com/office/drawing/2014/main" val="3686580847"/>
                    </a:ext>
                  </a:extLst>
                </a:gridCol>
                <a:gridCol w="2229086">
                  <a:extLst>
                    <a:ext uri="{9D8B030D-6E8A-4147-A177-3AD203B41FA5}">
                      <a16:colId xmlns:a16="http://schemas.microsoft.com/office/drawing/2014/main" val="874574140"/>
                    </a:ext>
                  </a:extLst>
                </a:gridCol>
                <a:gridCol w="2259521">
                  <a:extLst>
                    <a:ext uri="{9D8B030D-6E8A-4147-A177-3AD203B41FA5}">
                      <a16:colId xmlns:a16="http://schemas.microsoft.com/office/drawing/2014/main" val="4268011620"/>
                    </a:ext>
                  </a:extLst>
                </a:gridCol>
                <a:gridCol w="2259521">
                  <a:extLst>
                    <a:ext uri="{9D8B030D-6E8A-4147-A177-3AD203B41FA5}">
                      <a16:colId xmlns:a16="http://schemas.microsoft.com/office/drawing/2014/main" val="178542480"/>
                    </a:ext>
                  </a:extLst>
                </a:gridCol>
              </a:tblGrid>
              <a:tr h="1235827">
                <a:tc>
                  <a:txBody>
                    <a:bodyPr/>
                    <a:lstStyle/>
                    <a:p>
                      <a:pPr algn="l" fontAlgn="ctr"/>
                      <a:endParaRPr lang="en-US" sz="2400" b="1" u="none" strike="noStrike" dirty="0">
                        <a:effectLst/>
                      </a:endParaRPr>
                    </a:p>
                    <a:p>
                      <a:pPr algn="l" fontAlgn="ctr"/>
                      <a:r>
                        <a:rPr lang="en-US" sz="2400" b="1" u="none" strike="noStrike" dirty="0">
                          <a:effectLst/>
                        </a:rPr>
                        <a:t>Performance Evaluation Metrics</a:t>
                      </a:r>
                      <a:endParaRPr lang="en-US" sz="24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b="1" u="none" strike="noStrike" dirty="0">
                          <a:effectLst/>
                        </a:rPr>
                        <a:t>SVM</a:t>
                      </a:r>
                      <a:endParaRPr lang="en-US" sz="24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endParaRPr lang="en-US" sz="2400" b="1" u="none" strike="noStrike" dirty="0">
                        <a:effectLst/>
                      </a:endParaRPr>
                    </a:p>
                    <a:p>
                      <a:pPr algn="ctr" fontAlgn="ctr"/>
                      <a:r>
                        <a:rPr lang="en-US" sz="2400" b="1" u="none" strike="noStrike" dirty="0">
                          <a:effectLst/>
                        </a:rPr>
                        <a:t>KNN</a:t>
                      </a:r>
                      <a:endParaRPr lang="en-US" sz="2400" b="1"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endParaRPr lang="en-US" sz="2400" b="1" u="none" strike="noStrike">
                        <a:effectLst/>
                      </a:endParaRPr>
                    </a:p>
                    <a:p>
                      <a:pPr algn="ctr" fontAlgn="ctr"/>
                      <a:r>
                        <a:rPr lang="en-US" sz="2400" b="1" u="none" strike="noStrike">
                          <a:effectLst/>
                        </a:rPr>
                        <a:t>RF</a:t>
                      </a:r>
                      <a:endParaRPr lang="en-US" sz="2400" b="1"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endParaRPr lang="en-US" sz="2400" b="1" u="none" strike="noStrike" dirty="0">
                        <a:effectLst/>
                      </a:endParaRPr>
                    </a:p>
                    <a:p>
                      <a:pPr algn="ctr" fontAlgn="ctr"/>
                      <a:r>
                        <a:rPr lang="en-US" sz="2400" b="1" u="none" strike="noStrike" dirty="0">
                          <a:effectLst/>
                        </a:rPr>
                        <a:t>NB </a:t>
                      </a:r>
                      <a:endParaRPr lang="en-US" sz="2400" b="1"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05991573"/>
                  </a:ext>
                </a:extLst>
              </a:tr>
              <a:tr h="519541">
                <a:tc>
                  <a:txBody>
                    <a:bodyPr/>
                    <a:lstStyle/>
                    <a:p>
                      <a:pPr algn="l" fontAlgn="ctr"/>
                      <a:r>
                        <a:rPr lang="en-US" sz="2400" u="none" strike="noStrike" dirty="0">
                          <a:effectLst/>
                          <a:highlight>
                            <a:srgbClr val="F4F8F9"/>
                          </a:highlight>
                        </a:rPr>
                        <a:t>Accuracy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0.9220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0.8690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0.9220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0.8950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583044703"/>
                  </a:ext>
                </a:extLst>
              </a:tr>
              <a:tr h="519541">
                <a:tc>
                  <a:txBody>
                    <a:bodyPr/>
                    <a:lstStyle/>
                    <a:p>
                      <a:pPr algn="l" fontAlgn="ctr"/>
                      <a:r>
                        <a:rPr lang="en-US" sz="2400" u="none" strike="noStrike">
                          <a:effectLst/>
                          <a:highlight>
                            <a:srgbClr val="F4F8F9"/>
                          </a:highlight>
                        </a:rPr>
                        <a:t>No Info Rate</a:t>
                      </a:r>
                      <a:endParaRPr lang="en-US" sz="2400" b="1" i="0" u="none" strike="noStrike">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0.8710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0.8710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0.8710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0.8710</a:t>
                      </a:r>
                      <a:endParaRPr lang="en-US" sz="2400" b="0" i="0" u="none" strike="noStrike">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4062242865"/>
                  </a:ext>
                </a:extLst>
              </a:tr>
              <a:tr h="519541">
                <a:tc>
                  <a:txBody>
                    <a:bodyPr/>
                    <a:lstStyle/>
                    <a:p>
                      <a:pPr algn="l" fontAlgn="ctr"/>
                      <a:r>
                        <a:rPr lang="en-US" sz="2400" u="none" strike="noStrike" dirty="0">
                          <a:effectLst/>
                          <a:highlight>
                            <a:srgbClr val="F4F8F9"/>
                          </a:highlight>
                        </a:rPr>
                        <a:t>Kappa</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0.5370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-0.0030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0.5370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0.3090</a:t>
                      </a:r>
                      <a:endParaRPr lang="en-US" sz="2400" b="0" i="0" u="none" strike="noStrike">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375501918"/>
                  </a:ext>
                </a:extLst>
              </a:tr>
              <a:tr h="519541">
                <a:tc>
                  <a:txBody>
                    <a:bodyPr/>
                    <a:lstStyle/>
                    <a:p>
                      <a:pPr algn="l" fontAlgn="ctr"/>
                      <a:r>
                        <a:rPr lang="en-US" sz="2400" u="none" strike="noStrike" dirty="0">
                          <a:effectLst/>
                          <a:highlight>
                            <a:srgbClr val="F4F8F9"/>
                          </a:highlight>
                        </a:rPr>
                        <a:t>Sensitivity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0.4000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0.4000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0.2110</a:t>
                      </a:r>
                      <a:endParaRPr lang="en-US" sz="2400" b="0" i="0" u="none" strike="noStrike">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212337946"/>
                  </a:ext>
                </a:extLst>
              </a:tr>
              <a:tr h="519541">
                <a:tc>
                  <a:txBody>
                    <a:bodyPr/>
                    <a:lstStyle/>
                    <a:p>
                      <a:pPr algn="l" fontAlgn="ctr"/>
                      <a:r>
                        <a:rPr lang="en-US" sz="2400" u="none" strike="noStrike" dirty="0">
                          <a:effectLst/>
                          <a:highlight>
                            <a:srgbClr val="F4F8F9"/>
                          </a:highlight>
                        </a:rPr>
                        <a:t>Specificity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1.0000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0.9980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1.0000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0.9970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471212698"/>
                  </a:ext>
                </a:extLst>
              </a:tr>
              <a:tr h="519541">
                <a:tc>
                  <a:txBody>
                    <a:bodyPr/>
                    <a:lstStyle/>
                    <a:p>
                      <a:pPr algn="l" fontAlgn="ctr"/>
                      <a:r>
                        <a:rPr lang="en-US" sz="2400" u="none" strike="noStrike" dirty="0">
                          <a:effectLst/>
                          <a:highlight>
                            <a:srgbClr val="F4F8F9"/>
                          </a:highlight>
                        </a:rPr>
                        <a:t>Precision</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1.0000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0.0000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1.0000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0.9050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3764956210"/>
                  </a:ext>
                </a:extLst>
              </a:tr>
              <a:tr h="519541">
                <a:tc>
                  <a:txBody>
                    <a:bodyPr/>
                    <a:lstStyle/>
                    <a:p>
                      <a:pPr algn="l" fontAlgn="ctr"/>
                      <a:r>
                        <a:rPr lang="en-US" sz="2400" u="none" strike="noStrike" dirty="0">
                          <a:effectLst/>
                          <a:highlight>
                            <a:srgbClr val="F4F8F9"/>
                          </a:highlight>
                        </a:rPr>
                        <a:t>F1-Score</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0.5710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NaN</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0.5710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0.3420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653674166"/>
                  </a:ext>
                </a:extLst>
              </a:tr>
              <a:tr h="519541">
                <a:tc>
                  <a:txBody>
                    <a:bodyPr/>
                    <a:lstStyle/>
                    <a:p>
                      <a:pPr algn="l" fontAlgn="ctr"/>
                      <a:r>
                        <a:rPr lang="en-US" sz="2400" u="none" strike="noStrike" dirty="0">
                          <a:effectLst/>
                          <a:highlight>
                            <a:srgbClr val="F4F8F9"/>
                          </a:highlight>
                        </a:rPr>
                        <a:t>Balanced Accuracy</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a:effectLst/>
                        </a:rPr>
                        <a:t>0.7000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0.4990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0.7000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0.6040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1259228380"/>
                  </a:ext>
                </a:extLst>
              </a:tr>
              <a:tr h="519541">
                <a:tc>
                  <a:txBody>
                    <a:bodyPr/>
                    <a:lstStyle/>
                    <a:p>
                      <a:pPr algn="l" fontAlgn="ctr"/>
                      <a:r>
                        <a:rPr lang="en-US" sz="2400" u="none" strike="noStrike" dirty="0">
                          <a:effectLst/>
                          <a:highlight>
                            <a:srgbClr val="F4F8F9"/>
                          </a:highlight>
                        </a:rPr>
                        <a:t>AUC</a:t>
                      </a:r>
                      <a:endParaRPr lang="en-US" sz="2400" b="1" i="0" u="none" strike="noStrike" dirty="0">
                        <a:solidFill>
                          <a:srgbClr val="000000"/>
                        </a:solidFill>
                        <a:effectLst/>
                        <a:highlight>
                          <a:srgbClr val="F4F8F9"/>
                        </a:highligh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0.7090</a:t>
                      </a:r>
                      <a:endParaRPr lang="en-US" sz="2400" b="0" i="0" u="none" strike="noStrike" dirty="0">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0.5470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a:effectLst/>
                        </a:rPr>
                        <a:t>0.7600</a:t>
                      </a:r>
                      <a:endParaRPr lang="en-US" sz="2400" b="0" i="0" u="none" strike="noStrike">
                        <a:solidFill>
                          <a:srgbClr val="000000"/>
                        </a:solidFill>
                        <a:effectLst/>
                        <a:latin typeface="Segoe UI" panose="020B0502040204020203" pitchFamily="34" charset="0"/>
                      </a:endParaRPr>
                    </a:p>
                  </a:txBody>
                  <a:tcPr marL="6350" marR="6350" marT="6350" marB="0" anchor="ctr"/>
                </a:tc>
                <a:tc>
                  <a:txBody>
                    <a:bodyPr/>
                    <a:lstStyle/>
                    <a:p>
                      <a:pPr algn="ctr" fontAlgn="ctr"/>
                      <a:r>
                        <a:rPr lang="en-US" sz="2400" u="none" strike="noStrike" dirty="0">
                          <a:effectLst/>
                        </a:rPr>
                        <a:t>0.7770</a:t>
                      </a:r>
                      <a:endParaRPr lang="en-US" sz="2400" b="0" i="0" u="none" strike="noStrike" dirty="0">
                        <a:solidFill>
                          <a:srgbClr val="000000"/>
                        </a:solidFill>
                        <a:effectLst/>
                        <a:latin typeface="Segoe UI" panose="020B0502040204020203" pitchFamily="34" charset="0"/>
                      </a:endParaRPr>
                    </a:p>
                  </a:txBody>
                  <a:tcPr marL="6350" marR="6350" marT="6350" marB="0" anchor="ctr"/>
                </a:tc>
                <a:extLst>
                  <a:ext uri="{0D108BD9-81ED-4DB2-BD59-A6C34878D82A}">
                    <a16:rowId xmlns:a16="http://schemas.microsoft.com/office/drawing/2014/main" val="2690206616"/>
                  </a:ext>
                </a:extLst>
              </a:tr>
            </a:tbl>
          </a:graphicData>
        </a:graphic>
      </p:graphicFrame>
    </p:spTree>
    <p:extLst>
      <p:ext uri="{BB962C8B-B14F-4D97-AF65-F5344CB8AC3E}">
        <p14:creationId xmlns:p14="http://schemas.microsoft.com/office/powerpoint/2010/main" val="2089964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F3C0-69A6-41D0-6CD2-5E39439A0B01}"/>
              </a:ext>
            </a:extLst>
          </p:cNvPr>
          <p:cNvSpPr>
            <a:spLocks noGrp="1"/>
          </p:cNvSpPr>
          <p:nvPr>
            <p:ph type="title"/>
          </p:nvPr>
        </p:nvSpPr>
        <p:spPr>
          <a:xfrm>
            <a:off x="677333" y="160964"/>
            <a:ext cx="10922787" cy="655674"/>
          </a:xfrm>
        </p:spPr>
        <p:txBody>
          <a:bodyPr>
            <a:normAutofit/>
          </a:bodyPr>
          <a:lstStyle/>
          <a:p>
            <a:pPr algn="ctr"/>
            <a:r>
              <a:rPr lang="en-US" b="1" dirty="0">
                <a:solidFill>
                  <a:schemeClr val="tx1"/>
                </a:solidFill>
                <a:latin typeface="Times New Roman" panose="02020603050405020304" pitchFamily="18" charset="0"/>
                <a:cs typeface="Times New Roman" panose="02020603050405020304" pitchFamily="18" charset="0"/>
              </a:rPr>
              <a:t>Discuss the Results </a:t>
            </a:r>
          </a:p>
        </p:txBody>
      </p:sp>
      <p:sp>
        <p:nvSpPr>
          <p:cNvPr id="4" name="Rectangle 1">
            <a:extLst>
              <a:ext uri="{FF2B5EF4-FFF2-40B4-BE49-F238E27FC236}">
                <a16:creationId xmlns:a16="http://schemas.microsoft.com/office/drawing/2014/main" id="{9AD75E44-6D63-36E5-ABD5-C0B8C89F1D2D}"/>
              </a:ext>
            </a:extLst>
          </p:cNvPr>
          <p:cNvSpPr>
            <a:spLocks noGrp="1" noChangeArrowheads="1"/>
          </p:cNvSpPr>
          <p:nvPr>
            <p:ph idx="1"/>
          </p:nvPr>
        </p:nvSpPr>
        <p:spPr bwMode="auto">
          <a:xfrm>
            <a:off x="0" y="1372501"/>
            <a:ext cx="121920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The performance evaluation metrics for Support Vector Machine (SVM), K-Nearest Neighbors (KNN), Random Forest (RF), and Naive Bayes (NB) classifiers reveal notable differences in predictive capability. Both SVM and RF achieved the highest accuracy of 92.2%, outperforming KNN (86.9%) and NB (89.5%).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However, accuracy alone is insufficient due to the class imbalance suggested by the No Information Rate (87.1%), which all models needed to surpass to be considered useful. The kappa statistic, which accounts for agreement by chance, was highest for SVM and RF (0.537), indicating moderate agreement, while KNN performed poorly with a negative kappa (-0.003), suggesting random or misleading predictions.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Sensitivity, which measures the true positive rate, was low across all models, especially for KNN (0.000) and NB (0.211), highlighting difficulty in detecting the minority class. In contrast, all models exhibited high specificity, with SVM and RF reaching 1.000, indicating perfect true negative identification.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Precision was perfect for SVM and RF, but KNN failed to correctly classify any positive cases. The F1-score, a balance between precision and recall, was highest for SVM and RF (0.571), while KNN was undefined due to zero true positives. Notably, NB achieved the highest AUC (0.777), indicating strong overall discriminative ability. Thus, despite slightly lower accuracy, NB may be the most balanced performer.</a:t>
            </a:r>
          </a:p>
        </p:txBody>
      </p:sp>
    </p:spTree>
    <p:extLst>
      <p:ext uri="{BB962C8B-B14F-4D97-AF65-F5344CB8AC3E}">
        <p14:creationId xmlns:p14="http://schemas.microsoft.com/office/powerpoint/2010/main" val="2274358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ECFAA-81CB-9B14-EDFB-5D6A08E03564}"/>
              </a:ext>
            </a:extLst>
          </p:cNvPr>
          <p:cNvSpPr>
            <a:spLocks noGrp="1"/>
          </p:cNvSpPr>
          <p:nvPr>
            <p:ph type="title"/>
          </p:nvPr>
        </p:nvSpPr>
        <p:spPr>
          <a:xfrm>
            <a:off x="677334" y="244550"/>
            <a:ext cx="11177968" cy="1148316"/>
          </a:xfrm>
        </p:spPr>
        <p:txBody>
          <a:bodyPr>
            <a:normAutofit/>
          </a:bodyPr>
          <a:lstStyle/>
          <a:p>
            <a:pPr algn="ctr"/>
            <a:r>
              <a:rPr lang="en-US" sz="4800" b="1" dirty="0">
                <a:solidFill>
                  <a:schemeClr val="tx1"/>
                </a:solidFill>
                <a:latin typeface="Times New Roman" panose="02020603050405020304" pitchFamily="18" charset="0"/>
                <a:cs typeface="Times New Roman" panose="02020603050405020304" pitchFamily="18" charset="0"/>
              </a:rPr>
              <a:t>SESSION FOUR</a:t>
            </a:r>
          </a:p>
        </p:txBody>
      </p:sp>
      <p:sp>
        <p:nvSpPr>
          <p:cNvPr id="3" name="Content Placeholder 2">
            <a:extLst>
              <a:ext uri="{FF2B5EF4-FFF2-40B4-BE49-F238E27FC236}">
                <a16:creationId xmlns:a16="http://schemas.microsoft.com/office/drawing/2014/main" id="{A5E12D0A-EC25-2173-F4D7-FA2D1EBBAD4C}"/>
              </a:ext>
            </a:extLst>
          </p:cNvPr>
          <p:cNvSpPr>
            <a:spLocks noGrp="1"/>
          </p:cNvSpPr>
          <p:nvPr>
            <p:ph idx="1"/>
          </p:nvPr>
        </p:nvSpPr>
        <p:spPr>
          <a:xfrm>
            <a:off x="677334" y="1286540"/>
            <a:ext cx="11177968" cy="4754823"/>
          </a:xfrm>
        </p:spPr>
        <p:txBody>
          <a:bodyPr/>
          <a:lstStyle/>
          <a:p>
            <a:pPr marL="0" indent="0" algn="ctr">
              <a:buNone/>
            </a:pPr>
            <a:r>
              <a:rPr lang="en-US" sz="2800" b="1" dirty="0">
                <a:latin typeface="Times New Roman" panose="02020603050405020304" pitchFamily="18" charset="0"/>
                <a:cs typeface="Times New Roman" panose="02020603050405020304" pitchFamily="18" charset="0"/>
              </a:rPr>
              <a:t>HYPERPARAMETER TUNING AND MODEL DEPLOYMENT</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Hyperparameter Optimization</a:t>
            </a:r>
          </a:p>
          <a:p>
            <a:pPr algn="ct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Model Deployment</a:t>
            </a:r>
          </a:p>
          <a:p>
            <a:pPr marL="0" indent="0">
              <a:buNone/>
            </a:pPr>
            <a:endParaRPr lang="en-US" dirty="0"/>
          </a:p>
        </p:txBody>
      </p:sp>
    </p:spTree>
    <p:extLst>
      <p:ext uri="{BB962C8B-B14F-4D97-AF65-F5344CB8AC3E}">
        <p14:creationId xmlns:p14="http://schemas.microsoft.com/office/powerpoint/2010/main" val="36303688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0A2EE-6024-9473-4FC0-E85024AFAD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065272-3F14-7824-E898-4F496223DE8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9296834"/>
      </p:ext>
    </p:extLst>
  </p:cSld>
  <p:clrMapOvr>
    <a:masterClrMapping/>
  </p:clrMapOvr>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413</TotalTime>
  <Words>2759</Words>
  <Application>Microsoft Office PowerPoint</Application>
  <PresentationFormat>Widescreen</PresentationFormat>
  <Paragraphs>254</Paragraphs>
  <Slides>44</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44</vt:i4>
      </vt:variant>
    </vt:vector>
  </HeadingPairs>
  <TitlesOfParts>
    <vt:vector size="59" baseType="lpstr">
      <vt:lpstr>Algerian</vt:lpstr>
      <vt:lpstr>Arial</vt:lpstr>
      <vt:lpstr>Arial Unicode MS</vt:lpstr>
      <vt:lpstr>Bodoni MT Black</vt:lpstr>
      <vt:lpstr>Calibri</vt:lpstr>
      <vt:lpstr>Cambria Math</vt:lpstr>
      <vt:lpstr>Segoe UI</vt:lpstr>
      <vt:lpstr>sohne</vt:lpstr>
      <vt:lpstr>source-serif-pro</vt:lpstr>
      <vt:lpstr>Times New Roman</vt:lpstr>
      <vt:lpstr>Trebuchet MS</vt:lpstr>
      <vt:lpstr>Trebuchet MS (Body)</vt:lpstr>
      <vt:lpstr>Wingdings</vt:lpstr>
      <vt:lpstr>Wingdings 3</vt:lpstr>
      <vt:lpstr>Facet</vt:lpstr>
      <vt:lpstr>Introduction to Intermediate Machine Learning: From Theory to Practice with Random Forests, Extreme Gradient Boosting and Adaptive Boosting   Prepared and Delivered: Lumumba Wandera Victor</vt:lpstr>
      <vt:lpstr>SESSION ONE</vt:lpstr>
      <vt:lpstr>INTRODUCTION TO ENSEMBLE LEARNING</vt:lpstr>
      <vt:lpstr>Why Use Ensemble Learning?</vt:lpstr>
      <vt:lpstr>The Concepts of Ensemble Learning</vt:lpstr>
      <vt:lpstr>Bagging (e.g. Random Forest)</vt:lpstr>
      <vt:lpstr>Boosting (e.g. Extreme Gradient Boosting)</vt:lpstr>
      <vt:lpstr>Introduction to Stacking </vt:lpstr>
      <vt:lpstr>Stacking Illustration</vt:lpstr>
      <vt:lpstr>Types of Ensemble Learning Methods</vt:lpstr>
      <vt:lpstr>Comparison of Bagging and Boosting</vt:lpstr>
      <vt:lpstr>Diagrammatic Illustration of Bagging and Boosting</vt:lpstr>
      <vt:lpstr>Bagging and Boosting Illustration</vt:lpstr>
      <vt:lpstr>Key Concepts in Ensemble Learning</vt:lpstr>
      <vt:lpstr>Bias and Variance Trade Off</vt:lpstr>
      <vt:lpstr>Continuation of Bias Variance Trade Off</vt:lpstr>
      <vt:lpstr>Applications of Ensemble Learning</vt:lpstr>
      <vt:lpstr>When to use Bagging vs Boosting vs Stacking?</vt:lpstr>
      <vt:lpstr>SESSION TWO</vt:lpstr>
      <vt:lpstr>Data Collection</vt:lpstr>
      <vt:lpstr>Sources of Data</vt:lpstr>
      <vt:lpstr>Example in R: Loading a Built-in Dataset</vt:lpstr>
      <vt:lpstr>Best Practices in Data Collection</vt:lpstr>
      <vt:lpstr>Data Preparation</vt:lpstr>
      <vt:lpstr>Data Preparation</vt:lpstr>
      <vt:lpstr>Data Preparation</vt:lpstr>
      <vt:lpstr>TRAIN AND TEST SPLIT </vt:lpstr>
      <vt:lpstr>Stratification (For Classification Tasks)</vt:lpstr>
      <vt:lpstr>Cross-Validation Techniques</vt:lpstr>
      <vt:lpstr>K-Folds Cross Validation</vt:lpstr>
      <vt:lpstr>Graphical Representation of K-Folds CV</vt:lpstr>
      <vt:lpstr>Repeated K-Folds Cross Validation</vt:lpstr>
      <vt:lpstr>Leave One Out Cross Validation (LOOCV)</vt:lpstr>
      <vt:lpstr>LOOCV cont’</vt:lpstr>
      <vt:lpstr>Graphical Representation of LOOCV</vt:lpstr>
      <vt:lpstr>Alternative LOOCV Visual</vt:lpstr>
      <vt:lpstr>SESSION THREE</vt:lpstr>
      <vt:lpstr>Data Partitioning</vt:lpstr>
      <vt:lpstr>Create the Cross Validation Scheme</vt:lpstr>
      <vt:lpstr>Train the Machine Learning Models</vt:lpstr>
      <vt:lpstr>Model Performance Evaluation</vt:lpstr>
      <vt:lpstr>Discuss the Results </vt:lpstr>
      <vt:lpstr>SESSION FOUR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Intermediate Machine Learning (Ensemble Learning): From Theory to Practice with Random Forests, Extreme Gradient Boosting and Adaptive Boosting   Prepared and Delivered: Lumumba Wandera Victor</dc:title>
  <dc:creator>Victor Lumumba Wandera</dc:creator>
  <cp:lastModifiedBy>Victor Wandera</cp:lastModifiedBy>
  <cp:revision>26</cp:revision>
  <dcterms:created xsi:type="dcterms:W3CDTF">2025-07-05T08:58:19Z</dcterms:created>
  <dcterms:modified xsi:type="dcterms:W3CDTF">2026-02-23T16:25:34Z</dcterms:modified>
</cp:coreProperties>
</file>